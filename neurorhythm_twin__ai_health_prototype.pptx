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embeddedFontLst>
    <p:embeddedFont>
      <p:font typeface="Manrope"/>
      <p:regular r:id="rId22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905500"/>
            <a:ext cx="266194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12000"/>
            </a:srgbClr>
          </a:solidFill>
          <a:ln w="9525">
            <a:solidFill>
              <a:srgbClr val="3CD6E0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6591300"/>
            <a:ext cx="8191500" cy="476250"/>
          </a:xfrm>
          <a:custGeom>
            <a:avLst/>
            <a:gdLst/>
            <a:ahLst/>
            <a:cxnLst/>
            <a:rect l="l" t="t" r="r" b="b"/>
            <a:pathLst>
              <a:path w="8191500" h="476250">
                <a:moveTo>
                  <a:pt x="0" y="266700"/>
                </a:moveTo>
                <a:lnTo>
                  <a:pt x="2000250" y="266700"/>
                </a:lnTo>
                <a:lnTo>
                  <a:pt x="2171700" y="266700"/>
                </a:lnTo>
                <a:lnTo>
                  <a:pt x="2305050" y="76200"/>
                </a:lnTo>
                <a:lnTo>
                  <a:pt x="2457450" y="476250"/>
                </a:lnTo>
                <a:lnTo>
                  <a:pt x="2609850" y="0"/>
                </a:lnTo>
                <a:lnTo>
                  <a:pt x="2781300" y="400050"/>
                </a:lnTo>
                <a:lnTo>
                  <a:pt x="2914650" y="266700"/>
                </a:lnTo>
                <a:lnTo>
                  <a:pt x="4953000" y="266700"/>
                </a:lnTo>
                <a:lnTo>
                  <a:pt x="5124450" y="266700"/>
                </a:lnTo>
                <a:lnTo>
                  <a:pt x="5257800" y="95250"/>
                </a:lnTo>
                <a:lnTo>
                  <a:pt x="5410200" y="457200"/>
                </a:lnTo>
                <a:lnTo>
                  <a:pt x="5562600" y="38100"/>
                </a:lnTo>
                <a:lnTo>
                  <a:pt x="5715000" y="361950"/>
                </a:lnTo>
                <a:lnTo>
                  <a:pt x="5829300" y="266700"/>
                </a:lnTo>
                <a:lnTo>
                  <a:pt x="8191500" y="266700"/>
                </a:lnTo>
              </a:path>
            </a:pathLst>
          </a:custGeom>
          <a:ln w="23813">
            <a:solidFill>
              <a:srgbClr val="0FA3A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8458200"/>
            <a:ext cx="3905250" cy="1203871"/>
          </a:xfrm>
          <a:prstGeom prst="rect">
            <a:avLst/>
          </a:prstGeom>
          <a:ln/>
        </p:spPr>
      </p:sp>
      <p:sp>
        <p:nvSpPr>
          <p:cNvPr id="6" name="Shape 3"/>
          <p:cNvSpPr/>
          <p:nvPr/>
        </p:nvSpPr>
        <p:spPr>
          <a:xfrm>
            <a:off x="1143000" y="8458200"/>
            <a:ext cx="390525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Shape 4"/>
          <p:cNvSpPr/>
          <p:nvPr/>
        </p:nvSpPr>
        <p:spPr>
          <a:xfrm>
            <a:off x="5429250" y="8458200"/>
            <a:ext cx="3905250" cy="1203871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5429250" y="8458200"/>
            <a:ext cx="3905250" cy="19050"/>
          </a:xfrm>
          <a:prstGeom prst="rect">
            <a:avLst/>
          </a:prstGeom>
          <a:solidFill>
            <a:srgbClr val="0FA3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676275"/>
            <a:ext cx="16021050" cy="561022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0"/>
            <a:ext cx="8953500" cy="9525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90750" y="1104900"/>
            <a:ext cx="5142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3CD6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INTRODUCTION · DIGITAL HEALTH TWIN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43000" y="1733550"/>
            <a:ext cx="7776418" cy="2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300"/>
              </a:lnSpc>
              <a:buNone/>
            </a:pPr>
            <a:r>
              <a:rPr lang="en-US" sz="9300" b="1" spc="-27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</a:t>
            </a:r>
            <a:pPr algn="l" indent="0" marL="0">
              <a:lnSpc>
                <a:spcPts val="9300"/>
              </a:lnSpc>
              <a:buNone/>
            </a:pPr>
            <a:r>
              <a:rPr lang="en-US" sz="9300" b="1" spc="-279" kern="0" dirty="0">
                <a:solidFill>
                  <a:srgbClr val="3CD6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Twin</a:t>
            </a:r>
            <a:endParaRPr lang="en-US" sz="9300" dirty="0"/>
          </a:p>
        </p:txBody>
      </p:sp>
      <p:sp>
        <p:nvSpPr>
          <p:cNvPr id="13" name="Text 8"/>
          <p:cNvSpPr/>
          <p:nvPr/>
        </p:nvSpPr>
        <p:spPr>
          <a:xfrm>
            <a:off x="1143000" y="4581525"/>
            <a:ext cx="5986165" cy="988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AI-Assisted Digital Health Twin Prototype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1514475" y="6005513"/>
            <a:ext cx="21094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3CD6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309765" y="6005513"/>
            <a:ext cx="22623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ILLUSTRATION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43000" y="7381875"/>
            <a:ext cx="5116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6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43000" y="7553325"/>
            <a:ext cx="3772346" cy="676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Alpha Monarchs</a:t>
            </a:r>
            <a:endParaRPr lang="en-US" sz="3900" dirty="0"/>
          </a:p>
        </p:txBody>
      </p:sp>
      <p:sp>
        <p:nvSpPr>
          <p:cNvPr id="18" name="Text 13"/>
          <p:cNvSpPr/>
          <p:nvPr/>
        </p:nvSpPr>
        <p:spPr>
          <a:xfrm>
            <a:off x="1143000" y="8610600"/>
            <a:ext cx="228123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Harsha Vardhan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1143000" y="9075390"/>
            <a:ext cx="2897535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Amrita Vishwa Vidyapeetham, Amritapuri Campus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5429250" y="8610600"/>
            <a:ext cx="236607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Yashash Krishna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5429250" y="9075390"/>
            <a:ext cx="3830985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Annamacharya Institute of Technology, Rajampet Campus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14554200" y="9144000"/>
            <a:ext cx="2590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ILLUSTRATION, NOT APPLICATION OUTPUT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143000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872216" y="9734550"/>
            <a:ext cx="18965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ALPHA MONARCHS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6589127" y="9734550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CD6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/ 14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572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2971800"/>
            <a:ext cx="16002000" cy="4763"/>
          </a:xfrm>
          <a:custGeom>
            <a:avLst/>
            <a:gdLst/>
            <a:ahLst/>
            <a:cxnLst/>
            <a:rect l="l" t="t" r="r" b="b"/>
            <a:pathLst>
              <a:path w="16002000" h="4763">
                <a:moveTo>
                  <a:pt x="0" y="0"/>
                </a:moveTo>
                <a:lnTo>
                  <a:pt x="16002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762250"/>
            <a:ext cx="16002000" cy="361950"/>
          </a:xfrm>
          <a:custGeom>
            <a:avLst/>
            <a:gdLst/>
            <a:ahLst/>
            <a:cxnLst/>
            <a:rect l="l" t="t" r="r" b="b"/>
            <a:pathLst>
              <a:path w="16002000" h="361950">
                <a:moveTo>
                  <a:pt x="0" y="209550"/>
                </a:moveTo>
                <a:lnTo>
                  <a:pt x="6096000" y="209550"/>
                </a:lnTo>
                <a:lnTo>
                  <a:pt x="6381750" y="209550"/>
                </a:lnTo>
                <a:lnTo>
                  <a:pt x="6572250" y="57150"/>
                </a:lnTo>
                <a:lnTo>
                  <a:pt x="6781800" y="361950"/>
                </a:lnTo>
                <a:lnTo>
                  <a:pt x="6991350" y="0"/>
                </a:lnTo>
                <a:lnTo>
                  <a:pt x="7200900" y="304800"/>
                </a:lnTo>
                <a:lnTo>
                  <a:pt x="7353300" y="209550"/>
                </a:lnTo>
                <a:lnTo>
                  <a:pt x="8191500" y="209550"/>
                </a:lnTo>
                <a:cubicBezTo>
                  <a:pt x="8382000" y="209550"/>
                  <a:pt x="8458200" y="95250"/>
                  <a:pt x="8629650" y="95250"/>
                </a:cubicBezTo>
                <a:cubicBezTo>
                  <a:pt x="8801100" y="95250"/>
                  <a:pt x="8858250" y="209550"/>
                  <a:pt x="9048750" y="209550"/>
                </a:cubicBezTo>
                <a:lnTo>
                  <a:pt x="16002000" y="209550"/>
                </a:lnTo>
              </a:path>
            </a:pathLst>
          </a:custGeom>
          <a:ln w="23813">
            <a:solidFill>
              <a:srgbClr val="0F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352800"/>
            <a:ext cx="6667500" cy="1571625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1143000" y="3352800"/>
            <a:ext cx="6667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609975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0F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5114925"/>
            <a:ext cx="6667500" cy="1571625"/>
          </a:xfrm>
          <a:prstGeom prst="rect">
            <a:avLst/>
          </a:prstGeom>
          <a:ln/>
        </p:spPr>
      </p:sp>
      <p:sp>
        <p:nvSpPr>
          <p:cNvPr id="9" name="Shape 7"/>
          <p:cNvSpPr/>
          <p:nvPr/>
        </p:nvSpPr>
        <p:spPr>
          <a:xfrm>
            <a:off x="1143000" y="5114925"/>
            <a:ext cx="6667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5372100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0FA3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6877050"/>
            <a:ext cx="6667500" cy="1571625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1143000" y="6877050"/>
            <a:ext cx="6667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7134225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0FA3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8572500"/>
            <a:ext cx="6667500" cy="704850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1143000" y="8572500"/>
            <a:ext cx="38100" cy="7048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3352800"/>
            <a:ext cx="8763000" cy="5924550"/>
          </a:xfrm>
          <a:prstGeom prst="roundRect">
            <a:avLst>
              <a:gd name="adj" fmla="val 225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352800"/>
            <a:ext cx="8763000" cy="59245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3000" y="685800"/>
            <a:ext cx="323507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14 · PROBLEM &amp; MOTIVATION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5166925" y="742950"/>
            <a:ext cx="19780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43000" y="952500"/>
            <a:ext cx="11764119" cy="16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Challenge:</a:t>
            </a:r>
            <a:pPr algn="l" indent="0" marL="0">
              <a:lnSpc>
                <a:spcPts val="567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Interpreting Health-Related Patterns</a:t>
            </a:r>
            <a:endParaRPr lang="en-US" sz="5400" dirty="0"/>
          </a:p>
        </p:txBody>
      </p:sp>
      <p:sp>
        <p:nvSpPr>
          <p:cNvPr id="22" name="Text 18"/>
          <p:cNvSpPr/>
          <p:nvPr/>
        </p:nvSpPr>
        <p:spPr>
          <a:xfrm>
            <a:off x="1253430" y="3709988"/>
            <a:ext cx="2363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905000" y="3609975"/>
            <a:ext cx="17929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FRAGMENTED DATA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905000" y="3914775"/>
            <a:ext cx="5684193" cy="729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Synthesizing diverse health-related data over time is difficult.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1253430" y="5472113"/>
            <a:ext cx="2363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905000" y="5372100"/>
            <a:ext cx="23099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HARD-TO-READ HISTORY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905000" y="5676900"/>
            <a:ext cx="5602784" cy="729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Historical records and complex visualizations are hard to interpret together.</a:t>
            </a:r>
            <a:endParaRPr lang="en-US" sz="2100" dirty="0"/>
          </a:p>
        </p:txBody>
      </p:sp>
      <p:sp>
        <p:nvSpPr>
          <p:cNvPr id="28" name="Text 24"/>
          <p:cNvSpPr/>
          <p:nvPr/>
        </p:nvSpPr>
        <p:spPr>
          <a:xfrm>
            <a:off x="1253430" y="7234238"/>
            <a:ext cx="2363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905000" y="7134225"/>
            <a:ext cx="161195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MOTIVATION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905000" y="7439025"/>
            <a:ext cx="5759946" cy="729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is a prototype built to explore how these issues might be addressed.</a:t>
            </a:r>
            <a:endParaRPr lang="en-US" sz="2100" dirty="0"/>
          </a:p>
        </p:txBody>
      </p:sp>
      <p:sp>
        <p:nvSpPr>
          <p:cNvPr id="31" name="Text 27"/>
          <p:cNvSpPr/>
          <p:nvPr/>
        </p:nvSpPr>
        <p:spPr>
          <a:xfrm>
            <a:off x="1390650" y="8629650"/>
            <a:ext cx="6336357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Framed as motivation for a prototype — not a claim that healthcare systems lack these capabilities.</a:t>
            </a:r>
            <a:endParaRPr lang="en-US" sz="1425" dirty="0"/>
          </a:p>
        </p:txBody>
      </p:sp>
      <p:sp>
        <p:nvSpPr>
          <p:cNvPr id="32" name="Text 28"/>
          <p:cNvSpPr/>
          <p:nvPr/>
        </p:nvSpPr>
        <p:spPr>
          <a:xfrm>
            <a:off x="1143000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2625388" y="9734550"/>
            <a:ext cx="45196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 · </a:t>
            </a:r>
            <a:pPr algn="l" indent="0" marL="0">
              <a:buNone/>
            </a:pPr>
            <a:r>
              <a:rPr lang="en-US" sz="1050" b="1" spc="126" kern="0" dirty="0">
                <a:solidFill>
                  <a:srgbClr val="3CC8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6858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1"/>
          <p:cNvSpPr/>
          <p:nvPr/>
        </p:nvSpPr>
        <p:spPr>
          <a:xfrm>
            <a:off x="11970097" y="2209800"/>
            <a:ext cx="2656136" cy="3810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5" name="Shape 2"/>
          <p:cNvSpPr/>
          <p:nvPr/>
        </p:nvSpPr>
        <p:spPr>
          <a:xfrm>
            <a:off x="1143000" y="3333750"/>
            <a:ext cx="61722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" name="Shape 3"/>
          <p:cNvSpPr/>
          <p:nvPr/>
        </p:nvSpPr>
        <p:spPr>
          <a:xfrm>
            <a:off x="7696200" y="3333750"/>
            <a:ext cx="2895600" cy="19050"/>
          </a:xfrm>
          <a:prstGeom prst="rect">
            <a:avLst/>
          </a:prstGeom>
          <a:solidFill>
            <a:srgbClr val="9A8CF2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0" y="3333750"/>
            <a:ext cx="61722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3543300"/>
            <a:ext cx="2895600" cy="3429000"/>
          </a:xfrm>
          <a:prstGeom prst="roundRect">
            <a:avLst>
              <a:gd name="adj" fmla="val 460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3543300"/>
            <a:ext cx="28956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0" name="Shape 7"/>
          <p:cNvSpPr/>
          <p:nvPr/>
        </p:nvSpPr>
        <p:spPr>
          <a:xfrm>
            <a:off x="4029075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6962775"/>
            <a:ext cx="28956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143000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400175" y="38290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14" name="Shape 11"/>
          <p:cNvSpPr/>
          <p:nvPr/>
        </p:nvSpPr>
        <p:spPr>
          <a:xfrm>
            <a:off x="3343275" y="3905250"/>
            <a:ext cx="381000" cy="342900"/>
          </a:xfrm>
          <a:prstGeom prst="roundRect">
            <a:avLst>
              <a:gd name="adj" fmla="val 16667"/>
            </a:avLst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43275" y="4007644"/>
            <a:ext cx="381000" cy="23813"/>
          </a:xfrm>
          <a:prstGeom prst="rect">
            <a:avLst/>
          </a:prstGeom>
          <a:solidFill>
            <a:srgbClr val="3CD3D3"/>
          </a:solidFill>
          <a:ln/>
        </p:spPr>
      </p:sp>
      <p:sp>
        <p:nvSpPr>
          <p:cNvPr id="16" name="Shape 13"/>
          <p:cNvSpPr/>
          <p:nvPr/>
        </p:nvSpPr>
        <p:spPr>
          <a:xfrm>
            <a:off x="3419475" y="4086225"/>
            <a:ext cx="228600" cy="123825"/>
          </a:xfrm>
          <a:custGeom>
            <a:avLst/>
            <a:gdLst/>
            <a:ahLst/>
            <a:cxnLst/>
            <a:rect l="l" t="t" r="r" b="b"/>
            <a:pathLst>
              <a:path w="228600" h="123825">
                <a:moveTo>
                  <a:pt x="0" y="66675"/>
                </a:moveTo>
                <a:lnTo>
                  <a:pt x="57150" y="66675"/>
                </a:lnTo>
                <a:lnTo>
                  <a:pt x="85725" y="0"/>
                </a:lnTo>
                <a:lnTo>
                  <a:pt x="133350" y="123825"/>
                </a:lnTo>
                <a:lnTo>
                  <a:pt x="161925" y="66675"/>
                </a:lnTo>
                <a:lnTo>
                  <a:pt x="228600" y="66675"/>
                </a:lnTo>
              </a:path>
            </a:pathLst>
          </a:custGeom>
          <a:ln w="23813">
            <a:solidFill>
              <a:srgbClr val="3CD3D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19600" y="3543300"/>
            <a:ext cx="2895600" cy="3429000"/>
          </a:xfrm>
          <a:prstGeom prst="roundRect">
            <a:avLst>
              <a:gd name="adj" fmla="val 460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419600" y="3543300"/>
            <a:ext cx="28956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9" name="Shape 16"/>
          <p:cNvSpPr/>
          <p:nvPr/>
        </p:nvSpPr>
        <p:spPr>
          <a:xfrm>
            <a:off x="7305675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419600" y="6962775"/>
            <a:ext cx="28956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419600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676775" y="38290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23" name="Shape 20"/>
          <p:cNvSpPr/>
          <p:nvPr/>
        </p:nvSpPr>
        <p:spPr>
          <a:xfrm>
            <a:off x="6638925" y="3876675"/>
            <a:ext cx="342900" cy="133350"/>
          </a:xfrm>
          <a:prstGeom prst="ellipse">
            <a:avLst/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38925" y="3943350"/>
            <a:ext cx="342900" cy="200025"/>
          </a:xfrm>
          <a:custGeom>
            <a:avLst/>
            <a:gdLst/>
            <a:ahLst/>
            <a:cxnLst/>
            <a:rect l="l" t="t" r="r" b="b"/>
            <a:pathLst>
              <a:path w="342900" h="200025">
                <a:moveTo>
                  <a:pt x="0" y="0"/>
                </a:moveTo>
                <a:lnTo>
                  <a:pt x="0" y="133350"/>
                </a:lnTo>
                <a:cubicBezTo>
                  <a:pt x="0" y="171450"/>
                  <a:pt x="76200" y="200025"/>
                  <a:pt x="171450" y="200025"/>
                </a:cubicBezTo>
                <a:cubicBezTo>
                  <a:pt x="266700" y="200025"/>
                  <a:pt x="342900" y="171450"/>
                  <a:pt x="342900" y="133350"/>
                </a:cubicBezTo>
                <a:lnTo>
                  <a:pt x="342900" y="0"/>
                </a:lnTo>
              </a:path>
            </a:pathLst>
          </a:custGeom>
          <a:ln w="23813">
            <a:solidFill>
              <a:srgbClr val="3CD3D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38925" y="4076700"/>
            <a:ext cx="342900" cy="200025"/>
          </a:xfrm>
          <a:custGeom>
            <a:avLst/>
            <a:gdLst/>
            <a:ahLst/>
            <a:cxnLst/>
            <a:rect l="l" t="t" r="r" b="b"/>
            <a:pathLst>
              <a:path w="342900" h="200025">
                <a:moveTo>
                  <a:pt x="0" y="0"/>
                </a:moveTo>
                <a:lnTo>
                  <a:pt x="0" y="133350"/>
                </a:lnTo>
                <a:cubicBezTo>
                  <a:pt x="0" y="171450"/>
                  <a:pt x="76200" y="200025"/>
                  <a:pt x="171450" y="200025"/>
                </a:cubicBezTo>
                <a:cubicBezTo>
                  <a:pt x="266700" y="200025"/>
                  <a:pt x="342900" y="171450"/>
                  <a:pt x="342900" y="133350"/>
                </a:cubicBezTo>
                <a:lnTo>
                  <a:pt x="342900" y="0"/>
                </a:lnTo>
              </a:path>
            </a:pathLst>
          </a:custGeom>
          <a:ln w="23813">
            <a:solidFill>
              <a:srgbClr val="3CD3D3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7696200" y="3543300"/>
            <a:ext cx="2895600" cy="3429000"/>
          </a:xfrm>
          <a:prstGeom prst="roundRect">
            <a:avLst>
              <a:gd name="adj" fmla="val 4605"/>
            </a:avLst>
          </a:prstGeom>
          <a:solidFill>
            <a:srgbClr val="9A8CF2">
              <a:alpha val="1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696200" y="3543300"/>
            <a:ext cx="2895600" cy="38100"/>
          </a:xfrm>
          <a:prstGeom prst="rect">
            <a:avLst/>
          </a:prstGeom>
          <a:solidFill>
            <a:srgbClr val="9A8CF2">
              <a:alpha val="4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0582275" y="3543300"/>
            <a:ext cx="9525" cy="3429000"/>
          </a:xfrm>
          <a:prstGeom prst="rect">
            <a:avLst/>
          </a:prstGeom>
          <a:solidFill>
            <a:srgbClr val="9A8CF2">
              <a:alpha val="4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696200" y="6962775"/>
            <a:ext cx="2895600" cy="9525"/>
          </a:xfrm>
          <a:prstGeom prst="rect">
            <a:avLst/>
          </a:prstGeom>
          <a:solidFill>
            <a:srgbClr val="9A8CF2">
              <a:alpha val="4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696200" y="3543300"/>
            <a:ext cx="9525" cy="3429000"/>
          </a:xfrm>
          <a:prstGeom prst="rect">
            <a:avLst/>
          </a:prstGeom>
          <a:solidFill>
            <a:srgbClr val="9A8CF2">
              <a:alpha val="4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953375" y="38290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A8CF2"/>
          </a:solidFill>
          <a:ln/>
        </p:spPr>
      </p:sp>
      <p:sp>
        <p:nvSpPr>
          <p:cNvPr id="32" name="Shape 29"/>
          <p:cNvSpPr/>
          <p:nvPr/>
        </p:nvSpPr>
        <p:spPr>
          <a:xfrm>
            <a:off x="10039350" y="3857625"/>
            <a:ext cx="95250" cy="95250"/>
          </a:xfrm>
          <a:prstGeom prst="ellipse">
            <a:avLst/>
          </a:prstGeom>
          <a:ln w="23813">
            <a:solidFill>
              <a:srgbClr val="9A8C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06000" y="4048125"/>
            <a:ext cx="95250" cy="95250"/>
          </a:xfrm>
          <a:prstGeom prst="ellipse">
            <a:avLst/>
          </a:prstGeom>
          <a:ln w="23813">
            <a:solidFill>
              <a:srgbClr val="9A8C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72700" y="4048125"/>
            <a:ext cx="95250" cy="95250"/>
          </a:xfrm>
          <a:prstGeom prst="ellipse">
            <a:avLst/>
          </a:prstGeom>
          <a:ln w="23813">
            <a:solidFill>
              <a:srgbClr val="9A8CF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858375" y="4229100"/>
            <a:ext cx="76200" cy="76200"/>
          </a:xfrm>
          <a:prstGeom prst="ellipse">
            <a:avLst/>
          </a:prstGeom>
          <a:ln w="23813">
            <a:solidFill>
              <a:srgbClr val="9A8C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972675" y="4229100"/>
            <a:ext cx="76200" cy="76200"/>
          </a:xfrm>
          <a:prstGeom prst="ellipse">
            <a:avLst/>
          </a:prstGeom>
          <a:ln w="23813">
            <a:solidFill>
              <a:srgbClr val="9A8C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125075" y="4229100"/>
            <a:ext cx="76200" cy="76200"/>
          </a:xfrm>
          <a:prstGeom prst="ellipse">
            <a:avLst/>
          </a:prstGeom>
          <a:ln w="23813">
            <a:solidFill>
              <a:srgbClr val="9A8C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239375" y="4229100"/>
            <a:ext cx="76200" cy="76200"/>
          </a:xfrm>
          <a:prstGeom prst="ellipse">
            <a:avLst/>
          </a:prstGeom>
          <a:ln w="23813">
            <a:solidFill>
              <a:srgbClr val="9A8CF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06000" y="3943350"/>
            <a:ext cx="361950" cy="285750"/>
          </a:xfrm>
          <a:custGeom>
            <a:avLst/>
            <a:gdLst/>
            <a:ahLst/>
            <a:cxnLst/>
            <a:rect l="l" t="t" r="r" b="b"/>
            <a:pathLst>
              <a:path w="361950" h="285750">
                <a:moveTo>
                  <a:pt x="152400" y="0"/>
                </a:moveTo>
                <a:lnTo>
                  <a:pt x="76200" y="114300"/>
                </a:lnTo>
                <a:moveTo>
                  <a:pt x="209550" y="0"/>
                </a:moveTo>
                <a:lnTo>
                  <a:pt x="285750" y="114300"/>
                </a:lnTo>
                <a:moveTo>
                  <a:pt x="28575" y="190500"/>
                </a:moveTo>
                <a:lnTo>
                  <a:pt x="0" y="285750"/>
                </a:lnTo>
                <a:moveTo>
                  <a:pt x="66675" y="190500"/>
                </a:moveTo>
                <a:lnTo>
                  <a:pt x="95250" y="285750"/>
                </a:lnTo>
                <a:moveTo>
                  <a:pt x="295275" y="190500"/>
                </a:moveTo>
                <a:lnTo>
                  <a:pt x="266700" y="285750"/>
                </a:lnTo>
                <a:moveTo>
                  <a:pt x="333375" y="190500"/>
                </a:moveTo>
                <a:lnTo>
                  <a:pt x="361950" y="285750"/>
                </a:lnTo>
              </a:path>
            </a:pathLst>
          </a:custGeom>
          <a:ln w="23813">
            <a:solidFill>
              <a:srgbClr val="9A8CF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972800" y="3543300"/>
            <a:ext cx="2895600" cy="3429000"/>
          </a:xfrm>
          <a:prstGeom prst="roundRect">
            <a:avLst>
              <a:gd name="adj" fmla="val 460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0972800" y="3543300"/>
            <a:ext cx="28956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2" name="Shape 39"/>
          <p:cNvSpPr/>
          <p:nvPr/>
        </p:nvSpPr>
        <p:spPr>
          <a:xfrm>
            <a:off x="13858875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0972800" y="6962775"/>
            <a:ext cx="28956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0972800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1229975" y="38290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46" name="Shape 43"/>
          <p:cNvSpPr/>
          <p:nvPr/>
        </p:nvSpPr>
        <p:spPr>
          <a:xfrm>
            <a:off x="13173075" y="3886200"/>
            <a:ext cx="400050" cy="381000"/>
          </a:xfrm>
          <a:custGeom>
            <a:avLst/>
            <a:gdLst/>
            <a:ahLst/>
            <a:cxnLst/>
            <a:rect l="l" t="t" r="r" b="b"/>
            <a:pathLst>
              <a:path w="400050" h="381000">
                <a:moveTo>
                  <a:pt x="0" y="0"/>
                </a:moveTo>
                <a:lnTo>
                  <a:pt x="0" y="381000"/>
                </a:lnTo>
                <a:lnTo>
                  <a:pt x="400050" y="381000"/>
                </a:lnTo>
              </a:path>
            </a:pathLst>
          </a:custGeom>
          <a:ln w="23813">
            <a:solidFill>
              <a:srgbClr val="3CD3D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3239750" y="4095750"/>
            <a:ext cx="66675" cy="133350"/>
          </a:xfrm>
          <a:prstGeom prst="roundRect">
            <a:avLst>
              <a:gd name="adj" fmla="val 21429"/>
            </a:avLst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3354050" y="4000500"/>
            <a:ext cx="66675" cy="228600"/>
          </a:xfrm>
          <a:prstGeom prst="roundRect">
            <a:avLst>
              <a:gd name="adj" fmla="val 21429"/>
            </a:avLst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3468350" y="3924300"/>
            <a:ext cx="66675" cy="304800"/>
          </a:xfrm>
          <a:prstGeom prst="roundRect">
            <a:avLst>
              <a:gd name="adj" fmla="val 21429"/>
            </a:avLst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4249400" y="3543300"/>
            <a:ext cx="2895600" cy="3429000"/>
          </a:xfrm>
          <a:prstGeom prst="roundRect">
            <a:avLst>
              <a:gd name="adj" fmla="val 460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4249400" y="3543300"/>
            <a:ext cx="28956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2" name="Shape 49"/>
          <p:cNvSpPr/>
          <p:nvPr/>
        </p:nvSpPr>
        <p:spPr>
          <a:xfrm>
            <a:off x="17135475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14249400" y="6962775"/>
            <a:ext cx="28956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14249400" y="3543300"/>
            <a:ext cx="9525" cy="34290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14506575" y="38290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56" name="Shape 53"/>
          <p:cNvSpPr/>
          <p:nvPr/>
        </p:nvSpPr>
        <p:spPr>
          <a:xfrm>
            <a:off x="16430625" y="3886200"/>
            <a:ext cx="419100" cy="323850"/>
          </a:xfrm>
          <a:prstGeom prst="roundRect">
            <a:avLst>
              <a:gd name="adj" fmla="val 14706"/>
            </a:avLst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6430625" y="3969544"/>
            <a:ext cx="419100" cy="23813"/>
          </a:xfrm>
          <a:prstGeom prst="rect">
            <a:avLst/>
          </a:prstGeom>
          <a:solidFill>
            <a:srgbClr val="3CD3D3"/>
          </a:solidFill>
          <a:ln/>
        </p:spPr>
      </p:sp>
      <p:sp>
        <p:nvSpPr>
          <p:cNvPr id="58" name="Shape 55"/>
          <p:cNvSpPr/>
          <p:nvPr/>
        </p:nvSpPr>
        <p:spPr>
          <a:xfrm>
            <a:off x="16476345" y="3922395"/>
            <a:ext cx="22860" cy="22860"/>
          </a:xfrm>
          <a:prstGeom prst="ellipse">
            <a:avLst/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6523970" y="3922395"/>
            <a:ext cx="22860" cy="22860"/>
          </a:xfrm>
          <a:prstGeom prst="ellipse">
            <a:avLst/>
          </a:prstGeom>
          <a:ln w="23813">
            <a:solidFill>
              <a:srgbClr val="3CD3D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6563975" y="4274344"/>
            <a:ext cx="152400" cy="23813"/>
          </a:xfrm>
          <a:prstGeom prst="rect">
            <a:avLst/>
          </a:prstGeom>
          <a:solidFill>
            <a:srgbClr val="3CD3D3"/>
          </a:solidFill>
          <a:ln/>
        </p:spPr>
      </p:sp>
      <p:sp>
        <p:nvSpPr>
          <p:cNvPr id="61" name="Shape 58"/>
          <p:cNvSpPr/>
          <p:nvPr/>
        </p:nvSpPr>
        <p:spPr>
          <a:xfrm>
            <a:off x="16628269" y="4210050"/>
            <a:ext cx="23813" cy="76200"/>
          </a:xfrm>
          <a:prstGeom prst="rect">
            <a:avLst/>
          </a:prstGeom>
          <a:solidFill>
            <a:srgbClr val="3CD3D3"/>
          </a:solidFill>
          <a:ln/>
        </p:spPr>
      </p:sp>
      <p:sp>
        <p:nvSpPr>
          <p:cNvPr id="62" name="Shape 59"/>
          <p:cNvSpPr/>
          <p:nvPr/>
        </p:nvSpPr>
        <p:spPr>
          <a:xfrm>
            <a:off x="16506825" y="4121944"/>
            <a:ext cx="95250" cy="23813"/>
          </a:xfrm>
          <a:prstGeom prst="rect">
            <a:avLst/>
          </a:prstGeom>
          <a:solidFill>
            <a:srgbClr val="3CD3D3"/>
          </a:solidFill>
          <a:ln/>
        </p:spPr>
      </p:sp>
      <p:sp>
        <p:nvSpPr>
          <p:cNvPr id="63" name="Shape 60"/>
          <p:cNvSpPr/>
          <p:nvPr/>
        </p:nvSpPr>
        <p:spPr>
          <a:xfrm>
            <a:off x="16506825" y="4064794"/>
            <a:ext cx="190500" cy="23813"/>
          </a:xfrm>
          <a:prstGeom prst="rect">
            <a:avLst/>
          </a:prstGeom>
          <a:solidFill>
            <a:srgbClr val="3CD3D3"/>
          </a:solidFill>
          <a:ln/>
        </p:spPr>
      </p:sp>
      <p:sp>
        <p:nvSpPr>
          <p:cNvPr id="64" name="Shape 61"/>
          <p:cNvSpPr/>
          <p:nvPr/>
        </p:nvSpPr>
        <p:spPr>
          <a:xfrm>
            <a:off x="4057650" y="5257800"/>
            <a:ext cx="266700" cy="4763"/>
          </a:xfrm>
          <a:custGeom>
            <a:avLst/>
            <a:gdLst/>
            <a:ahLst/>
            <a:cxnLst/>
            <a:rect l="l" t="t" r="r" b="b"/>
            <a:pathLst>
              <a:path w="266700" h="4763">
                <a:moveTo>
                  <a:pt x="0" y="0"/>
                </a:moveTo>
                <a:lnTo>
                  <a:pt x="2667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3CD3D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86250" y="51911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</a:path>
            </a:pathLst>
          </a:custGeom>
          <a:ln w="28575">
            <a:solidFill>
              <a:srgbClr val="3CD3D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334250" y="5257800"/>
            <a:ext cx="266700" cy="4763"/>
          </a:xfrm>
          <a:custGeom>
            <a:avLst/>
            <a:gdLst/>
            <a:ahLst/>
            <a:cxnLst/>
            <a:rect l="l" t="t" r="r" b="b"/>
            <a:pathLst>
              <a:path w="266700" h="4763">
                <a:moveTo>
                  <a:pt x="0" y="0"/>
                </a:moveTo>
                <a:lnTo>
                  <a:pt x="2667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9A8CF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562850" y="51911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</a:path>
            </a:pathLst>
          </a:custGeom>
          <a:ln w="28575">
            <a:solidFill>
              <a:srgbClr val="9A8CF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610850" y="5257800"/>
            <a:ext cx="266700" cy="4763"/>
          </a:xfrm>
          <a:custGeom>
            <a:avLst/>
            <a:gdLst/>
            <a:ahLst/>
            <a:cxnLst/>
            <a:rect l="l" t="t" r="r" b="b"/>
            <a:pathLst>
              <a:path w="266700" h="4763">
                <a:moveTo>
                  <a:pt x="0" y="0"/>
                </a:moveTo>
                <a:lnTo>
                  <a:pt x="2667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9A8CF2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839450" y="51911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</a:path>
            </a:pathLst>
          </a:custGeom>
          <a:ln w="28575">
            <a:solidFill>
              <a:srgbClr val="9A8CF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3887450" y="5257800"/>
            <a:ext cx="266700" cy="4763"/>
          </a:xfrm>
          <a:custGeom>
            <a:avLst/>
            <a:gdLst/>
            <a:ahLst/>
            <a:cxnLst/>
            <a:rect l="l" t="t" r="r" b="b"/>
            <a:pathLst>
              <a:path w="266700" h="4763">
                <a:moveTo>
                  <a:pt x="0" y="0"/>
                </a:moveTo>
                <a:lnTo>
                  <a:pt x="2667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3CD3D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4116050" y="51911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</a:path>
            </a:pathLst>
          </a:custGeom>
          <a:ln w="28575">
            <a:solidFill>
              <a:srgbClr val="3CD3D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143000" y="7620000"/>
            <a:ext cx="5143500" cy="1524000"/>
          </a:xfrm>
          <a:prstGeom prst="rect">
            <a:avLst/>
          </a:prstGeom>
          <a:ln/>
        </p:spPr>
      </p:sp>
      <p:sp>
        <p:nvSpPr>
          <p:cNvPr id="73" name="Shape 70"/>
          <p:cNvSpPr/>
          <p:nvPr/>
        </p:nvSpPr>
        <p:spPr>
          <a:xfrm>
            <a:off x="1143000" y="7620000"/>
            <a:ext cx="5143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6572250" y="7620000"/>
            <a:ext cx="5143500" cy="1524000"/>
          </a:xfrm>
          <a:prstGeom prst="rect">
            <a:avLst/>
          </a:prstGeom>
          <a:ln/>
        </p:spPr>
      </p:sp>
      <p:sp>
        <p:nvSpPr>
          <p:cNvPr id="75" name="Shape 72"/>
          <p:cNvSpPr/>
          <p:nvPr/>
        </p:nvSpPr>
        <p:spPr>
          <a:xfrm>
            <a:off x="6572250" y="7620000"/>
            <a:ext cx="5143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12001500" y="7620000"/>
            <a:ext cx="5143500" cy="1524000"/>
          </a:xfrm>
          <a:prstGeom prst="rect">
            <a:avLst/>
          </a:prstGeom>
          <a:ln/>
        </p:spPr>
      </p:sp>
      <p:sp>
        <p:nvSpPr>
          <p:cNvPr id="77" name="Shape 74"/>
          <p:cNvSpPr/>
          <p:nvPr/>
        </p:nvSpPr>
        <p:spPr>
          <a:xfrm>
            <a:off x="12001500" y="7620000"/>
            <a:ext cx="5143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7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5" y="2209800"/>
            <a:ext cx="5000625" cy="381000"/>
          </a:xfrm>
          <a:prstGeom prst="rect">
            <a:avLst/>
          </a:prstGeom>
        </p:spPr>
      </p:pic>
      <p:sp>
        <p:nvSpPr>
          <p:cNvPr id="79" name="Text 75"/>
          <p:cNvSpPr/>
          <p:nvPr/>
        </p:nvSpPr>
        <p:spPr>
          <a:xfrm>
            <a:off x="1143000" y="933450"/>
            <a:ext cx="29892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14 · PROPOSED SOLUTION</a:t>
            </a:r>
            <a:endParaRPr lang="en-US" sz="1200" dirty="0"/>
          </a:p>
        </p:txBody>
      </p:sp>
      <p:sp>
        <p:nvSpPr>
          <p:cNvPr id="80" name="Text 76"/>
          <p:cNvSpPr/>
          <p:nvPr/>
        </p:nvSpPr>
        <p:spPr>
          <a:xfrm>
            <a:off x="14838015" y="933450"/>
            <a:ext cx="23069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ALPHA MONARCHS</a:t>
            </a:r>
            <a:endParaRPr lang="en-US" sz="1200" dirty="0"/>
          </a:p>
        </p:txBody>
      </p:sp>
      <p:sp>
        <p:nvSpPr>
          <p:cNvPr id="81" name="Text 77"/>
          <p:cNvSpPr/>
          <p:nvPr/>
        </p:nvSpPr>
        <p:spPr>
          <a:xfrm>
            <a:off x="1143000" y="1257300"/>
            <a:ext cx="12163127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Proposed Solution: NeuroRhythm Twin</a:t>
            </a:r>
            <a:endParaRPr lang="en-US" sz="4800" dirty="0"/>
          </a:p>
        </p:txBody>
      </p:sp>
      <p:sp>
        <p:nvSpPr>
          <p:cNvPr id="82" name="Text 78"/>
          <p:cNvSpPr/>
          <p:nvPr/>
        </p:nvSpPr>
        <p:spPr>
          <a:xfrm>
            <a:off x="1143000" y="2143125"/>
            <a:ext cx="1029518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interactive prototype that demonstrates a potential approach to exploring health-related patterns.</a:t>
            </a:r>
            <a:endParaRPr lang="en-US" sz="2250" dirty="0"/>
          </a:p>
        </p:txBody>
      </p:sp>
      <p:sp>
        <p:nvSpPr>
          <p:cNvPr id="83" name="Text 79"/>
          <p:cNvSpPr/>
          <p:nvPr/>
        </p:nvSpPr>
        <p:spPr>
          <a:xfrm>
            <a:off x="12332047" y="2309813"/>
            <a:ext cx="21227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PROTOTYPE</a:t>
            </a:r>
            <a:endParaRPr lang="en-US" sz="1050" dirty="0"/>
          </a:p>
        </p:txBody>
      </p:sp>
      <p:sp>
        <p:nvSpPr>
          <p:cNvPr id="84" name="Text 80"/>
          <p:cNvSpPr/>
          <p:nvPr/>
        </p:nvSpPr>
        <p:spPr>
          <a:xfrm>
            <a:off x="15112008" y="2309813"/>
            <a:ext cx="18520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DIAGRAM</a:t>
            </a:r>
            <a:endParaRPr lang="en-US" sz="1050" dirty="0"/>
          </a:p>
        </p:txBody>
      </p:sp>
      <p:sp>
        <p:nvSpPr>
          <p:cNvPr id="85" name="Text 81"/>
          <p:cNvSpPr/>
          <p:nvPr/>
        </p:nvSpPr>
        <p:spPr>
          <a:xfrm>
            <a:off x="1143000" y="3028950"/>
            <a:ext cx="24288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LAYER · STAGES 1–2</a:t>
            </a:r>
            <a:endParaRPr lang="en-US" sz="1200" dirty="0"/>
          </a:p>
        </p:txBody>
      </p:sp>
      <p:sp>
        <p:nvSpPr>
          <p:cNvPr id="86" name="Text 82"/>
          <p:cNvSpPr/>
          <p:nvPr/>
        </p:nvSpPr>
        <p:spPr>
          <a:xfrm>
            <a:off x="7696200" y="3028950"/>
            <a:ext cx="17875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9A8C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LAYER · STAGE 3</a:t>
            </a:r>
            <a:endParaRPr lang="en-US" sz="1200" dirty="0"/>
          </a:p>
        </p:txBody>
      </p:sp>
      <p:sp>
        <p:nvSpPr>
          <p:cNvPr id="87" name="Text 83"/>
          <p:cNvSpPr/>
          <p:nvPr/>
        </p:nvSpPr>
        <p:spPr>
          <a:xfrm>
            <a:off x="10972800" y="3028950"/>
            <a:ext cx="310604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EXPERIENCE LAYER · STAGES 4–5</a:t>
            </a:r>
            <a:endParaRPr lang="en-US" sz="1200" dirty="0"/>
          </a:p>
        </p:txBody>
      </p:sp>
      <p:sp>
        <p:nvSpPr>
          <p:cNvPr id="88" name="Text 84"/>
          <p:cNvSpPr/>
          <p:nvPr/>
        </p:nvSpPr>
        <p:spPr>
          <a:xfrm>
            <a:off x="1563737" y="39147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50" dirty="0"/>
          </a:p>
        </p:txBody>
      </p:sp>
      <p:sp>
        <p:nvSpPr>
          <p:cNvPr id="89" name="Text 85"/>
          <p:cNvSpPr/>
          <p:nvPr/>
        </p:nvSpPr>
        <p:spPr>
          <a:xfrm>
            <a:off x="1400175" y="4972050"/>
            <a:ext cx="1974800" cy="710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Health-related data inputs</a:t>
            </a:r>
            <a:endParaRPr lang="en-US" sz="2250" dirty="0"/>
          </a:p>
        </p:txBody>
      </p:sp>
      <p:sp>
        <p:nvSpPr>
          <p:cNvPr id="90" name="Text 86"/>
          <p:cNvSpPr/>
          <p:nvPr/>
        </p:nvSpPr>
        <p:spPr>
          <a:xfrm>
            <a:off x="1400175" y="5848350"/>
            <a:ext cx="2033736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Supported sample inputs, entered or selected by the user.</a:t>
            </a:r>
            <a:endParaRPr lang="en-US" sz="1650" dirty="0"/>
          </a:p>
        </p:txBody>
      </p:sp>
      <p:sp>
        <p:nvSpPr>
          <p:cNvPr id="91" name="Text 87"/>
          <p:cNvSpPr/>
          <p:nvPr/>
        </p:nvSpPr>
        <p:spPr>
          <a:xfrm>
            <a:off x="4840337" y="39147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50" dirty="0"/>
          </a:p>
        </p:txBody>
      </p:sp>
      <p:sp>
        <p:nvSpPr>
          <p:cNvPr id="92" name="Text 88"/>
          <p:cNvSpPr/>
          <p:nvPr/>
        </p:nvSpPr>
        <p:spPr>
          <a:xfrm>
            <a:off x="4676775" y="4972050"/>
            <a:ext cx="1956941" cy="710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Historical synthetic data</a:t>
            </a:r>
            <a:endParaRPr lang="en-US" sz="2250" dirty="0"/>
          </a:p>
        </p:txBody>
      </p:sp>
      <p:sp>
        <p:nvSpPr>
          <p:cNvPr id="93" name="Text 89"/>
          <p:cNvSpPr/>
          <p:nvPr/>
        </p:nvSpPr>
        <p:spPr>
          <a:xfrm>
            <a:off x="4676775" y="5848350"/>
            <a:ext cx="2374106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synthetic historical dataset, not real patient records.</a:t>
            </a:r>
            <a:endParaRPr lang="en-US" sz="1650" dirty="0"/>
          </a:p>
        </p:txBody>
      </p:sp>
      <p:sp>
        <p:nvSpPr>
          <p:cNvPr id="94" name="Text 90"/>
          <p:cNvSpPr/>
          <p:nvPr/>
        </p:nvSpPr>
        <p:spPr>
          <a:xfrm>
            <a:off x="8116937" y="39147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50" dirty="0"/>
          </a:p>
        </p:txBody>
      </p:sp>
      <p:sp>
        <p:nvSpPr>
          <p:cNvPr id="95" name="Text 91"/>
          <p:cNvSpPr/>
          <p:nvPr/>
        </p:nvSpPr>
        <p:spPr>
          <a:xfrm>
            <a:off x="7953375" y="4972050"/>
            <a:ext cx="2373660" cy="710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Machine-learning inference</a:t>
            </a:r>
            <a:endParaRPr lang="en-US" sz="2250" dirty="0"/>
          </a:p>
        </p:txBody>
      </p:sp>
      <p:sp>
        <p:nvSpPr>
          <p:cNvPr id="96" name="Text 92"/>
          <p:cNvSpPr/>
          <p:nvPr/>
        </p:nvSpPr>
        <p:spPr>
          <a:xfrm>
            <a:off x="7953375" y="5848350"/>
            <a:ext cx="2026890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 inference for pattern exploration.</a:t>
            </a:r>
            <a:endParaRPr lang="en-US" sz="1650" dirty="0"/>
          </a:p>
        </p:txBody>
      </p:sp>
      <p:sp>
        <p:nvSpPr>
          <p:cNvPr id="97" name="Text 93"/>
          <p:cNvSpPr/>
          <p:nvPr/>
        </p:nvSpPr>
        <p:spPr>
          <a:xfrm>
            <a:off x="11393537" y="39147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50" dirty="0"/>
          </a:p>
        </p:txBody>
      </p:sp>
      <p:sp>
        <p:nvSpPr>
          <p:cNvPr id="98" name="Text 94"/>
          <p:cNvSpPr/>
          <p:nvPr/>
        </p:nvSpPr>
        <p:spPr>
          <a:xfrm>
            <a:off x="11229975" y="4972050"/>
            <a:ext cx="2132409" cy="710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data visualization</a:t>
            </a:r>
            <a:endParaRPr lang="en-US" sz="2250" dirty="0"/>
          </a:p>
        </p:txBody>
      </p:sp>
      <p:sp>
        <p:nvSpPr>
          <p:cNvPr id="99" name="Text 95"/>
          <p:cNvSpPr/>
          <p:nvPr/>
        </p:nvSpPr>
        <p:spPr>
          <a:xfrm>
            <a:off x="11229975" y="5848350"/>
            <a:ext cx="2341513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Plotly charts for exploring model outputs.</a:t>
            </a:r>
            <a:endParaRPr lang="en-US" sz="1650" dirty="0"/>
          </a:p>
        </p:txBody>
      </p:sp>
      <p:sp>
        <p:nvSpPr>
          <p:cNvPr id="100" name="Text 96"/>
          <p:cNvSpPr/>
          <p:nvPr/>
        </p:nvSpPr>
        <p:spPr>
          <a:xfrm>
            <a:off x="14670137" y="39147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650" dirty="0"/>
          </a:p>
        </p:txBody>
      </p:sp>
      <p:sp>
        <p:nvSpPr>
          <p:cNvPr id="101" name="Text 97"/>
          <p:cNvSpPr/>
          <p:nvPr/>
        </p:nvSpPr>
        <p:spPr>
          <a:xfrm>
            <a:off x="14506575" y="4972050"/>
            <a:ext cx="1258937" cy="1030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unified Streamlit interface</a:t>
            </a:r>
            <a:endParaRPr lang="en-US" sz="2250" dirty="0"/>
          </a:p>
        </p:txBody>
      </p:sp>
      <p:sp>
        <p:nvSpPr>
          <p:cNvPr id="102" name="Text 98"/>
          <p:cNvSpPr/>
          <p:nvPr/>
        </p:nvSpPr>
        <p:spPr>
          <a:xfrm>
            <a:off x="14506575" y="5848350"/>
            <a:ext cx="2409527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interface that brings inputs, model and visuals together.</a:t>
            </a:r>
            <a:endParaRPr lang="en-US" sz="1650" dirty="0"/>
          </a:p>
        </p:txBody>
      </p:sp>
      <p:sp>
        <p:nvSpPr>
          <p:cNvPr id="103" name="Text 99"/>
          <p:cNvSpPr/>
          <p:nvPr/>
        </p:nvSpPr>
        <p:spPr>
          <a:xfrm>
            <a:off x="1428750" y="7877175"/>
            <a:ext cx="12828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POINT 01</a:t>
            </a:r>
            <a:endParaRPr lang="en-US" sz="1200" dirty="0"/>
          </a:p>
        </p:txBody>
      </p:sp>
      <p:sp>
        <p:nvSpPr>
          <p:cNvPr id="104" name="Text 100"/>
          <p:cNvSpPr/>
          <p:nvPr/>
        </p:nvSpPr>
        <p:spPr>
          <a:xfrm>
            <a:off x="1428750" y="8191500"/>
            <a:ext cx="4170313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interactive prototype combining 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data inputs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 historical data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950" dirty="0"/>
          </a:p>
        </p:txBody>
      </p:sp>
      <p:sp>
        <p:nvSpPr>
          <p:cNvPr id="105" name="Text 101"/>
          <p:cNvSpPr/>
          <p:nvPr/>
        </p:nvSpPr>
        <p:spPr>
          <a:xfrm>
            <a:off x="6858000" y="7877175"/>
            <a:ext cx="12828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POINT 02</a:t>
            </a:r>
            <a:endParaRPr lang="en-US" sz="1200" dirty="0"/>
          </a:p>
        </p:txBody>
      </p:sp>
      <p:sp>
        <p:nvSpPr>
          <p:cNvPr id="106" name="Text 102"/>
          <p:cNvSpPr/>
          <p:nvPr/>
        </p:nvSpPr>
        <p:spPr>
          <a:xfrm>
            <a:off x="6858000" y="8191500"/>
            <a:ext cx="3930551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Leverages 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machine-learning inference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pattern exploration.</a:t>
            </a:r>
            <a:endParaRPr lang="en-US" sz="1950" dirty="0"/>
          </a:p>
        </p:txBody>
      </p:sp>
      <p:sp>
        <p:nvSpPr>
          <p:cNvPr id="107" name="Text 103"/>
          <p:cNvSpPr/>
          <p:nvPr/>
        </p:nvSpPr>
        <p:spPr>
          <a:xfrm>
            <a:off x="12287250" y="7877175"/>
            <a:ext cx="12828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POINT 03</a:t>
            </a:r>
            <a:endParaRPr lang="en-US" sz="1200" dirty="0"/>
          </a:p>
        </p:txBody>
      </p:sp>
      <p:sp>
        <p:nvSpPr>
          <p:cNvPr id="108" name="Text 104"/>
          <p:cNvSpPr/>
          <p:nvPr/>
        </p:nvSpPr>
        <p:spPr>
          <a:xfrm>
            <a:off x="12287250" y="8191500"/>
            <a:ext cx="4433590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visualization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within a 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unified Streamlit interface</a:t>
            </a:r>
            <a:pPr algn="l" indent="0" marL="0">
              <a:lnSpc>
                <a:spcPts val="257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950" dirty="0"/>
          </a:p>
        </p:txBody>
      </p:sp>
      <p:sp>
        <p:nvSpPr>
          <p:cNvPr id="109" name="Text 105"/>
          <p:cNvSpPr/>
          <p:nvPr/>
        </p:nvSpPr>
        <p:spPr>
          <a:xfrm>
            <a:off x="1143000" y="9734550"/>
            <a:ext cx="39629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DEVICE.</a:t>
            </a:r>
            <a:endParaRPr lang="en-US" sz="1050" dirty="0"/>
          </a:p>
        </p:txBody>
      </p:sp>
      <p:sp>
        <p:nvSpPr>
          <p:cNvPr id="110" name="Text 106"/>
          <p:cNvSpPr/>
          <p:nvPr/>
        </p:nvSpPr>
        <p:spPr>
          <a:xfrm>
            <a:off x="14742319" y="9734550"/>
            <a:ext cx="240268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</a:t>
            </a:r>
            <a:pPr algn="l" indent="0" marL="0">
              <a:buNone/>
            </a:pPr>
            <a:r>
              <a:rPr lang="en-US" sz="1050" b="1" spc="126" kern="0" dirty="0">
                <a:solidFill>
                  <a:srgbClr val="3CD3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14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0"/>
            <a:ext cx="18288000" cy="762000"/>
          </a:xfrm>
          <a:custGeom>
            <a:avLst/>
            <a:gdLst/>
            <a:ahLst/>
            <a:cxnLst/>
            <a:rect l="l" t="t" r="r" b="b"/>
            <a:pathLst>
              <a:path w="18288000" h="762000">
                <a:moveTo>
                  <a:pt x="0" y="381000"/>
                </a:moveTo>
                <a:lnTo>
                  <a:pt x="1714500" y="381000"/>
                </a:lnTo>
                <a:lnTo>
                  <a:pt x="2000250" y="381000"/>
                </a:lnTo>
                <a:lnTo>
                  <a:pt x="2238375" y="0"/>
                </a:lnTo>
                <a:lnTo>
                  <a:pt x="2495550" y="762000"/>
                </a:lnTo>
                <a:lnTo>
                  <a:pt x="2743200" y="381000"/>
                </a:lnTo>
                <a:lnTo>
                  <a:pt x="4572000" y="381000"/>
                </a:lnTo>
                <a:lnTo>
                  <a:pt x="6286500" y="381000"/>
                </a:lnTo>
                <a:lnTo>
                  <a:pt x="6572250" y="381000"/>
                </a:lnTo>
                <a:lnTo>
                  <a:pt x="6810375" y="0"/>
                </a:lnTo>
                <a:lnTo>
                  <a:pt x="7067550" y="762000"/>
                </a:lnTo>
                <a:lnTo>
                  <a:pt x="7315200" y="381000"/>
                </a:lnTo>
                <a:lnTo>
                  <a:pt x="9144000" y="381000"/>
                </a:lnTo>
                <a:lnTo>
                  <a:pt x="10858500" y="381000"/>
                </a:lnTo>
                <a:lnTo>
                  <a:pt x="11144250" y="381000"/>
                </a:lnTo>
                <a:lnTo>
                  <a:pt x="11382375" y="0"/>
                </a:lnTo>
                <a:lnTo>
                  <a:pt x="11639550" y="762000"/>
                </a:lnTo>
                <a:lnTo>
                  <a:pt x="11887200" y="381000"/>
                </a:lnTo>
                <a:lnTo>
                  <a:pt x="13716000" y="381000"/>
                </a:lnTo>
                <a:lnTo>
                  <a:pt x="15430500" y="381000"/>
                </a:lnTo>
                <a:lnTo>
                  <a:pt x="15716250" y="381000"/>
                </a:lnTo>
                <a:lnTo>
                  <a:pt x="15954375" y="0"/>
                </a:lnTo>
                <a:lnTo>
                  <a:pt x="16211550" y="762000"/>
                </a:lnTo>
                <a:lnTo>
                  <a:pt x="16459200" y="381000"/>
                </a:lnTo>
                <a:lnTo>
                  <a:pt x="18288000" y="381000"/>
                </a:lnTo>
              </a:path>
            </a:pathLst>
          </a:custGeom>
          <a:ln w="28575">
            <a:solidFill>
              <a:srgbClr val="0FA3A3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715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3048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0F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4229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0F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5410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8B7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65913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0F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77724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500" y="2857500"/>
            <a:ext cx="8953500" cy="6096000"/>
          </a:xfrm>
          <a:prstGeom prst="roundRect">
            <a:avLst>
              <a:gd name="adj" fmla="val 2188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10550" y="2876550"/>
            <a:ext cx="8915400" cy="4191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10550" y="3286125"/>
            <a:ext cx="8915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3019425"/>
            <a:ext cx="133350" cy="13335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1550" y="3019425"/>
            <a:ext cx="133350" cy="13335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01100" y="3019425"/>
            <a:ext cx="133350" cy="13335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58300" y="2962275"/>
            <a:ext cx="4000500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10550" y="3295650"/>
            <a:ext cx="2571750" cy="56578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72775" y="3295650"/>
            <a:ext cx="9525" cy="56578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39150" y="3943350"/>
            <a:ext cx="10477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39150" y="4133850"/>
            <a:ext cx="2114550" cy="419100"/>
          </a:xfrm>
          <a:prstGeom prst="roundRect">
            <a:avLst>
              <a:gd name="adj" fmla="val 1818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39150" y="4800600"/>
            <a:ext cx="8001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39150" y="4991100"/>
            <a:ext cx="2114550" cy="419100"/>
          </a:xfrm>
          <a:prstGeom prst="roundRect">
            <a:avLst>
              <a:gd name="adj" fmla="val 1818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9150" y="5657850"/>
            <a:ext cx="12382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39150" y="5848350"/>
            <a:ext cx="2114550" cy="419100"/>
          </a:xfrm>
          <a:prstGeom prst="roundRect">
            <a:avLst>
              <a:gd name="adj" fmla="val 1818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39150" y="6934200"/>
            <a:ext cx="21145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439150" y="6934200"/>
            <a:ext cx="1428750" cy="952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26" name="Shape 24"/>
          <p:cNvSpPr/>
          <p:nvPr/>
        </p:nvSpPr>
        <p:spPr>
          <a:xfrm>
            <a:off x="8439150" y="7410450"/>
            <a:ext cx="2114550" cy="533400"/>
          </a:xfrm>
          <a:prstGeom prst="roundRect">
            <a:avLst>
              <a:gd name="adj" fmla="val 17857"/>
            </a:avLst>
          </a:prstGeom>
          <a:solidFill>
            <a:srgbClr val="8B7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29950" y="3524250"/>
            <a:ext cx="5867400" cy="1619250"/>
          </a:xfrm>
          <a:prstGeom prst="roundRect">
            <a:avLst>
              <a:gd name="adj" fmla="val 7059"/>
            </a:avLst>
          </a:prstGeom>
          <a:solidFill>
            <a:srgbClr val="0B1F3A">
              <a:alpha val="5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029950" y="3524250"/>
            <a:ext cx="5867400" cy="38100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6887825" y="3524250"/>
            <a:ext cx="9525" cy="16192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029950" y="5133975"/>
            <a:ext cx="5867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029950" y="3524250"/>
            <a:ext cx="9525" cy="16192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687425" y="4152900"/>
            <a:ext cx="27622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687425" y="4400550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3687425" y="4648200"/>
            <a:ext cx="190500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029950" y="5334000"/>
            <a:ext cx="5867400" cy="3371850"/>
          </a:xfrm>
          <a:prstGeom prst="roundRect">
            <a:avLst>
              <a:gd name="adj" fmla="val 3390"/>
            </a:avLst>
          </a:prstGeom>
          <a:solidFill>
            <a:srgbClr val="0B1F3A">
              <a:alpha val="5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029950" y="5334000"/>
            <a:ext cx="58674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7" name="Shape 35"/>
          <p:cNvSpPr/>
          <p:nvPr/>
        </p:nvSpPr>
        <p:spPr>
          <a:xfrm>
            <a:off x="16887825" y="5334000"/>
            <a:ext cx="9525" cy="33718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029950" y="8696325"/>
            <a:ext cx="5867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029950" y="5334000"/>
            <a:ext cx="9525" cy="33718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025" y="5867400"/>
            <a:ext cx="5448300" cy="249555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10439400" y="33528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439400" y="6534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439400" y="75057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6592550" y="33528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6592550" y="5162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 w="28575">
            <a:solidFill>
              <a:srgbClr val="0B1F3A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3295650"/>
            <a:ext cx="12049125" cy="611505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143000" y="876300"/>
            <a:ext cx="31480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14 · HEALTHCARE USE CASE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13251805" y="876300"/>
            <a:ext cx="38931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ALPHA MONARCHS · NEURORHYTHM TWIN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1143000" y="1162050"/>
            <a:ext cx="12377738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Healthcare Use Case: Interactive Data Exploration</a:t>
            </a:r>
            <a:endParaRPr lang="en-US" sz="4200" dirty="0"/>
          </a:p>
        </p:txBody>
      </p:sp>
      <p:sp>
        <p:nvSpPr>
          <p:cNvPr id="50" name="Text 46"/>
          <p:cNvSpPr/>
          <p:nvPr/>
        </p:nvSpPr>
        <p:spPr>
          <a:xfrm>
            <a:off x="1143000" y="2009775"/>
            <a:ext cx="120391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sample health-related data and inspect model-generated outputs in an interactive environment.</a:t>
            </a:r>
            <a:endParaRPr lang="en-US" sz="1950" dirty="0"/>
          </a:p>
        </p:txBody>
      </p:sp>
      <p:sp>
        <p:nvSpPr>
          <p:cNvPr id="51" name="Text 47"/>
          <p:cNvSpPr/>
          <p:nvPr/>
        </p:nvSpPr>
        <p:spPr>
          <a:xfrm>
            <a:off x="1338709" y="3157538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52" name="Text 48"/>
          <p:cNvSpPr/>
          <p:nvPr/>
        </p:nvSpPr>
        <p:spPr>
          <a:xfrm>
            <a:off x="1981200" y="2981325"/>
            <a:ext cx="52362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b="1" spc="-2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 or select supported sample inputs</a:t>
            </a:r>
            <a:endParaRPr lang="en-US" sz="2175" dirty="0"/>
          </a:p>
        </p:txBody>
      </p:sp>
      <p:sp>
        <p:nvSpPr>
          <p:cNvPr id="53" name="Text 49"/>
          <p:cNvSpPr/>
          <p:nvPr/>
        </p:nvSpPr>
        <p:spPr>
          <a:xfrm>
            <a:off x="1981200" y="3590925"/>
            <a:ext cx="53743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Sample health-related inputs the application supports.</a:t>
            </a:r>
            <a:endParaRPr lang="en-US" sz="1650" dirty="0"/>
          </a:p>
        </p:txBody>
      </p:sp>
      <p:sp>
        <p:nvSpPr>
          <p:cNvPr id="54" name="Text 50"/>
          <p:cNvSpPr/>
          <p:nvPr/>
        </p:nvSpPr>
        <p:spPr>
          <a:xfrm>
            <a:off x="1338709" y="4338638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55" name="Text 51"/>
          <p:cNvSpPr/>
          <p:nvPr/>
        </p:nvSpPr>
        <p:spPr>
          <a:xfrm>
            <a:off x="1981200" y="4162425"/>
            <a:ext cx="245670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b="1" spc="-2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 the inputs</a:t>
            </a:r>
            <a:endParaRPr lang="en-US" sz="2175" dirty="0"/>
          </a:p>
        </p:txBody>
      </p:sp>
      <p:sp>
        <p:nvSpPr>
          <p:cNvPr id="56" name="Text 52"/>
          <p:cNvSpPr/>
          <p:nvPr/>
        </p:nvSpPr>
        <p:spPr>
          <a:xfrm>
            <a:off x="1981200" y="4772025"/>
            <a:ext cx="47269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for the model with </a:t>
            </a:r>
            <a:pPr algn="l" indent="0" marL="0">
              <a:buNone/>
            </a:pPr>
            <a:r>
              <a:rPr lang="en-US" sz="1650" b="1" dirty="0">
                <a:solidFill>
                  <a:srgbClr val="5CD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</a:t>
            </a:r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pPr algn="l" indent="0" marL="0">
              <a:buNone/>
            </a:pPr>
            <a:r>
              <a:rPr lang="en-US" sz="1650" b="1" dirty="0">
                <a:solidFill>
                  <a:srgbClr val="5CD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NumPy</a:t>
            </a:r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50" dirty="0"/>
          </a:p>
        </p:txBody>
      </p:sp>
      <p:sp>
        <p:nvSpPr>
          <p:cNvPr id="57" name="Text 53"/>
          <p:cNvSpPr/>
          <p:nvPr/>
        </p:nvSpPr>
        <p:spPr>
          <a:xfrm>
            <a:off x="1338709" y="5519738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58" name="Text 54"/>
          <p:cNvSpPr/>
          <p:nvPr/>
        </p:nvSpPr>
        <p:spPr>
          <a:xfrm>
            <a:off x="1981200" y="5343525"/>
            <a:ext cx="367947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b="1" spc="-2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the implemented model</a:t>
            </a:r>
            <a:endParaRPr lang="en-US" sz="2175" dirty="0"/>
          </a:p>
        </p:txBody>
      </p:sp>
      <p:sp>
        <p:nvSpPr>
          <p:cNvPr id="59" name="Text 55"/>
          <p:cNvSpPr/>
          <p:nvPr/>
        </p:nvSpPr>
        <p:spPr>
          <a:xfrm>
            <a:off x="1981200" y="5953125"/>
            <a:ext cx="41786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7C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</a:t>
            </a:r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inference with scikit-learn.</a:t>
            </a:r>
            <a:endParaRPr lang="en-US" sz="1650" dirty="0"/>
          </a:p>
        </p:txBody>
      </p:sp>
      <p:sp>
        <p:nvSpPr>
          <p:cNvPr id="60" name="Text 56"/>
          <p:cNvSpPr/>
          <p:nvPr/>
        </p:nvSpPr>
        <p:spPr>
          <a:xfrm>
            <a:off x="1338709" y="6700838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800" dirty="0"/>
          </a:p>
        </p:txBody>
      </p:sp>
      <p:sp>
        <p:nvSpPr>
          <p:cNvPr id="61" name="Text 57"/>
          <p:cNvSpPr/>
          <p:nvPr/>
        </p:nvSpPr>
        <p:spPr>
          <a:xfrm>
            <a:off x="1981200" y="6524625"/>
            <a:ext cx="4216896" cy="7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175" b="1" spc="-2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Inspect the output and available visualizations</a:t>
            </a:r>
            <a:endParaRPr lang="en-US" sz="2175" dirty="0"/>
          </a:p>
        </p:txBody>
      </p:sp>
      <p:sp>
        <p:nvSpPr>
          <p:cNvPr id="62" name="Text 58"/>
          <p:cNvSpPr/>
          <p:nvPr/>
        </p:nvSpPr>
        <p:spPr>
          <a:xfrm>
            <a:off x="1981200" y="7134225"/>
            <a:ext cx="49704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output and </a:t>
            </a:r>
            <a:pPr algn="l" indent="0" marL="0">
              <a:buNone/>
            </a:pPr>
            <a:r>
              <a:rPr lang="en-US" sz="1650" b="1" dirty="0">
                <a:solidFill>
                  <a:srgbClr val="5CD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</a:t>
            </a:r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views in the Streamlit app.</a:t>
            </a:r>
            <a:endParaRPr lang="en-US" sz="1650" dirty="0"/>
          </a:p>
        </p:txBody>
      </p:sp>
      <p:sp>
        <p:nvSpPr>
          <p:cNvPr id="63" name="Text 59"/>
          <p:cNvSpPr/>
          <p:nvPr/>
        </p:nvSpPr>
        <p:spPr>
          <a:xfrm>
            <a:off x="1338709" y="7881937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800" dirty="0"/>
          </a:p>
        </p:txBody>
      </p:sp>
      <p:sp>
        <p:nvSpPr>
          <p:cNvPr id="64" name="Text 60"/>
          <p:cNvSpPr/>
          <p:nvPr/>
        </p:nvSpPr>
        <p:spPr>
          <a:xfrm>
            <a:off x="1981200" y="7705725"/>
            <a:ext cx="5139035" cy="7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175" b="1" spc="-2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the information for educational purposes</a:t>
            </a:r>
            <a:endParaRPr lang="en-US" sz="2175" dirty="0"/>
          </a:p>
        </p:txBody>
      </p:sp>
      <p:sp>
        <p:nvSpPr>
          <p:cNvPr id="65" name="Text 61"/>
          <p:cNvSpPr/>
          <p:nvPr/>
        </p:nvSpPr>
        <p:spPr>
          <a:xfrm>
            <a:off x="1981200" y="8315325"/>
            <a:ext cx="4701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learning only. Not for diagnosis or treatment.</a:t>
            </a:r>
            <a:endParaRPr lang="en-US" sz="1650" dirty="0"/>
          </a:p>
        </p:txBody>
      </p:sp>
      <p:sp>
        <p:nvSpPr>
          <p:cNvPr id="66" name="Text 62"/>
          <p:cNvSpPr/>
          <p:nvPr/>
        </p:nvSpPr>
        <p:spPr>
          <a:xfrm>
            <a:off x="15234940" y="3000375"/>
            <a:ext cx="1719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MOCKUP</a:t>
            </a:r>
            <a:endParaRPr lang="en-US" sz="975" dirty="0"/>
          </a:p>
        </p:txBody>
      </p:sp>
      <p:sp>
        <p:nvSpPr>
          <p:cNvPr id="67" name="Text 63"/>
          <p:cNvSpPr/>
          <p:nvPr/>
        </p:nvSpPr>
        <p:spPr>
          <a:xfrm>
            <a:off x="8439150" y="3524250"/>
            <a:ext cx="13123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5CD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SAMPLE INPUTS</a:t>
            </a:r>
            <a:endParaRPr lang="en-US" sz="1050" dirty="0"/>
          </a:p>
        </p:txBody>
      </p:sp>
      <p:sp>
        <p:nvSpPr>
          <p:cNvPr id="68" name="Text 64"/>
          <p:cNvSpPr/>
          <p:nvPr/>
        </p:nvSpPr>
        <p:spPr>
          <a:xfrm>
            <a:off x="8582025" y="4243388"/>
            <a:ext cx="11142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Supported input</a:t>
            </a:r>
            <a:endParaRPr lang="en-US" sz="1125" dirty="0"/>
          </a:p>
        </p:txBody>
      </p:sp>
      <p:sp>
        <p:nvSpPr>
          <p:cNvPr id="69" name="Text 65"/>
          <p:cNvSpPr/>
          <p:nvPr/>
        </p:nvSpPr>
        <p:spPr>
          <a:xfrm>
            <a:off x="10324951" y="4243388"/>
            <a:ext cx="858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▾</a:t>
            </a:r>
            <a:endParaRPr lang="en-US" sz="1125" dirty="0"/>
          </a:p>
        </p:txBody>
      </p:sp>
      <p:sp>
        <p:nvSpPr>
          <p:cNvPr id="70" name="Text 66"/>
          <p:cNvSpPr/>
          <p:nvPr/>
        </p:nvSpPr>
        <p:spPr>
          <a:xfrm>
            <a:off x="8582025" y="5100638"/>
            <a:ext cx="11142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Supported input</a:t>
            </a:r>
            <a:endParaRPr lang="en-US" sz="1125" dirty="0"/>
          </a:p>
        </p:txBody>
      </p:sp>
      <p:sp>
        <p:nvSpPr>
          <p:cNvPr id="71" name="Text 67"/>
          <p:cNvSpPr/>
          <p:nvPr/>
        </p:nvSpPr>
        <p:spPr>
          <a:xfrm>
            <a:off x="10324951" y="5100638"/>
            <a:ext cx="858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▾</a:t>
            </a:r>
            <a:endParaRPr lang="en-US" sz="1125" dirty="0"/>
          </a:p>
        </p:txBody>
      </p:sp>
      <p:sp>
        <p:nvSpPr>
          <p:cNvPr id="72" name="Text 68"/>
          <p:cNvSpPr/>
          <p:nvPr/>
        </p:nvSpPr>
        <p:spPr>
          <a:xfrm>
            <a:off x="8582025" y="5957888"/>
            <a:ext cx="11142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Supported input</a:t>
            </a:r>
            <a:endParaRPr lang="en-US" sz="1125" dirty="0"/>
          </a:p>
        </p:txBody>
      </p:sp>
      <p:sp>
        <p:nvSpPr>
          <p:cNvPr id="73" name="Text 69"/>
          <p:cNvSpPr/>
          <p:nvPr/>
        </p:nvSpPr>
        <p:spPr>
          <a:xfrm>
            <a:off x="10324951" y="5957888"/>
            <a:ext cx="858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▾</a:t>
            </a:r>
            <a:endParaRPr lang="en-US" sz="1125" dirty="0"/>
          </a:p>
        </p:txBody>
      </p:sp>
      <p:sp>
        <p:nvSpPr>
          <p:cNvPr id="74" name="Text 70"/>
          <p:cNvSpPr/>
          <p:nvPr/>
        </p:nvSpPr>
        <p:spPr>
          <a:xfrm>
            <a:off x="8439150" y="6629400"/>
            <a:ext cx="15433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PROCESSING</a:t>
            </a:r>
            <a:endParaRPr lang="en-US" sz="1050" dirty="0"/>
          </a:p>
        </p:txBody>
      </p:sp>
      <p:sp>
        <p:nvSpPr>
          <p:cNvPr id="75" name="Text 71"/>
          <p:cNvSpPr/>
          <p:nvPr/>
        </p:nvSpPr>
        <p:spPr>
          <a:xfrm>
            <a:off x="8983563" y="7548563"/>
            <a:ext cx="10257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model</a:t>
            </a:r>
            <a:endParaRPr lang="en-US" sz="1500" dirty="0"/>
          </a:p>
        </p:txBody>
      </p:sp>
      <p:sp>
        <p:nvSpPr>
          <p:cNvPr id="76" name="Text 72"/>
          <p:cNvSpPr/>
          <p:nvPr/>
        </p:nvSpPr>
        <p:spPr>
          <a:xfrm>
            <a:off x="11249025" y="3733800"/>
            <a:ext cx="12714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8B7C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OUTPUT</a:t>
            </a:r>
            <a:endParaRPr lang="en-US" sz="1050" dirty="0"/>
          </a:p>
        </p:txBody>
      </p:sp>
      <p:sp>
        <p:nvSpPr>
          <p:cNvPr id="77" name="Text 73"/>
          <p:cNvSpPr/>
          <p:nvPr/>
        </p:nvSpPr>
        <p:spPr>
          <a:xfrm>
            <a:off x="11470035" y="4405313"/>
            <a:ext cx="174873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spc="10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</a:t>
            </a:r>
            <a:pPr algn="ctr" indent="0" marL="0">
              <a:buNone/>
            </a:pPr>
            <a:r>
              <a:rPr lang="en-US" sz="1050" b="1" spc="10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APPEARS HERE</a:t>
            </a:r>
            <a:endParaRPr lang="en-US" sz="1050" dirty="0"/>
          </a:p>
        </p:txBody>
      </p:sp>
      <p:sp>
        <p:nvSpPr>
          <p:cNvPr id="78" name="Text 74"/>
          <p:cNvSpPr/>
          <p:nvPr/>
        </p:nvSpPr>
        <p:spPr>
          <a:xfrm>
            <a:off x="11249025" y="5543550"/>
            <a:ext cx="314339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5CD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VISUALIZATION · PLOTLY</a:t>
            </a:r>
            <a:endParaRPr lang="en-US" sz="1050" dirty="0"/>
          </a:p>
        </p:txBody>
      </p:sp>
      <p:sp>
        <p:nvSpPr>
          <p:cNvPr id="79" name="Text 75"/>
          <p:cNvSpPr/>
          <p:nvPr/>
        </p:nvSpPr>
        <p:spPr>
          <a:xfrm>
            <a:off x="11249025" y="8401050"/>
            <a:ext cx="292298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Placeholder shapes only. No real data is shown.</a:t>
            </a:r>
            <a:endParaRPr lang="en-US" sz="1050" dirty="0"/>
          </a:p>
        </p:txBody>
      </p:sp>
      <p:sp>
        <p:nvSpPr>
          <p:cNvPr id="80" name="Text 76"/>
          <p:cNvSpPr/>
          <p:nvPr/>
        </p:nvSpPr>
        <p:spPr>
          <a:xfrm>
            <a:off x="10557570" y="340995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350" dirty="0"/>
          </a:p>
        </p:txBody>
      </p:sp>
      <p:sp>
        <p:nvSpPr>
          <p:cNvPr id="81" name="Text 77"/>
          <p:cNvSpPr/>
          <p:nvPr/>
        </p:nvSpPr>
        <p:spPr>
          <a:xfrm>
            <a:off x="10557570" y="659130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350" dirty="0"/>
          </a:p>
        </p:txBody>
      </p:sp>
      <p:sp>
        <p:nvSpPr>
          <p:cNvPr id="82" name="Text 78"/>
          <p:cNvSpPr/>
          <p:nvPr/>
        </p:nvSpPr>
        <p:spPr>
          <a:xfrm>
            <a:off x="10557570" y="756285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350" dirty="0"/>
          </a:p>
        </p:txBody>
      </p:sp>
      <p:sp>
        <p:nvSpPr>
          <p:cNvPr id="83" name="Text 79"/>
          <p:cNvSpPr/>
          <p:nvPr/>
        </p:nvSpPr>
        <p:spPr>
          <a:xfrm>
            <a:off x="16710720" y="340995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350" dirty="0"/>
          </a:p>
        </p:txBody>
      </p:sp>
      <p:sp>
        <p:nvSpPr>
          <p:cNvPr id="84" name="Text 80"/>
          <p:cNvSpPr/>
          <p:nvPr/>
        </p:nvSpPr>
        <p:spPr>
          <a:xfrm>
            <a:off x="16710720" y="521970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350" dirty="0"/>
          </a:p>
        </p:txBody>
      </p:sp>
      <p:sp>
        <p:nvSpPr>
          <p:cNvPr id="85" name="Text 81"/>
          <p:cNvSpPr/>
          <p:nvPr/>
        </p:nvSpPr>
        <p:spPr>
          <a:xfrm>
            <a:off x="8353425" y="9163050"/>
            <a:ext cx="16775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MOCKUP</a:t>
            </a:r>
            <a:endParaRPr lang="en-US" sz="975" dirty="0"/>
          </a:p>
        </p:txBody>
      </p:sp>
      <p:sp>
        <p:nvSpPr>
          <p:cNvPr id="86" name="Text 82"/>
          <p:cNvSpPr/>
          <p:nvPr/>
        </p:nvSpPr>
        <p:spPr>
          <a:xfrm>
            <a:off x="10345341" y="9144000"/>
            <a:ext cx="55724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Illustration, not a screenshot. Depicts only interaction stages in the prototype.</a:t>
            </a:r>
            <a:endParaRPr lang="en-US" sz="1200" dirty="0"/>
          </a:p>
        </p:txBody>
      </p:sp>
      <p:sp>
        <p:nvSpPr>
          <p:cNvPr id="87" name="Text 83"/>
          <p:cNvSpPr/>
          <p:nvPr/>
        </p:nvSpPr>
        <p:spPr>
          <a:xfrm>
            <a:off x="1143000" y="9734550"/>
            <a:ext cx="36578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</a:t>
            </a:r>
            <a:endParaRPr lang="en-US" sz="1050" dirty="0"/>
          </a:p>
        </p:txBody>
      </p:sp>
      <p:sp>
        <p:nvSpPr>
          <p:cNvPr id="88" name="Text 84"/>
          <p:cNvSpPr/>
          <p:nvPr/>
        </p:nvSpPr>
        <p:spPr>
          <a:xfrm>
            <a:off x="8740676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89" name="Text 85"/>
          <p:cNvSpPr/>
          <p:nvPr/>
        </p:nvSpPr>
        <p:spPr>
          <a:xfrm>
            <a:off x="16589127" y="9734550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5CD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14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67750"/>
            <a:ext cx="18288000" cy="1333500"/>
          </a:xfrm>
          <a:custGeom>
            <a:avLst/>
            <a:gdLst/>
            <a:ahLst/>
            <a:cxnLst/>
            <a:rect l="l" t="t" r="r" b="b"/>
            <a:pathLst>
              <a:path w="18288000" h="1333500">
                <a:moveTo>
                  <a:pt x="0" y="666750"/>
                </a:moveTo>
                <a:lnTo>
                  <a:pt x="1905000" y="666750"/>
                </a:lnTo>
                <a:lnTo>
                  <a:pt x="2286000" y="666750"/>
                </a:lnTo>
                <a:lnTo>
                  <a:pt x="2571750" y="95250"/>
                </a:lnTo>
                <a:lnTo>
                  <a:pt x="2857500" y="1238250"/>
                </a:lnTo>
                <a:lnTo>
                  <a:pt x="3143250" y="666750"/>
                </a:lnTo>
                <a:lnTo>
                  <a:pt x="4953000" y="666750"/>
                </a:lnTo>
                <a:cubicBezTo>
                  <a:pt x="5207000" y="412750"/>
                  <a:pt x="5461000" y="412750"/>
                  <a:pt x="5715000" y="666750"/>
                </a:cubicBezTo>
                <a:cubicBezTo>
                  <a:pt x="5969000" y="920750"/>
                  <a:pt x="6223000" y="920750"/>
                  <a:pt x="6477000" y="666750"/>
                </a:cubicBezTo>
                <a:lnTo>
                  <a:pt x="8572500" y="666750"/>
                </a:lnTo>
                <a:lnTo>
                  <a:pt x="8858250" y="666750"/>
                </a:lnTo>
                <a:lnTo>
                  <a:pt x="9144000" y="0"/>
                </a:lnTo>
                <a:lnTo>
                  <a:pt x="9429750" y="1333500"/>
                </a:lnTo>
                <a:lnTo>
                  <a:pt x="9715500" y="666750"/>
                </a:lnTo>
                <a:lnTo>
                  <a:pt x="11811000" y="666750"/>
                </a:lnTo>
                <a:cubicBezTo>
                  <a:pt x="12065000" y="412750"/>
                  <a:pt x="12319000" y="412750"/>
                  <a:pt x="12573000" y="666750"/>
                </a:cubicBezTo>
                <a:cubicBezTo>
                  <a:pt x="12827000" y="920750"/>
                  <a:pt x="13081000" y="920750"/>
                  <a:pt x="13335000" y="666750"/>
                </a:cubicBezTo>
                <a:lnTo>
                  <a:pt x="15430500" y="666750"/>
                </a:lnTo>
                <a:lnTo>
                  <a:pt x="15716250" y="666750"/>
                </a:lnTo>
                <a:lnTo>
                  <a:pt x="16002000" y="190500"/>
                </a:lnTo>
                <a:lnTo>
                  <a:pt x="16287750" y="1143000"/>
                </a:lnTo>
                <a:lnTo>
                  <a:pt x="16573500" y="666750"/>
                </a:lnTo>
                <a:lnTo>
                  <a:pt x="18288000" y="666750"/>
                </a:lnTo>
              </a:path>
            </a:pathLst>
          </a:custGeom>
          <a:ln w="19050">
            <a:solidFill>
              <a:srgbClr val="3CD6E6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6858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667000"/>
            <a:ext cx="6096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667000"/>
            <a:ext cx="6096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" name="Shape 4"/>
          <p:cNvSpPr/>
          <p:nvPr/>
        </p:nvSpPr>
        <p:spPr>
          <a:xfrm>
            <a:off x="7229475" y="26670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467225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6670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38275" y="29908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667250"/>
            <a:ext cx="60960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4667250"/>
            <a:ext cx="6096000" cy="38100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229475" y="466725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6467475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466725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38275" y="4991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6667500"/>
            <a:ext cx="6096000" cy="2000250"/>
          </a:xfrm>
          <a:prstGeom prst="roundRect">
            <a:avLst>
              <a:gd name="adj" fmla="val 6667"/>
            </a:avLst>
          </a:prstGeom>
          <a:ln w="19050">
            <a:solidFill>
              <a:srgbClr val="8A9BAD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7800" y="6972300"/>
            <a:ext cx="533400" cy="533400"/>
          </a:xfrm>
          <a:prstGeom prst="roundRect">
            <a:avLst>
              <a:gd name="adj" fmla="val 50000"/>
            </a:avLst>
          </a:prstGeom>
          <a:ln w="19050">
            <a:solidFill>
              <a:srgbClr val="8A9B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0500" y="2667000"/>
            <a:ext cx="9334500" cy="6000750"/>
          </a:xfrm>
          <a:prstGeom prst="roundRect">
            <a:avLst>
              <a:gd name="adj" fmla="val 222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91800" y="4905375"/>
            <a:ext cx="666750" cy="4763"/>
          </a:xfrm>
          <a:custGeom>
            <a:avLst/>
            <a:gdLst/>
            <a:ahLst/>
            <a:cxnLst/>
            <a:rect l="l" t="t" r="r" b="b"/>
            <a:pathLst>
              <a:path w="666750" h="4763">
                <a:moveTo>
                  <a:pt x="0" y="0"/>
                </a:moveTo>
                <a:lnTo>
                  <a:pt x="6667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3CD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687425" y="4905375"/>
            <a:ext cx="666750" cy="4763"/>
          </a:xfrm>
          <a:custGeom>
            <a:avLst/>
            <a:gdLst/>
            <a:ahLst/>
            <a:cxnLst/>
            <a:rect l="l" t="t" r="r" b="b"/>
            <a:pathLst>
              <a:path w="666750" h="4763">
                <a:moveTo>
                  <a:pt x="0" y="0"/>
                </a:moveTo>
                <a:lnTo>
                  <a:pt x="6667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8B7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1500" y="6429375"/>
            <a:ext cx="8572500" cy="857250"/>
          </a:xfrm>
          <a:custGeom>
            <a:avLst/>
            <a:gdLst/>
            <a:ahLst/>
            <a:cxnLst/>
            <a:rect l="l" t="t" r="r" b="b"/>
            <a:pathLst>
              <a:path w="8572500" h="857250">
                <a:moveTo>
                  <a:pt x="0" y="428625"/>
                </a:moveTo>
                <a:lnTo>
                  <a:pt x="1714500" y="428625"/>
                </a:lnTo>
                <a:lnTo>
                  <a:pt x="1952625" y="428625"/>
                </a:lnTo>
                <a:lnTo>
                  <a:pt x="2143125" y="0"/>
                </a:lnTo>
                <a:lnTo>
                  <a:pt x="2381250" y="857250"/>
                </a:lnTo>
                <a:lnTo>
                  <a:pt x="2571750" y="428625"/>
                </a:lnTo>
                <a:lnTo>
                  <a:pt x="3619500" y="428625"/>
                </a:lnTo>
                <a:cubicBezTo>
                  <a:pt x="3810000" y="238125"/>
                  <a:pt x="4000500" y="238125"/>
                  <a:pt x="4191000" y="428625"/>
                </a:cubicBezTo>
                <a:cubicBezTo>
                  <a:pt x="4381500" y="619125"/>
                  <a:pt x="4572000" y="619125"/>
                  <a:pt x="4762500" y="428625"/>
                </a:cubicBezTo>
                <a:lnTo>
                  <a:pt x="6286500" y="428625"/>
                </a:lnTo>
                <a:lnTo>
                  <a:pt x="6524625" y="428625"/>
                </a:lnTo>
                <a:lnTo>
                  <a:pt x="6715125" y="47625"/>
                </a:lnTo>
                <a:lnTo>
                  <a:pt x="6953250" y="809625"/>
                </a:lnTo>
                <a:lnTo>
                  <a:pt x="7143750" y="428625"/>
                </a:lnTo>
                <a:lnTo>
                  <a:pt x="8572500" y="428625"/>
                </a:lnTo>
              </a:path>
            </a:pathLst>
          </a:custGeom>
          <a:ln w="23813">
            <a:solidFill>
              <a:srgbClr val="3CD6E6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91500" y="3524250"/>
            <a:ext cx="2381250" cy="2762250"/>
          </a:xfrm>
          <a:prstGeom prst="roundRect">
            <a:avLst>
              <a:gd name="adj" fmla="val 5600"/>
            </a:avLst>
          </a:prstGeom>
          <a:solidFill>
            <a:srgbClr val="0B1F3A">
              <a:alpha val="90000"/>
            </a:srgbClr>
          </a:solidFill>
          <a:ln w="19050">
            <a:solidFill>
              <a:srgbClr val="3CD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20100" y="3752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CD6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87125" y="3524250"/>
            <a:ext cx="2381250" cy="2762250"/>
          </a:xfrm>
          <a:prstGeom prst="roundRect">
            <a:avLst>
              <a:gd name="adj" fmla="val 5600"/>
            </a:avLst>
          </a:prstGeom>
          <a:solidFill>
            <a:srgbClr val="8B7CF6">
              <a:alpha val="10000"/>
            </a:srgbClr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15725" y="3752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4382750" y="3524250"/>
            <a:ext cx="2381250" cy="2762250"/>
          </a:xfrm>
          <a:prstGeom prst="roundRect">
            <a:avLst>
              <a:gd name="adj" fmla="val 5600"/>
            </a:avLst>
          </a:prstGeom>
          <a:solidFill>
            <a:srgbClr val="0B1F3A">
              <a:alpha val="90000"/>
            </a:srgbClr>
          </a:solidFill>
          <a:ln w="19050">
            <a:solidFill>
              <a:srgbClr val="3CD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11350" y="3752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CD6E6"/>
          </a:solidFill>
          <a:ln/>
        </p:spPr>
      </p:sp>
      <p:sp>
        <p:nvSpPr>
          <p:cNvPr id="28" name="Shape 26"/>
          <p:cNvSpPr/>
          <p:nvPr/>
        </p:nvSpPr>
        <p:spPr>
          <a:xfrm>
            <a:off x="8191500" y="7334250"/>
            <a:ext cx="4095750" cy="1143000"/>
          </a:xfrm>
          <a:prstGeom prst="roundRect">
            <a:avLst>
              <a:gd name="adj" fmla="val 11667"/>
            </a:avLst>
          </a:prstGeom>
          <a:ln w="19050">
            <a:solidFill>
              <a:srgbClr val="8A9BAD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668250" y="7334250"/>
            <a:ext cx="4095750" cy="1143000"/>
          </a:xfrm>
          <a:prstGeom prst="roundRect">
            <a:avLst>
              <a:gd name="adj" fmla="val 11667"/>
            </a:avLst>
          </a:prstGeom>
          <a:ln w="19050">
            <a:solidFill>
              <a:srgbClr val="8A9BAD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8839200"/>
            <a:ext cx="16002000" cy="514350"/>
          </a:xfrm>
          <a:prstGeom prst="roundRect">
            <a:avLst>
              <a:gd name="adj" fmla="val 18519"/>
            </a:avLst>
          </a:prstGeom>
          <a:solidFill>
            <a:srgbClr val="0FA3A3">
              <a:alpha val="16000"/>
            </a:srgbClr>
          </a:solidFill>
          <a:ln w="9525">
            <a:solidFill>
              <a:srgbClr val="3CD6E6">
                <a:alpha val="40000"/>
              </a:srgb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0" y="2895600"/>
            <a:ext cx="2047875" cy="3429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43000" y="952500"/>
            <a:ext cx="22779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D6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14 · THE CONCEPT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2575679" y="952500"/>
            <a:ext cx="45693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43000" y="1257300"/>
            <a:ext cx="12471946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Understanding the Digital Health Twin Concept</a:t>
            </a:r>
            <a:endParaRPr lang="en-US" sz="4500" dirty="0"/>
          </a:p>
        </p:txBody>
      </p:sp>
      <p:sp>
        <p:nvSpPr>
          <p:cNvPr id="35" name="Text 32"/>
          <p:cNvSpPr/>
          <p:nvPr/>
        </p:nvSpPr>
        <p:spPr>
          <a:xfrm>
            <a:off x="1143000" y="2038350"/>
            <a:ext cx="841161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9D3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idea in plain language — and where this prototype honestly sits.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633984" y="3100388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2143125" y="2952750"/>
            <a:ext cx="12355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3CD6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CONCEPT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2143125" y="3238500"/>
            <a:ext cx="4135487" cy="1081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digital health twin conceptually models health-related data in software.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1633984" y="5100638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2143125" y="4953000"/>
            <a:ext cx="14638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8B7C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PROTOTYPE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2143125" y="5238750"/>
            <a:ext cx="4091136" cy="1081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is an early prototype inspired by digital twin principles.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1643509" y="7081838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D3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2152650" y="6934200"/>
            <a:ext cx="13678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IT IS NOT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2152650" y="7219950"/>
            <a:ext cx="4676477" cy="721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C9D3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is not a fully validated, continuously synchronized clinical digital twin.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8191500" y="2962275"/>
            <a:ext cx="25061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3CD6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RELATIONSHIP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14258925" y="2981325"/>
            <a:ext cx="17197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DIAGRAM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8570565" y="3833812"/>
            <a:ext cx="1181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8420100" y="4286250"/>
            <a:ext cx="1795314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Health-related data</a:t>
            </a:r>
            <a:endParaRPr lang="en-US" sz="2025" dirty="0"/>
          </a:p>
        </p:txBody>
      </p:sp>
      <p:sp>
        <p:nvSpPr>
          <p:cNvPr id="49" name="Text 46"/>
          <p:cNvSpPr/>
          <p:nvPr/>
        </p:nvSpPr>
        <p:spPr>
          <a:xfrm>
            <a:off x="8420100" y="4985147"/>
            <a:ext cx="15661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information a twin represents.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8420100" y="5581650"/>
            <a:ext cx="15723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3CD6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PROTOTYPE: SAMPLE INPUTS + SYNTHETIC HISTORY</a:t>
            </a:r>
            <a:endParaRPr lang="en-US" sz="975" dirty="0"/>
          </a:p>
        </p:txBody>
      </p:sp>
      <p:sp>
        <p:nvSpPr>
          <p:cNvPr id="51" name="Text 48"/>
          <p:cNvSpPr/>
          <p:nvPr/>
        </p:nvSpPr>
        <p:spPr>
          <a:xfrm>
            <a:off x="11666190" y="3833812"/>
            <a:ext cx="1181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11515725" y="4286250"/>
            <a:ext cx="1117699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Software model</a:t>
            </a:r>
            <a:endParaRPr lang="en-US" sz="2025" dirty="0"/>
          </a:p>
        </p:txBody>
      </p:sp>
      <p:sp>
        <p:nvSpPr>
          <p:cNvPr id="53" name="Text 50"/>
          <p:cNvSpPr/>
          <p:nvPr/>
        </p:nvSpPr>
        <p:spPr>
          <a:xfrm>
            <a:off x="11515725" y="4985147"/>
            <a:ext cx="1564035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Software that represents and reasons over that data.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11515725" y="5753100"/>
            <a:ext cx="16235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7AD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PROTOTYPE: RANDOM FOREST</a:t>
            </a:r>
            <a:endParaRPr lang="en-US" sz="975" dirty="0"/>
          </a:p>
        </p:txBody>
      </p:sp>
      <p:sp>
        <p:nvSpPr>
          <p:cNvPr id="55" name="Text 52"/>
          <p:cNvSpPr/>
          <p:nvPr/>
        </p:nvSpPr>
        <p:spPr>
          <a:xfrm>
            <a:off x="14761815" y="3833812"/>
            <a:ext cx="1181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14611350" y="4286250"/>
            <a:ext cx="1571774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Visualization interface</a:t>
            </a:r>
            <a:endParaRPr lang="en-US" sz="2025" dirty="0"/>
          </a:p>
        </p:txBody>
      </p:sp>
      <p:sp>
        <p:nvSpPr>
          <p:cNvPr id="57" name="Text 54"/>
          <p:cNvSpPr/>
          <p:nvPr/>
        </p:nvSpPr>
        <p:spPr>
          <a:xfrm>
            <a:off x="14611350" y="4985147"/>
            <a:ext cx="1500039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people explore what the model shows.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14611350" y="5753100"/>
            <a:ext cx="17174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3CD6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PROTOTYPE: PLOTLY IN STREAMLIT</a:t>
            </a:r>
            <a:endParaRPr lang="en-US" sz="975" dirty="0"/>
          </a:p>
        </p:txBody>
      </p:sp>
      <p:sp>
        <p:nvSpPr>
          <p:cNvPr id="59" name="Text 56"/>
          <p:cNvSpPr/>
          <p:nvPr/>
        </p:nvSpPr>
        <p:spPr>
          <a:xfrm>
            <a:off x="8191500" y="7000875"/>
            <a:ext cx="36897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BEYOND THIS PROTOTYPE — NOT CLAIMED</a:t>
            </a:r>
            <a:endParaRPr lang="en-US" sz="1125" dirty="0"/>
          </a:p>
        </p:txBody>
      </p:sp>
      <p:sp>
        <p:nvSpPr>
          <p:cNvPr id="60" name="Text 57"/>
          <p:cNvSpPr/>
          <p:nvPr/>
        </p:nvSpPr>
        <p:spPr>
          <a:xfrm>
            <a:off x="8420100" y="7505700"/>
            <a:ext cx="16525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IMPLEMENTED</a:t>
            </a:r>
            <a:endParaRPr lang="en-US" sz="1125" dirty="0"/>
          </a:p>
        </p:txBody>
      </p:sp>
      <p:sp>
        <p:nvSpPr>
          <p:cNvPr id="61" name="Text 58"/>
          <p:cNvSpPr/>
          <p:nvPr/>
        </p:nvSpPr>
        <p:spPr>
          <a:xfrm>
            <a:off x="8420100" y="7762875"/>
            <a:ext cx="31502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Continuous synchronization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2896850" y="7505700"/>
            <a:ext cx="16525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IMPLEMENTED</a:t>
            </a:r>
            <a:endParaRPr lang="en-US" sz="1125" dirty="0"/>
          </a:p>
        </p:txBody>
      </p:sp>
      <p:sp>
        <p:nvSpPr>
          <p:cNvPr id="63" name="Text 60"/>
          <p:cNvSpPr/>
          <p:nvPr/>
        </p:nvSpPr>
        <p:spPr>
          <a:xfrm>
            <a:off x="12896850" y="7762875"/>
            <a:ext cx="197494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Clinical validation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1419225" y="8996363"/>
            <a:ext cx="9283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3CD6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TAKEAWAY</a:t>
            </a:r>
            <a:endParaRPr lang="en-US" sz="1125" dirty="0"/>
          </a:p>
        </p:txBody>
      </p:sp>
      <p:sp>
        <p:nvSpPr>
          <p:cNvPr id="65" name="Text 62"/>
          <p:cNvSpPr/>
          <p:nvPr/>
        </p:nvSpPr>
        <p:spPr>
          <a:xfrm>
            <a:off x="2557165" y="8953500"/>
            <a:ext cx="843870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educational, early prototype inspired by digital twin principles — not a clinical tool.</a:t>
            </a:r>
            <a:endParaRPr lang="en-US" sz="1650" dirty="0"/>
          </a:p>
        </p:txBody>
      </p:sp>
      <p:sp>
        <p:nvSpPr>
          <p:cNvPr id="66" name="Text 63"/>
          <p:cNvSpPr/>
          <p:nvPr/>
        </p:nvSpPr>
        <p:spPr>
          <a:xfrm>
            <a:off x="1143000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16592996" y="9734550"/>
            <a:ext cx="5520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CD6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pPr algn="l" indent="0" marL="0">
              <a:buNone/>
            </a:pPr>
            <a:r>
              <a:rPr lang="en-US" sz="1050" b="1" spc="126" kern="0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/ 14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8191500" y="7077075"/>
            <a:ext cx="29484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9B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→ MODEL → VISUAL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1500"/>
            <a:ext cx="18288000" cy="952500"/>
          </a:xfrm>
          <a:custGeom>
            <a:avLst/>
            <a:gdLst/>
            <a:ahLst/>
            <a:cxnLst/>
            <a:rect l="l" t="t" r="r" b="b"/>
            <a:pathLst>
              <a:path w="18288000" h="952500">
                <a:moveTo>
                  <a:pt x="0" y="476250"/>
                </a:moveTo>
                <a:lnTo>
                  <a:pt x="2095500" y="476250"/>
                </a:lnTo>
                <a:lnTo>
                  <a:pt x="2381250" y="476250"/>
                </a:lnTo>
                <a:lnTo>
                  <a:pt x="2619375" y="0"/>
                </a:lnTo>
                <a:lnTo>
                  <a:pt x="2905125" y="952500"/>
                </a:lnTo>
                <a:lnTo>
                  <a:pt x="3190875" y="476250"/>
                </a:lnTo>
                <a:lnTo>
                  <a:pt x="6096000" y="476250"/>
                </a:lnTo>
                <a:lnTo>
                  <a:pt x="6381750" y="476250"/>
                </a:lnTo>
                <a:lnTo>
                  <a:pt x="6619875" y="0"/>
                </a:lnTo>
                <a:lnTo>
                  <a:pt x="6905625" y="952500"/>
                </a:lnTo>
                <a:lnTo>
                  <a:pt x="7191375" y="476250"/>
                </a:lnTo>
                <a:lnTo>
                  <a:pt x="10096500" y="476250"/>
                </a:lnTo>
                <a:lnTo>
                  <a:pt x="10382250" y="476250"/>
                </a:lnTo>
                <a:lnTo>
                  <a:pt x="10620375" y="0"/>
                </a:lnTo>
                <a:lnTo>
                  <a:pt x="10906125" y="952500"/>
                </a:lnTo>
                <a:lnTo>
                  <a:pt x="11191875" y="476250"/>
                </a:lnTo>
                <a:lnTo>
                  <a:pt x="14097000" y="476250"/>
                </a:lnTo>
                <a:lnTo>
                  <a:pt x="14382750" y="476250"/>
                </a:lnTo>
                <a:lnTo>
                  <a:pt x="14620875" y="0"/>
                </a:lnTo>
                <a:lnTo>
                  <a:pt x="14906625" y="952500"/>
                </a:lnTo>
                <a:lnTo>
                  <a:pt x="15192375" y="476250"/>
                </a:lnTo>
                <a:lnTo>
                  <a:pt x="18288000" y="476250"/>
                </a:lnTo>
              </a:path>
            </a:pathLst>
          </a:custGeom>
          <a:ln w="28575">
            <a:solidFill>
              <a:srgbClr val="3FD4D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6858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3105150"/>
            <a:ext cx="6000750" cy="95250"/>
          </a:xfrm>
          <a:prstGeom prst="roundRect">
            <a:avLst>
              <a:gd name="adj" fmla="val 20000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1143000" y="3105150"/>
            <a:ext cx="6000750" cy="1905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24700" y="3105150"/>
            <a:ext cx="19050" cy="9525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105150"/>
            <a:ext cx="19050" cy="9525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10500" y="3105150"/>
            <a:ext cx="2667000" cy="95250"/>
          </a:xfrm>
          <a:prstGeom prst="roundRect">
            <a:avLst>
              <a:gd name="adj" fmla="val 20000"/>
            </a:avLst>
          </a:prstGeom>
          <a:ln/>
        </p:spPr>
      </p:sp>
      <p:sp>
        <p:nvSpPr>
          <p:cNvPr id="9" name="Shape 7"/>
          <p:cNvSpPr/>
          <p:nvPr/>
        </p:nvSpPr>
        <p:spPr>
          <a:xfrm>
            <a:off x="7810500" y="3105150"/>
            <a:ext cx="2667000" cy="19050"/>
          </a:xfrm>
          <a:prstGeom prst="rect">
            <a:avLst/>
          </a:prstGeom>
          <a:solidFill>
            <a:srgbClr val="9B8CF2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58450" y="3105150"/>
            <a:ext cx="19050" cy="95250"/>
          </a:xfrm>
          <a:prstGeom prst="rect">
            <a:avLst/>
          </a:prstGeom>
          <a:solidFill>
            <a:srgbClr val="9B8CF2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10500" y="3105150"/>
            <a:ext cx="19050" cy="95250"/>
          </a:xfrm>
          <a:prstGeom prst="rect">
            <a:avLst/>
          </a:prstGeom>
          <a:solidFill>
            <a:srgbClr val="9B8CF2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144250" y="3105150"/>
            <a:ext cx="6000750" cy="95250"/>
          </a:xfrm>
          <a:prstGeom prst="roundRect">
            <a:avLst>
              <a:gd name="adj" fmla="val 20000"/>
            </a:avLst>
          </a:prstGeom>
          <a:ln/>
        </p:spPr>
      </p:sp>
      <p:sp>
        <p:nvSpPr>
          <p:cNvPr id="13" name="Shape 11"/>
          <p:cNvSpPr/>
          <p:nvPr/>
        </p:nvSpPr>
        <p:spPr>
          <a:xfrm>
            <a:off x="11144250" y="3105150"/>
            <a:ext cx="6000750" cy="1905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125950" y="3105150"/>
            <a:ext cx="19050" cy="9525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144250" y="3105150"/>
            <a:ext cx="19050" cy="9525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3333750"/>
            <a:ext cx="2667000" cy="314325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0FA3A3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90650" y="358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390650" y="5220444"/>
            <a:ext cx="1597521" cy="361950"/>
          </a:xfrm>
          <a:prstGeom prst="roundRect">
            <a:avLst>
              <a:gd name="adj" fmla="val 50000"/>
            </a:avLst>
          </a:prstGeom>
          <a:solidFill>
            <a:srgbClr val="0FA3A3">
              <a:alpha val="14000"/>
            </a:srgbClr>
          </a:solidFill>
          <a:ln w="9525">
            <a:solidFill>
              <a:srgbClr val="3FD4DC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76750" y="3333750"/>
            <a:ext cx="2667000" cy="314325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0FA3A3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4400" y="358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24400" y="4623048"/>
            <a:ext cx="1597521" cy="361950"/>
          </a:xfrm>
          <a:prstGeom prst="roundRect">
            <a:avLst>
              <a:gd name="adj" fmla="val 50000"/>
            </a:avLst>
          </a:prstGeom>
          <a:solidFill>
            <a:srgbClr val="0FA3A3">
              <a:alpha val="14000"/>
            </a:srgbClr>
          </a:solidFill>
          <a:ln w="9525">
            <a:solidFill>
              <a:srgbClr val="3FD4DC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0500" y="3333750"/>
            <a:ext cx="2667000" cy="3143250"/>
          </a:xfrm>
          <a:prstGeom prst="roundRect">
            <a:avLst>
              <a:gd name="adj" fmla="val 5000"/>
            </a:avLst>
          </a:prstGeom>
          <a:solidFill>
            <a:srgbClr val="9B8CF2">
              <a:alpha val="12000"/>
            </a:srgbClr>
          </a:solidFill>
          <a:ln w="19050">
            <a:solidFill>
              <a:srgbClr val="9B8CF2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8150" y="358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B8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8058150" y="4921746"/>
            <a:ext cx="1233488" cy="361950"/>
          </a:xfrm>
          <a:prstGeom prst="roundRect">
            <a:avLst>
              <a:gd name="adj" fmla="val 50000"/>
            </a:avLst>
          </a:prstGeom>
          <a:solidFill>
            <a:srgbClr val="9B8CF2">
              <a:alpha val="14000"/>
            </a:srgbClr>
          </a:solidFill>
          <a:ln w="9525">
            <a:solidFill>
              <a:srgbClr val="9B8CF2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44250" y="3333750"/>
            <a:ext cx="2667000" cy="314325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0FA3A3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391900" y="358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391900" y="5220444"/>
            <a:ext cx="767655" cy="361950"/>
          </a:xfrm>
          <a:prstGeom prst="roundRect">
            <a:avLst>
              <a:gd name="adj" fmla="val 50000"/>
            </a:avLst>
          </a:prstGeom>
          <a:solidFill>
            <a:srgbClr val="0FA3A3">
              <a:alpha val="14000"/>
            </a:srgbClr>
          </a:solidFill>
          <a:ln w="9525">
            <a:solidFill>
              <a:srgbClr val="3FD4DC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478000" y="3333750"/>
            <a:ext cx="2667000" cy="314325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0FA3A3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725650" y="358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4725650" y="4921746"/>
            <a:ext cx="1064270" cy="361950"/>
          </a:xfrm>
          <a:prstGeom prst="roundRect">
            <a:avLst>
              <a:gd name="adj" fmla="val 50000"/>
            </a:avLst>
          </a:prstGeom>
          <a:solidFill>
            <a:srgbClr val="0FA3A3">
              <a:alpha val="14000"/>
            </a:srgbClr>
          </a:solidFill>
          <a:ln w="9525">
            <a:solidFill>
              <a:srgbClr val="3FD4DC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86200" y="488632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FD4DC"/>
          </a:solidFill>
          <a:ln/>
        </p:spPr>
      </p:sp>
      <p:sp>
        <p:nvSpPr>
          <p:cNvPr id="32" name="Shape 30"/>
          <p:cNvSpPr/>
          <p:nvPr/>
        </p:nvSpPr>
        <p:spPr>
          <a:xfrm>
            <a:off x="4267200" y="4810125"/>
            <a:ext cx="152400" cy="190500"/>
          </a:xfrm>
          <a:prstGeom prst="rect">
            <a:avLst/>
          </a:prstGeom>
          <a:ln/>
        </p:spPr>
      </p:sp>
      <p:sp>
        <p:nvSpPr>
          <p:cNvPr id="33" name="Shape 31"/>
          <p:cNvSpPr/>
          <p:nvPr/>
        </p:nvSpPr>
        <p:spPr>
          <a:xfrm>
            <a:off x="4267200" y="4810125"/>
            <a:ext cx="152400" cy="190500"/>
          </a:xfrm>
          <a:prstGeom prst="rect">
            <a:avLst/>
          </a:prstGeom>
          <a:solidFill>
            <a:srgbClr val="3FD4DC"/>
          </a:solidFill>
          <a:ln/>
        </p:spPr>
      </p:sp>
      <p:sp>
        <p:nvSpPr>
          <p:cNvPr id="34" name="Shape 32"/>
          <p:cNvSpPr/>
          <p:nvPr/>
        </p:nvSpPr>
        <p:spPr>
          <a:xfrm>
            <a:off x="7219950" y="488632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FD4DC"/>
          </a:solidFill>
          <a:ln/>
        </p:spPr>
      </p:sp>
      <p:sp>
        <p:nvSpPr>
          <p:cNvPr id="35" name="Shape 33"/>
          <p:cNvSpPr/>
          <p:nvPr/>
        </p:nvSpPr>
        <p:spPr>
          <a:xfrm>
            <a:off x="7600950" y="4810125"/>
            <a:ext cx="152400" cy="190500"/>
          </a:xfrm>
          <a:prstGeom prst="rect">
            <a:avLst/>
          </a:prstGeom>
          <a:ln/>
        </p:spPr>
      </p:sp>
      <p:sp>
        <p:nvSpPr>
          <p:cNvPr id="36" name="Shape 34"/>
          <p:cNvSpPr/>
          <p:nvPr/>
        </p:nvSpPr>
        <p:spPr>
          <a:xfrm>
            <a:off x="7600950" y="4810125"/>
            <a:ext cx="152400" cy="190500"/>
          </a:xfrm>
          <a:prstGeom prst="rect">
            <a:avLst/>
          </a:prstGeom>
          <a:solidFill>
            <a:srgbClr val="3FD4DC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53700" y="488632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FD4DC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34700" y="4810125"/>
            <a:ext cx="152400" cy="190500"/>
          </a:xfrm>
          <a:prstGeom prst="rect">
            <a:avLst/>
          </a:prstGeom>
          <a:ln/>
        </p:spPr>
      </p:sp>
      <p:sp>
        <p:nvSpPr>
          <p:cNvPr id="39" name="Shape 37"/>
          <p:cNvSpPr/>
          <p:nvPr/>
        </p:nvSpPr>
        <p:spPr>
          <a:xfrm>
            <a:off x="10934700" y="4810125"/>
            <a:ext cx="152400" cy="190500"/>
          </a:xfrm>
          <a:prstGeom prst="rect">
            <a:avLst/>
          </a:prstGeom>
          <a:solidFill>
            <a:srgbClr val="3FD4DC"/>
          </a:solidFill>
          <a:ln/>
        </p:spPr>
      </p:sp>
      <p:sp>
        <p:nvSpPr>
          <p:cNvPr id="40" name="Shape 38"/>
          <p:cNvSpPr/>
          <p:nvPr/>
        </p:nvSpPr>
        <p:spPr>
          <a:xfrm>
            <a:off x="13887450" y="488632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FD4DC"/>
          </a:solidFill>
          <a:ln/>
        </p:spPr>
      </p:sp>
      <p:sp>
        <p:nvSpPr>
          <p:cNvPr id="41" name="Shape 39"/>
          <p:cNvSpPr/>
          <p:nvPr/>
        </p:nvSpPr>
        <p:spPr>
          <a:xfrm>
            <a:off x="14268450" y="4810125"/>
            <a:ext cx="152400" cy="190500"/>
          </a:xfrm>
          <a:prstGeom prst="rect">
            <a:avLst/>
          </a:prstGeom>
          <a:ln/>
        </p:spPr>
      </p:sp>
      <p:sp>
        <p:nvSpPr>
          <p:cNvPr id="42" name="Shape 40"/>
          <p:cNvSpPr/>
          <p:nvPr/>
        </p:nvSpPr>
        <p:spPr>
          <a:xfrm>
            <a:off x="14268450" y="4810125"/>
            <a:ext cx="152400" cy="190500"/>
          </a:xfrm>
          <a:prstGeom prst="rect">
            <a:avLst/>
          </a:prstGeom>
          <a:solidFill>
            <a:srgbClr val="3FD4DC"/>
          </a:solidFill>
          <a:ln/>
        </p:spPr>
      </p:sp>
      <p:sp>
        <p:nvSpPr>
          <p:cNvPr id="43" name="Shape 41"/>
          <p:cNvSpPr/>
          <p:nvPr/>
        </p:nvSpPr>
        <p:spPr>
          <a:xfrm>
            <a:off x="1143000" y="6819900"/>
            <a:ext cx="51435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" y="6819900"/>
            <a:ext cx="51435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5" name="Shape 43"/>
          <p:cNvSpPr/>
          <p:nvPr/>
        </p:nvSpPr>
        <p:spPr>
          <a:xfrm>
            <a:off x="6276975" y="68199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43000" y="8620125"/>
            <a:ext cx="5143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" y="68199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72250" y="6819900"/>
            <a:ext cx="51435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72250" y="6819900"/>
            <a:ext cx="5143500" cy="38100"/>
          </a:xfrm>
          <a:prstGeom prst="rect">
            <a:avLst/>
          </a:prstGeom>
          <a:solidFill>
            <a:srgbClr val="9B8CF2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06225" y="68199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72250" y="8620125"/>
            <a:ext cx="5143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72250" y="68199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2001500" y="6819900"/>
            <a:ext cx="5143500" cy="1809750"/>
          </a:xfrm>
          <a:prstGeom prst="roundRect">
            <a:avLst>
              <a:gd name="adj" fmla="val 736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001500" y="6819900"/>
            <a:ext cx="51435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5" name="Shape 53"/>
          <p:cNvSpPr/>
          <p:nvPr/>
        </p:nvSpPr>
        <p:spPr>
          <a:xfrm>
            <a:off x="17135475" y="68199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001500" y="8620125"/>
            <a:ext cx="5143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2001500" y="6819900"/>
            <a:ext cx="9525" cy="18097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3000" y="8839200"/>
            <a:ext cx="16002000" cy="533400"/>
          </a:xfrm>
          <a:prstGeom prst="roundRect">
            <a:avLst>
              <a:gd name="adj" fmla="val 25000"/>
            </a:avLst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857250"/>
            <a:ext cx="15982950" cy="251460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1143000" y="952500"/>
            <a:ext cx="23991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14 · ARCHITECTURE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13708261" y="966788"/>
            <a:ext cx="32367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SYSTEM ARCHITECTURE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1143000" y="1200150"/>
            <a:ext cx="10656689" cy="942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System Architecture</a:t>
            </a:r>
            <a:endParaRPr lang="en-US" sz="5400" dirty="0"/>
          </a:p>
        </p:txBody>
      </p:sp>
      <p:sp>
        <p:nvSpPr>
          <p:cNvPr id="63" name="Text 60"/>
          <p:cNvSpPr/>
          <p:nvPr/>
        </p:nvSpPr>
        <p:spPr>
          <a:xfrm>
            <a:off x="1143000" y="2133600"/>
            <a:ext cx="1067707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flows left to right: from inputs and historical data to the Streamlit interface.</a:t>
            </a:r>
            <a:endParaRPr lang="en-US" sz="2250" dirty="0"/>
          </a:p>
        </p:txBody>
      </p:sp>
      <p:sp>
        <p:nvSpPr>
          <p:cNvPr id="64" name="Text 61"/>
          <p:cNvSpPr/>
          <p:nvPr/>
        </p:nvSpPr>
        <p:spPr>
          <a:xfrm>
            <a:off x="3615928" y="2819400"/>
            <a:ext cx="10547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8568779" y="2819400"/>
            <a:ext cx="11502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spc="192" kern="0" dirty="0">
                <a:solidFill>
                  <a:srgbClr val="9B8C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13131403" y="2819400"/>
            <a:ext cx="202644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&amp; INTERFACE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1533525" y="3667125"/>
            <a:ext cx="1311771" cy="184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pPr algn="l" indent="0" marL="0">
              <a:buNone/>
            </a:pPr>
            <a:r>
              <a:rPr lang="en-US" sz="1350" b="1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Inputs · Dataset</a:t>
            </a:r>
            <a:endParaRPr lang="en-US" sz="1650" dirty="0"/>
          </a:p>
        </p:txBody>
      </p:sp>
      <p:sp>
        <p:nvSpPr>
          <p:cNvPr id="68" name="Text 65"/>
          <p:cNvSpPr/>
          <p:nvPr/>
        </p:nvSpPr>
        <p:spPr>
          <a:xfrm>
            <a:off x="1390650" y="4152900"/>
            <a:ext cx="1692473" cy="95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2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inputs &amp; historical dataset</a:t>
            </a:r>
            <a:endParaRPr lang="en-US" sz="2100" dirty="0"/>
          </a:p>
        </p:txBody>
      </p:sp>
      <p:sp>
        <p:nvSpPr>
          <p:cNvPr id="69" name="Text 66"/>
          <p:cNvSpPr/>
          <p:nvPr/>
        </p:nvSpPr>
        <p:spPr>
          <a:xfrm>
            <a:off x="1390650" y="5706219"/>
            <a:ext cx="1861096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Sample inputs plus the synthetic historical dataset.</a:t>
            </a:r>
            <a:endParaRPr lang="en-US" sz="1650" dirty="0"/>
          </a:p>
        </p:txBody>
      </p:sp>
      <p:sp>
        <p:nvSpPr>
          <p:cNvPr id="70" name="Text 67"/>
          <p:cNvSpPr/>
          <p:nvPr/>
        </p:nvSpPr>
        <p:spPr>
          <a:xfrm>
            <a:off x="4867275" y="3667125"/>
            <a:ext cx="1311771" cy="1251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pPr algn="l" indent="0" marL="0">
              <a:buNone/>
            </a:pPr>
            <a:r>
              <a:rPr lang="en-US" sz="1350" b="1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 · NumPy</a:t>
            </a:r>
            <a:endParaRPr lang="en-US" sz="1650" dirty="0"/>
          </a:p>
        </p:txBody>
      </p:sp>
      <p:sp>
        <p:nvSpPr>
          <p:cNvPr id="71" name="Text 68"/>
          <p:cNvSpPr/>
          <p:nvPr/>
        </p:nvSpPr>
        <p:spPr>
          <a:xfrm>
            <a:off x="4724400" y="4152900"/>
            <a:ext cx="20605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55" b="1" spc="-1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processing</a:t>
            </a:r>
            <a:endParaRPr lang="en-US" sz="1155" dirty="0"/>
          </a:p>
        </p:txBody>
      </p:sp>
      <p:sp>
        <p:nvSpPr>
          <p:cNvPr id="72" name="Text 69"/>
          <p:cNvSpPr/>
          <p:nvPr/>
        </p:nvSpPr>
        <p:spPr>
          <a:xfrm>
            <a:off x="4724400" y="5108823"/>
            <a:ext cx="2088952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Prepares inputs and history for the model.</a:t>
            </a:r>
            <a:endParaRPr lang="en-US" sz="1650" dirty="0"/>
          </a:p>
        </p:txBody>
      </p:sp>
      <p:sp>
        <p:nvSpPr>
          <p:cNvPr id="73" name="Text 70"/>
          <p:cNvSpPr/>
          <p:nvPr/>
        </p:nvSpPr>
        <p:spPr>
          <a:xfrm>
            <a:off x="8201025" y="3667125"/>
            <a:ext cx="947737" cy="1549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pPr algn="l" indent="0" marL="0">
              <a:buNone/>
            </a:pPr>
            <a:r>
              <a:rPr lang="en-US" sz="1350" b="1" dirty="0">
                <a:solidFill>
                  <a:srgbClr val="9B8C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scikit-learn</a:t>
            </a:r>
            <a:endParaRPr lang="en-US" sz="1650" dirty="0"/>
          </a:p>
        </p:txBody>
      </p:sp>
      <p:sp>
        <p:nvSpPr>
          <p:cNvPr id="74" name="Text 71"/>
          <p:cNvSpPr/>
          <p:nvPr/>
        </p:nvSpPr>
        <p:spPr>
          <a:xfrm>
            <a:off x="8058150" y="4152900"/>
            <a:ext cx="1906786" cy="660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2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 inference</a:t>
            </a:r>
            <a:endParaRPr lang="en-US" sz="2100" dirty="0"/>
          </a:p>
        </p:txBody>
      </p:sp>
      <p:sp>
        <p:nvSpPr>
          <p:cNvPr id="75" name="Text 72"/>
          <p:cNvSpPr/>
          <p:nvPr/>
        </p:nvSpPr>
        <p:spPr>
          <a:xfrm>
            <a:off x="8058150" y="5407521"/>
            <a:ext cx="195828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generates an output from supported features.</a:t>
            </a:r>
            <a:endParaRPr lang="en-US" sz="1650" dirty="0"/>
          </a:p>
        </p:txBody>
      </p:sp>
      <p:sp>
        <p:nvSpPr>
          <p:cNvPr id="76" name="Text 73"/>
          <p:cNvSpPr/>
          <p:nvPr/>
        </p:nvSpPr>
        <p:spPr>
          <a:xfrm>
            <a:off x="11534775" y="3667125"/>
            <a:ext cx="481905" cy="184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pPr algn="l" indent="0" marL="0">
              <a:buNone/>
            </a:pPr>
            <a:r>
              <a:rPr lang="en-US" sz="1350" b="1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</a:t>
            </a:r>
            <a:endParaRPr lang="en-US" sz="1650" dirty="0"/>
          </a:p>
        </p:txBody>
      </p:sp>
      <p:sp>
        <p:nvSpPr>
          <p:cNvPr id="77" name="Text 74"/>
          <p:cNvSpPr/>
          <p:nvPr/>
        </p:nvSpPr>
        <p:spPr>
          <a:xfrm>
            <a:off x="11391900" y="4152900"/>
            <a:ext cx="1611957" cy="95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2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 &amp; visualization layer</a:t>
            </a:r>
            <a:endParaRPr lang="en-US" sz="2100" dirty="0"/>
          </a:p>
        </p:txBody>
      </p:sp>
      <p:sp>
        <p:nvSpPr>
          <p:cNvPr id="78" name="Text 75"/>
          <p:cNvSpPr/>
          <p:nvPr/>
        </p:nvSpPr>
        <p:spPr>
          <a:xfrm>
            <a:off x="11391900" y="5706219"/>
            <a:ext cx="1797993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Turns results into interactive charts.</a:t>
            </a:r>
            <a:endParaRPr lang="en-US" sz="1650" dirty="0"/>
          </a:p>
        </p:txBody>
      </p:sp>
      <p:sp>
        <p:nvSpPr>
          <p:cNvPr id="79" name="Text 76"/>
          <p:cNvSpPr/>
          <p:nvPr/>
        </p:nvSpPr>
        <p:spPr>
          <a:xfrm>
            <a:off x="14868525" y="3667125"/>
            <a:ext cx="778520" cy="1549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pPr algn="l" indent="0" marL="0">
              <a:buNone/>
            </a:pPr>
            <a:r>
              <a:rPr lang="en-US" sz="1350" b="1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</a:t>
            </a:r>
            <a:endParaRPr lang="en-US" sz="1650" dirty="0"/>
          </a:p>
        </p:txBody>
      </p:sp>
      <p:sp>
        <p:nvSpPr>
          <p:cNvPr id="80" name="Text 77"/>
          <p:cNvSpPr/>
          <p:nvPr/>
        </p:nvSpPr>
        <p:spPr>
          <a:xfrm>
            <a:off x="14725650" y="4152900"/>
            <a:ext cx="1805285" cy="660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2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user interface</a:t>
            </a:r>
            <a:endParaRPr lang="en-US" sz="2100" dirty="0"/>
          </a:p>
        </p:txBody>
      </p:sp>
      <p:sp>
        <p:nvSpPr>
          <p:cNvPr id="81" name="Text 78"/>
          <p:cNvSpPr/>
          <p:nvPr/>
        </p:nvSpPr>
        <p:spPr>
          <a:xfrm>
            <a:off x="14725650" y="5407521"/>
            <a:ext cx="1817340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users enter inputs and explore results.</a:t>
            </a:r>
            <a:endParaRPr lang="en-US" sz="1650" dirty="0"/>
          </a:p>
        </p:txBody>
      </p:sp>
      <p:sp>
        <p:nvSpPr>
          <p:cNvPr id="82" name="Text 79"/>
          <p:cNvSpPr/>
          <p:nvPr/>
        </p:nvSpPr>
        <p:spPr>
          <a:xfrm>
            <a:off x="1419225" y="7067550"/>
            <a:ext cx="10547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83" name="Text 80"/>
          <p:cNvSpPr/>
          <p:nvPr/>
        </p:nvSpPr>
        <p:spPr>
          <a:xfrm>
            <a:off x="1419225" y="7372350"/>
            <a:ext cx="4451300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Inputs &amp; historical dataset → data processing with pandas and NumPy.</a:t>
            </a:r>
            <a:endParaRPr lang="en-US" sz="1650" dirty="0"/>
          </a:p>
        </p:txBody>
      </p:sp>
      <p:sp>
        <p:nvSpPr>
          <p:cNvPr id="84" name="Text 81"/>
          <p:cNvSpPr/>
          <p:nvPr/>
        </p:nvSpPr>
        <p:spPr>
          <a:xfrm>
            <a:off x="6848475" y="7067550"/>
            <a:ext cx="11502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9B8C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6848475" y="7372350"/>
            <a:ext cx="424681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 inference using scikit-learn.</a:t>
            </a:r>
            <a:endParaRPr lang="en-US" sz="1650" dirty="0"/>
          </a:p>
        </p:txBody>
      </p:sp>
      <p:sp>
        <p:nvSpPr>
          <p:cNvPr id="86" name="Text 83"/>
          <p:cNvSpPr/>
          <p:nvPr/>
        </p:nvSpPr>
        <p:spPr>
          <a:xfrm>
            <a:off x="12277725" y="7067550"/>
            <a:ext cx="202644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&amp; INTERFACE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12277725" y="7372350"/>
            <a:ext cx="3958977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 for visualization, Streamlit for user interaction.</a:t>
            </a:r>
            <a:endParaRPr lang="en-US" sz="1650" dirty="0"/>
          </a:p>
        </p:txBody>
      </p:sp>
      <p:sp>
        <p:nvSpPr>
          <p:cNvPr id="88" name="Text 85"/>
          <p:cNvSpPr/>
          <p:nvPr/>
        </p:nvSpPr>
        <p:spPr>
          <a:xfrm>
            <a:off x="1428750" y="9001125"/>
            <a:ext cx="63549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SCOPE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2254746" y="8963025"/>
            <a:ext cx="1323186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confirmed components are shown. Not depicted: cloud services, medical-device integrations, hospital databases, APIs, wearables.</a:t>
            </a:r>
            <a:endParaRPr lang="en-US" sz="1650" dirty="0"/>
          </a:p>
        </p:txBody>
      </p:sp>
      <p:sp>
        <p:nvSpPr>
          <p:cNvPr id="90" name="Text 87"/>
          <p:cNvSpPr/>
          <p:nvPr/>
        </p:nvSpPr>
        <p:spPr>
          <a:xfrm>
            <a:off x="1143000" y="9734550"/>
            <a:ext cx="36578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</a:t>
            </a:r>
            <a:endParaRPr lang="en-US" sz="1050" dirty="0"/>
          </a:p>
        </p:txBody>
      </p:sp>
      <p:sp>
        <p:nvSpPr>
          <p:cNvPr id="91" name="Text 88"/>
          <p:cNvSpPr/>
          <p:nvPr/>
        </p:nvSpPr>
        <p:spPr>
          <a:xfrm>
            <a:off x="8740676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92" name="Text 89"/>
          <p:cNvSpPr/>
          <p:nvPr/>
        </p:nvSpPr>
        <p:spPr>
          <a:xfrm>
            <a:off x="16589127" y="9734550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FD4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14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857250"/>
            <a:ext cx="7620000" cy="904875"/>
          </a:xfrm>
          <a:custGeom>
            <a:avLst/>
            <a:gdLst/>
            <a:ahLst/>
            <a:cxnLst/>
            <a:rect l="l" t="t" r="r" b="b"/>
            <a:pathLst>
              <a:path w="7620000" h="904875">
                <a:moveTo>
                  <a:pt x="0" y="428625"/>
                </a:moveTo>
                <a:lnTo>
                  <a:pt x="1143000" y="428625"/>
                </a:lnTo>
                <a:lnTo>
                  <a:pt x="1333500" y="428625"/>
                </a:lnTo>
                <a:lnTo>
                  <a:pt x="1524000" y="0"/>
                </a:lnTo>
                <a:lnTo>
                  <a:pt x="1771650" y="904875"/>
                </a:lnTo>
                <a:lnTo>
                  <a:pt x="2000250" y="238125"/>
                </a:lnTo>
                <a:lnTo>
                  <a:pt x="2152650" y="428625"/>
                </a:lnTo>
                <a:lnTo>
                  <a:pt x="3429000" y="428625"/>
                </a:lnTo>
                <a:lnTo>
                  <a:pt x="3619500" y="428625"/>
                </a:lnTo>
                <a:lnTo>
                  <a:pt x="3810000" y="0"/>
                </a:lnTo>
                <a:lnTo>
                  <a:pt x="4057650" y="904875"/>
                </a:lnTo>
                <a:lnTo>
                  <a:pt x="4286250" y="238125"/>
                </a:lnTo>
                <a:lnTo>
                  <a:pt x="4438650" y="428625"/>
                </a:lnTo>
                <a:lnTo>
                  <a:pt x="5715000" y="428625"/>
                </a:lnTo>
                <a:lnTo>
                  <a:pt x="5905500" y="428625"/>
                </a:lnTo>
                <a:lnTo>
                  <a:pt x="6096000" y="0"/>
                </a:lnTo>
                <a:lnTo>
                  <a:pt x="6343650" y="904875"/>
                </a:lnTo>
                <a:lnTo>
                  <a:pt x="6572250" y="238125"/>
                </a:lnTo>
                <a:lnTo>
                  <a:pt x="6724650" y="428625"/>
                </a:lnTo>
                <a:lnTo>
                  <a:pt x="7620000" y="428625"/>
                </a:lnTo>
              </a:path>
            </a:pathLst>
          </a:custGeom>
          <a:ln w="23813">
            <a:solidFill>
              <a:srgbClr val="3FD0D8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334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571750"/>
            <a:ext cx="106680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581275"/>
            <a:ext cx="2209800" cy="1009650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3352800" y="2581275"/>
            <a:ext cx="9525" cy="10096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43025" y="2895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552825" y="2714625"/>
            <a:ext cx="8077200" cy="742950"/>
          </a:xfrm>
          <a:prstGeom prst="roundRect">
            <a:avLst>
              <a:gd name="adj" fmla="val 15385"/>
            </a:avLst>
          </a:prstGeom>
          <a:solidFill>
            <a:srgbClr val="0FA3A3">
              <a:alpha val="16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733800"/>
            <a:ext cx="106680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525" y="3743325"/>
            <a:ext cx="2209800" cy="100965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3352800" y="3743325"/>
            <a:ext cx="9525" cy="10096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43025" y="40576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52825" y="3876675"/>
            <a:ext cx="8077200" cy="742950"/>
          </a:xfrm>
          <a:prstGeom prst="roundRect">
            <a:avLst>
              <a:gd name="adj" fmla="val 15385"/>
            </a:avLst>
          </a:prstGeom>
          <a:solidFill>
            <a:srgbClr val="0FA3A3">
              <a:alpha val="16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895850"/>
            <a:ext cx="106680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525" y="4905375"/>
            <a:ext cx="2209800" cy="1009650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3352800" y="4905375"/>
            <a:ext cx="9525" cy="10096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43025" y="5219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B8CF7"/>
          </a:solidFill>
          <a:ln/>
        </p:spPr>
      </p:sp>
      <p:sp>
        <p:nvSpPr>
          <p:cNvPr id="18" name="Shape 16"/>
          <p:cNvSpPr/>
          <p:nvPr/>
        </p:nvSpPr>
        <p:spPr>
          <a:xfrm>
            <a:off x="3552825" y="5038725"/>
            <a:ext cx="3962400" cy="742950"/>
          </a:xfrm>
          <a:prstGeom prst="roundRect">
            <a:avLst>
              <a:gd name="adj" fmla="val 15385"/>
            </a:avLst>
          </a:prstGeom>
          <a:solidFill>
            <a:srgbClr val="9B8CF7">
              <a:alpha val="18000"/>
            </a:srgbClr>
          </a:solidFill>
          <a:ln w="19050">
            <a:solidFill>
              <a:srgbClr val="9B8C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7625" y="5038725"/>
            <a:ext cx="3962400" cy="742950"/>
          </a:xfrm>
          <a:prstGeom prst="roundRect">
            <a:avLst>
              <a:gd name="adj" fmla="val 15385"/>
            </a:avLst>
          </a:prstGeom>
          <a:solidFill>
            <a:srgbClr val="9B8CF7">
              <a:alpha val="18000"/>
            </a:srgbClr>
          </a:solidFill>
          <a:ln w="19050">
            <a:solidFill>
              <a:srgbClr val="9B8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6057900"/>
            <a:ext cx="106680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2525" y="6067425"/>
            <a:ext cx="2209800" cy="1009650"/>
          </a:xfrm>
          <a:prstGeom prst="rect">
            <a:avLst/>
          </a:prstGeom>
          <a:ln/>
        </p:spPr>
      </p:sp>
      <p:sp>
        <p:nvSpPr>
          <p:cNvPr id="22" name="Shape 20"/>
          <p:cNvSpPr/>
          <p:nvPr/>
        </p:nvSpPr>
        <p:spPr>
          <a:xfrm>
            <a:off x="3352800" y="6067425"/>
            <a:ext cx="9525" cy="10096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43025" y="63817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552825" y="6200775"/>
            <a:ext cx="3962400" cy="742950"/>
          </a:xfrm>
          <a:prstGeom prst="roundRect">
            <a:avLst>
              <a:gd name="adj" fmla="val 15385"/>
            </a:avLst>
          </a:prstGeom>
          <a:solidFill>
            <a:srgbClr val="0FA3A3">
              <a:alpha val="16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7625" y="6200775"/>
            <a:ext cx="3962400" cy="742950"/>
          </a:xfrm>
          <a:prstGeom prst="roundRect">
            <a:avLst>
              <a:gd name="adj" fmla="val 15385"/>
            </a:avLst>
          </a:prstGeom>
          <a:solidFill>
            <a:srgbClr val="0FA3A3">
              <a:alpha val="16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7219950"/>
            <a:ext cx="106680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2525" y="7229475"/>
            <a:ext cx="2209800" cy="1009650"/>
          </a:xfrm>
          <a:prstGeom prst="rect">
            <a:avLst/>
          </a:prstGeom>
          <a:ln/>
        </p:spPr>
      </p:sp>
      <p:sp>
        <p:nvSpPr>
          <p:cNvPr id="28" name="Shape 26"/>
          <p:cNvSpPr/>
          <p:nvPr/>
        </p:nvSpPr>
        <p:spPr>
          <a:xfrm>
            <a:off x="3352800" y="7229475"/>
            <a:ext cx="9525" cy="10096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43025" y="75438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552825" y="7362825"/>
            <a:ext cx="8077200" cy="742950"/>
          </a:xfrm>
          <a:prstGeom prst="roundRect">
            <a:avLst>
              <a:gd name="adj" fmla="val 15385"/>
            </a:avLst>
          </a:prstGeom>
          <a:solidFill>
            <a:srgbClr val="0FA3A3">
              <a:alpha val="16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3000" y="8439150"/>
            <a:ext cx="10668000" cy="857250"/>
          </a:xfrm>
          <a:prstGeom prst="roundRect">
            <a:avLst>
              <a:gd name="adj" fmla="val 15556"/>
            </a:avLst>
          </a:prstGeom>
          <a:solidFill>
            <a:srgbClr val="FFFFFF">
              <a:alpha val="3000"/>
            </a:srgbClr>
          </a:solidFill>
          <a:ln w="19050">
            <a:solidFill>
              <a:srgbClr val="3FD0D8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8572500"/>
            <a:ext cx="590550" cy="590550"/>
          </a:xfrm>
          <a:prstGeom prst="roundRect">
            <a:avLst>
              <a:gd name="adj" fmla="val 50000"/>
            </a:avLst>
          </a:prstGeom>
          <a:ln w="285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71625" y="8753475"/>
            <a:ext cx="57150" cy="57150"/>
          </a:xfrm>
          <a:prstGeom prst="ellipse">
            <a:avLst/>
          </a:prstGeom>
          <a:ln w="2286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71625" y="8924925"/>
            <a:ext cx="57150" cy="57150"/>
          </a:xfrm>
          <a:prstGeom prst="ellipse">
            <a:avLst/>
          </a:prstGeom>
          <a:ln w="2286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04975" y="8810625"/>
            <a:ext cx="57150" cy="57150"/>
          </a:xfrm>
          <a:prstGeom prst="ellipse">
            <a:avLst/>
          </a:prstGeom>
          <a:ln w="2286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0200" y="8810625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0"/>
                </a:moveTo>
                <a:lnTo>
                  <a:pt x="0" y="114300"/>
                </a:lnTo>
                <a:moveTo>
                  <a:pt x="133350" y="57150"/>
                </a:moveTo>
                <a:cubicBezTo>
                  <a:pt x="133350" y="104775"/>
                  <a:pt x="0" y="76200"/>
                  <a:pt x="0" y="114300"/>
                </a:cubicBezTo>
              </a:path>
            </a:pathLst>
          </a:custGeom>
          <a:ln w="2286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287250" y="2571750"/>
            <a:ext cx="4857750" cy="2114550"/>
          </a:xfrm>
          <a:prstGeom prst="roundRect">
            <a:avLst>
              <a:gd name="adj" fmla="val 630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2287250" y="2571750"/>
            <a:ext cx="485775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9" name="Shape 37"/>
          <p:cNvSpPr/>
          <p:nvPr/>
        </p:nvSpPr>
        <p:spPr>
          <a:xfrm>
            <a:off x="17135475" y="2571750"/>
            <a:ext cx="9525" cy="21145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2287250" y="4676775"/>
            <a:ext cx="48577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287250" y="2571750"/>
            <a:ext cx="9525" cy="21145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287250" y="4876800"/>
            <a:ext cx="4857750" cy="2114550"/>
          </a:xfrm>
          <a:prstGeom prst="roundRect">
            <a:avLst>
              <a:gd name="adj" fmla="val 630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2287250" y="4876800"/>
            <a:ext cx="485775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4" name="Shape 42"/>
          <p:cNvSpPr/>
          <p:nvPr/>
        </p:nvSpPr>
        <p:spPr>
          <a:xfrm>
            <a:off x="17135475" y="4876800"/>
            <a:ext cx="9525" cy="21145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2287250" y="6981825"/>
            <a:ext cx="48577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2287250" y="4876800"/>
            <a:ext cx="9525" cy="21145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287250" y="7181850"/>
            <a:ext cx="4857750" cy="2114550"/>
          </a:xfrm>
          <a:prstGeom prst="roundRect">
            <a:avLst>
              <a:gd name="adj" fmla="val 630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287250" y="7181850"/>
            <a:ext cx="4857750" cy="38100"/>
          </a:xfrm>
          <a:prstGeom prst="rect">
            <a:avLst/>
          </a:prstGeom>
          <a:solidFill>
            <a:srgbClr val="9B8CF7"/>
          </a:solidFill>
          <a:ln/>
        </p:spPr>
      </p:sp>
      <p:sp>
        <p:nvSpPr>
          <p:cNvPr id="49" name="Shape 47"/>
          <p:cNvSpPr/>
          <p:nvPr/>
        </p:nvSpPr>
        <p:spPr>
          <a:xfrm>
            <a:off x="17135475" y="7181850"/>
            <a:ext cx="9525" cy="21145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2287250" y="9286875"/>
            <a:ext cx="48577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2287250" y="7181850"/>
            <a:ext cx="9525" cy="21145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4733984" y="9734550"/>
            <a:ext cx="1626543" cy="3238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7575" y="9848850"/>
            <a:ext cx="95250" cy="9525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143000" y="781050"/>
            <a:ext cx="44524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0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14 · WHAT THE PROTOTYPE IS BUILT WITH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143000" y="952500"/>
            <a:ext cx="5733306" cy="942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spc="-13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Technology Stack</a:t>
            </a:r>
            <a:endParaRPr lang="en-US" sz="5400" dirty="0"/>
          </a:p>
        </p:txBody>
      </p:sp>
      <p:sp>
        <p:nvSpPr>
          <p:cNvPr id="56" name="Text 53"/>
          <p:cNvSpPr/>
          <p:nvPr/>
        </p:nvSpPr>
        <p:spPr>
          <a:xfrm>
            <a:off x="1143000" y="1866900"/>
            <a:ext cx="7247930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project's technologies and the role each one plays</a:t>
            </a:r>
            <a:endParaRPr lang="en-US" sz="2250" dirty="0"/>
          </a:p>
        </p:txBody>
      </p:sp>
      <p:sp>
        <p:nvSpPr>
          <p:cNvPr id="57" name="Text 54"/>
          <p:cNvSpPr/>
          <p:nvPr/>
        </p:nvSpPr>
        <p:spPr>
          <a:xfrm>
            <a:off x="1480245" y="297180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1857375" y="2977455"/>
            <a:ext cx="100548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195143" y="2868960"/>
            <a:ext cx="138990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</a:t>
            </a:r>
            <a:endParaRPr lang="en-US" sz="2400" dirty="0"/>
          </a:p>
        </p:txBody>
      </p:sp>
      <p:sp>
        <p:nvSpPr>
          <p:cNvPr id="60" name="Text 57"/>
          <p:cNvSpPr/>
          <p:nvPr/>
        </p:nvSpPr>
        <p:spPr>
          <a:xfrm>
            <a:off x="6851749" y="2941290"/>
            <a:ext cx="31358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application interface</a:t>
            </a:r>
            <a:endParaRPr lang="en-US" sz="1650" dirty="0"/>
          </a:p>
        </p:txBody>
      </p:sp>
      <p:sp>
        <p:nvSpPr>
          <p:cNvPr id="61" name="Text 58"/>
          <p:cNvSpPr/>
          <p:nvPr/>
        </p:nvSpPr>
        <p:spPr>
          <a:xfrm>
            <a:off x="1480245" y="413385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350" dirty="0"/>
          </a:p>
        </p:txBody>
      </p:sp>
      <p:sp>
        <p:nvSpPr>
          <p:cNvPr id="62" name="Text 59"/>
          <p:cNvSpPr/>
          <p:nvPr/>
        </p:nvSpPr>
        <p:spPr>
          <a:xfrm>
            <a:off x="1857375" y="4040535"/>
            <a:ext cx="745182" cy="40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VISUAL-</a:t>
            </a:r>
            <a:pPr algn="l" indent="0" marL="0">
              <a:lnSpc>
                <a:spcPts val="1560"/>
              </a:lnSpc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IZATION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5802511" y="4031010"/>
            <a:ext cx="86052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</a:t>
            </a:r>
            <a:endParaRPr lang="en-US" sz="2400" dirty="0"/>
          </a:p>
        </p:txBody>
      </p:sp>
      <p:sp>
        <p:nvSpPr>
          <p:cNvPr id="64" name="Text 61"/>
          <p:cNvSpPr/>
          <p:nvPr/>
        </p:nvSpPr>
        <p:spPr>
          <a:xfrm>
            <a:off x="6929735" y="4103340"/>
            <a:ext cx="24504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visualizations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480245" y="529590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350" dirty="0"/>
          </a:p>
        </p:txBody>
      </p:sp>
      <p:sp>
        <p:nvSpPr>
          <p:cNvPr id="66" name="Text 63"/>
          <p:cNvSpPr/>
          <p:nvPr/>
        </p:nvSpPr>
        <p:spPr>
          <a:xfrm>
            <a:off x="1857375" y="5202585"/>
            <a:ext cx="917079" cy="40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</a:t>
            </a:r>
            <a:pPr algn="l" indent="0" marL="0">
              <a:lnSpc>
                <a:spcPts val="1560"/>
              </a:lnSpc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LEARNING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3800475" y="5048250"/>
            <a:ext cx="168503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scikit-learn</a:t>
            </a:r>
            <a:endParaRPr lang="en-US" sz="2400" dirty="0"/>
          </a:p>
        </p:txBody>
      </p:sp>
      <p:sp>
        <p:nvSpPr>
          <p:cNvPr id="68" name="Text 65"/>
          <p:cNvSpPr/>
          <p:nvPr/>
        </p:nvSpPr>
        <p:spPr>
          <a:xfrm>
            <a:off x="3800475" y="5444430"/>
            <a:ext cx="281434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machine-learning framework</a:t>
            </a:r>
            <a:endParaRPr lang="en-US" sz="1650" dirty="0"/>
          </a:p>
        </p:txBody>
      </p:sp>
      <p:sp>
        <p:nvSpPr>
          <p:cNvPr id="69" name="Text 66"/>
          <p:cNvSpPr/>
          <p:nvPr/>
        </p:nvSpPr>
        <p:spPr>
          <a:xfrm>
            <a:off x="7915275" y="5048250"/>
            <a:ext cx="22129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70" name="Text 67"/>
          <p:cNvSpPr/>
          <p:nvPr/>
        </p:nvSpPr>
        <p:spPr>
          <a:xfrm>
            <a:off x="7915275" y="5444430"/>
            <a:ext cx="194027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model</a:t>
            </a:r>
            <a:endParaRPr lang="en-US" sz="1650" dirty="0"/>
          </a:p>
        </p:txBody>
      </p:sp>
      <p:sp>
        <p:nvSpPr>
          <p:cNvPr id="71" name="Text 68"/>
          <p:cNvSpPr/>
          <p:nvPr/>
        </p:nvSpPr>
        <p:spPr>
          <a:xfrm>
            <a:off x="1480245" y="645795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350" dirty="0"/>
          </a:p>
        </p:txBody>
      </p:sp>
      <p:sp>
        <p:nvSpPr>
          <p:cNvPr id="72" name="Text 69"/>
          <p:cNvSpPr/>
          <p:nvPr/>
        </p:nvSpPr>
        <p:spPr>
          <a:xfrm>
            <a:off x="1857375" y="6364635"/>
            <a:ext cx="944166" cy="40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</a:t>
            </a:r>
            <a:pPr algn="l" indent="0" marL="0">
              <a:lnSpc>
                <a:spcPts val="1560"/>
              </a:lnSpc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HANDLING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3800475" y="6210300"/>
            <a:ext cx="107543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</a:t>
            </a:r>
            <a:endParaRPr lang="en-US" sz="2400" dirty="0"/>
          </a:p>
        </p:txBody>
      </p:sp>
      <p:sp>
        <p:nvSpPr>
          <p:cNvPr id="74" name="Text 71"/>
          <p:cNvSpPr/>
          <p:nvPr/>
        </p:nvSpPr>
        <p:spPr>
          <a:xfrm>
            <a:off x="3800475" y="6606480"/>
            <a:ext cx="13425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handling</a:t>
            </a:r>
            <a:endParaRPr lang="en-US" sz="1650" dirty="0"/>
          </a:p>
        </p:txBody>
      </p:sp>
      <p:sp>
        <p:nvSpPr>
          <p:cNvPr id="75" name="Text 72"/>
          <p:cNvSpPr/>
          <p:nvPr/>
        </p:nvSpPr>
        <p:spPr>
          <a:xfrm>
            <a:off x="7915275" y="6210300"/>
            <a:ext cx="105191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NumPy</a:t>
            </a:r>
            <a:endParaRPr lang="en-US" sz="2400" dirty="0"/>
          </a:p>
        </p:txBody>
      </p:sp>
      <p:sp>
        <p:nvSpPr>
          <p:cNvPr id="76" name="Text 73"/>
          <p:cNvSpPr/>
          <p:nvPr/>
        </p:nvSpPr>
        <p:spPr>
          <a:xfrm>
            <a:off x="7915275" y="6606480"/>
            <a:ext cx="20861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numerical operations</a:t>
            </a:r>
            <a:endParaRPr lang="en-US" sz="1650" dirty="0"/>
          </a:p>
        </p:txBody>
      </p:sp>
      <p:sp>
        <p:nvSpPr>
          <p:cNvPr id="77" name="Text 74"/>
          <p:cNvSpPr/>
          <p:nvPr/>
        </p:nvSpPr>
        <p:spPr>
          <a:xfrm>
            <a:off x="1480245" y="7620000"/>
            <a:ext cx="106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350" dirty="0"/>
          </a:p>
        </p:txBody>
      </p:sp>
      <p:sp>
        <p:nvSpPr>
          <p:cNvPr id="78" name="Text 75"/>
          <p:cNvSpPr/>
          <p:nvPr/>
        </p:nvSpPr>
        <p:spPr>
          <a:xfrm>
            <a:off x="1857375" y="7625655"/>
            <a:ext cx="9801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LANGUAGE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5389215" y="7517160"/>
            <a:ext cx="108004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</a:t>
            </a:r>
            <a:endParaRPr lang="en-US" sz="2400" dirty="0"/>
          </a:p>
        </p:txBody>
      </p:sp>
      <p:sp>
        <p:nvSpPr>
          <p:cNvPr id="80" name="Text 77"/>
          <p:cNvSpPr/>
          <p:nvPr/>
        </p:nvSpPr>
        <p:spPr>
          <a:xfrm>
            <a:off x="6735961" y="7589490"/>
            <a:ext cx="30575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programming language</a:t>
            </a:r>
            <a:endParaRPr lang="en-US" sz="1650" dirty="0"/>
          </a:p>
        </p:txBody>
      </p:sp>
      <p:sp>
        <p:nvSpPr>
          <p:cNvPr id="81" name="Text 78"/>
          <p:cNvSpPr/>
          <p:nvPr/>
        </p:nvSpPr>
        <p:spPr>
          <a:xfrm>
            <a:off x="2228850" y="8658225"/>
            <a:ext cx="104090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</a:t>
            </a:r>
            <a:endParaRPr lang="en-US" sz="2400" dirty="0"/>
          </a:p>
        </p:txBody>
      </p:sp>
      <p:sp>
        <p:nvSpPr>
          <p:cNvPr id="82" name="Text 79"/>
          <p:cNvSpPr/>
          <p:nvPr/>
        </p:nvSpPr>
        <p:spPr>
          <a:xfrm>
            <a:off x="3536454" y="8724900"/>
            <a:ext cx="230415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source-code repository</a:t>
            </a:r>
            <a:endParaRPr lang="en-US" sz="1650" dirty="0"/>
          </a:p>
        </p:txBody>
      </p:sp>
      <p:sp>
        <p:nvSpPr>
          <p:cNvPr id="83" name="Text 80"/>
          <p:cNvSpPr/>
          <p:nvPr/>
        </p:nvSpPr>
        <p:spPr>
          <a:xfrm>
            <a:off x="7976443" y="8763000"/>
            <a:ext cx="360595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3FD0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VERSION CONTROL · SPANS ALL LAYERS</a:t>
            </a:r>
            <a:endParaRPr lang="en-US" sz="1200" dirty="0"/>
          </a:p>
        </p:txBody>
      </p:sp>
      <p:sp>
        <p:nvSpPr>
          <p:cNvPr id="84" name="Text 81"/>
          <p:cNvSpPr/>
          <p:nvPr/>
        </p:nvSpPr>
        <p:spPr>
          <a:xfrm>
            <a:off x="12582525" y="2828925"/>
            <a:ext cx="32335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0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LANGUAGES &amp; FRAMEWORKS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12582525" y="3141315"/>
            <a:ext cx="4288334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</a:t>
            </a:r>
            <a:pPr algn="l" indent="0" marL="0">
              <a:lnSpc>
                <a:spcPts val="3240"/>
              </a:lnSpc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pPr algn="l" indent="0" marL="0">
              <a:lnSpc>
                <a:spcPts val="3240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</a:t>
            </a:r>
            <a:pPr algn="l" indent="0" marL="0">
              <a:lnSpc>
                <a:spcPts val="3240"/>
              </a:lnSpc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pPr algn="l" indent="0" marL="0">
              <a:lnSpc>
                <a:spcPts val="3240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scikit-learn</a:t>
            </a:r>
            <a:endParaRPr lang="en-US" sz="2700" dirty="0"/>
          </a:p>
        </p:txBody>
      </p:sp>
      <p:sp>
        <p:nvSpPr>
          <p:cNvPr id="86" name="Text 83"/>
          <p:cNvSpPr/>
          <p:nvPr/>
        </p:nvSpPr>
        <p:spPr>
          <a:xfrm>
            <a:off x="12582525" y="4116437"/>
            <a:ext cx="382934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Language, application interface and ML framework.</a:t>
            </a:r>
            <a:endParaRPr lang="en-US" sz="1650" dirty="0"/>
          </a:p>
        </p:txBody>
      </p:sp>
      <p:sp>
        <p:nvSpPr>
          <p:cNvPr id="87" name="Text 84"/>
          <p:cNvSpPr/>
          <p:nvPr/>
        </p:nvSpPr>
        <p:spPr>
          <a:xfrm>
            <a:off x="12582525" y="5133975"/>
            <a:ext cx="31871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0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HANDLING &amp; VISUALIZATION</a:t>
            </a:r>
            <a:endParaRPr lang="en-US" sz="1200" dirty="0"/>
          </a:p>
        </p:txBody>
      </p:sp>
      <p:sp>
        <p:nvSpPr>
          <p:cNvPr id="88" name="Text 85"/>
          <p:cNvSpPr/>
          <p:nvPr/>
        </p:nvSpPr>
        <p:spPr>
          <a:xfrm>
            <a:off x="12582525" y="5446365"/>
            <a:ext cx="382399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</a:t>
            </a:r>
            <a:pPr algn="l" indent="0" marL="0"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pPr algn="l" indent="0" marL="0"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NumPy</a:t>
            </a:r>
            <a:pPr algn="l" indent="0" marL="0"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pPr algn="l" indent="0" marL="0"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</a:t>
            </a:r>
            <a:endParaRPr lang="en-US" sz="2700" dirty="0"/>
          </a:p>
        </p:txBody>
      </p:sp>
      <p:sp>
        <p:nvSpPr>
          <p:cNvPr id="89" name="Text 86"/>
          <p:cNvSpPr/>
          <p:nvPr/>
        </p:nvSpPr>
        <p:spPr>
          <a:xfrm>
            <a:off x="12582525" y="6010126"/>
            <a:ext cx="3956893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handling, numerical operations and interactive charts.</a:t>
            </a:r>
            <a:endParaRPr lang="en-US" sz="1650" dirty="0"/>
          </a:p>
        </p:txBody>
      </p:sp>
      <p:sp>
        <p:nvSpPr>
          <p:cNvPr id="90" name="Text 87"/>
          <p:cNvSpPr/>
          <p:nvPr/>
        </p:nvSpPr>
        <p:spPr>
          <a:xfrm>
            <a:off x="12582525" y="7439025"/>
            <a:ext cx="40281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9B8C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MODEL &amp; VERSION CONTROL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12582525" y="7751415"/>
            <a:ext cx="389185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</a:t>
            </a:r>
            <a:pPr algn="l" indent="0" marL="0">
              <a:buNone/>
            </a:pPr>
            <a:r>
              <a:rPr lang="en-US" sz="2700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pPr algn="l" indent="0" marL="0"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</a:t>
            </a:r>
            <a:endParaRPr lang="en-US" sz="2700" dirty="0"/>
          </a:p>
        </p:txBody>
      </p:sp>
      <p:sp>
        <p:nvSpPr>
          <p:cNvPr id="92" name="Text 89"/>
          <p:cNvSpPr/>
          <p:nvPr/>
        </p:nvSpPr>
        <p:spPr>
          <a:xfrm>
            <a:off x="12582525" y="8315176"/>
            <a:ext cx="425469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implemented model, and the repository that holds the source code.</a:t>
            </a:r>
            <a:endParaRPr lang="en-US" sz="1650" dirty="0"/>
          </a:p>
        </p:txBody>
      </p:sp>
      <p:sp>
        <p:nvSpPr>
          <p:cNvPr id="93" name="Text 90"/>
          <p:cNvSpPr/>
          <p:nvPr/>
        </p:nvSpPr>
        <p:spPr>
          <a:xfrm>
            <a:off x="1143000" y="9805988"/>
            <a:ext cx="78724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 · EDUCATIONAL PROTOTYPE, NOT A MEDICAL DEVICE</a:t>
            </a:r>
            <a:endParaRPr lang="en-US" sz="1050" dirty="0"/>
          </a:p>
        </p:txBody>
      </p:sp>
      <p:sp>
        <p:nvSpPr>
          <p:cNvPr id="94" name="Text 91"/>
          <p:cNvSpPr/>
          <p:nvPr/>
        </p:nvSpPr>
        <p:spPr>
          <a:xfrm>
            <a:off x="15076884" y="9805988"/>
            <a:ext cx="11312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95" name="Text 92"/>
          <p:cNvSpPr/>
          <p:nvPr/>
        </p:nvSpPr>
        <p:spPr>
          <a:xfrm>
            <a:off x="16589127" y="9805988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FD0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14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6300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288000" h="1143000">
                <a:moveTo>
                  <a:pt x="0" y="571500"/>
                </a:moveTo>
                <a:lnTo>
                  <a:pt x="1524000" y="571500"/>
                </a:lnTo>
                <a:lnTo>
                  <a:pt x="1809750" y="571500"/>
                </a:lnTo>
                <a:lnTo>
                  <a:pt x="2000250" y="0"/>
                </a:lnTo>
                <a:lnTo>
                  <a:pt x="2238375" y="1143000"/>
                </a:lnTo>
                <a:lnTo>
                  <a:pt x="2476500" y="571500"/>
                </a:lnTo>
                <a:lnTo>
                  <a:pt x="4572000" y="571500"/>
                </a:lnTo>
                <a:lnTo>
                  <a:pt x="6096000" y="571500"/>
                </a:lnTo>
                <a:lnTo>
                  <a:pt x="6381750" y="571500"/>
                </a:lnTo>
                <a:lnTo>
                  <a:pt x="6572250" y="0"/>
                </a:lnTo>
                <a:lnTo>
                  <a:pt x="6810375" y="1143000"/>
                </a:lnTo>
                <a:lnTo>
                  <a:pt x="7048500" y="571500"/>
                </a:lnTo>
                <a:lnTo>
                  <a:pt x="9144000" y="571500"/>
                </a:lnTo>
                <a:lnTo>
                  <a:pt x="10668000" y="571500"/>
                </a:lnTo>
                <a:lnTo>
                  <a:pt x="10953750" y="571500"/>
                </a:lnTo>
                <a:lnTo>
                  <a:pt x="11144250" y="0"/>
                </a:lnTo>
                <a:lnTo>
                  <a:pt x="11382375" y="1143000"/>
                </a:lnTo>
                <a:lnTo>
                  <a:pt x="11620500" y="571500"/>
                </a:lnTo>
                <a:lnTo>
                  <a:pt x="13716000" y="571500"/>
                </a:lnTo>
                <a:lnTo>
                  <a:pt x="15240000" y="571500"/>
                </a:lnTo>
                <a:lnTo>
                  <a:pt x="15525750" y="571500"/>
                </a:lnTo>
                <a:lnTo>
                  <a:pt x="15716250" y="0"/>
                </a:lnTo>
                <a:lnTo>
                  <a:pt x="15954375" y="1143000"/>
                </a:lnTo>
                <a:lnTo>
                  <a:pt x="16192500" y="571500"/>
                </a:lnTo>
                <a:lnTo>
                  <a:pt x="18288000" y="571500"/>
                </a:lnTo>
              </a:path>
            </a:pathLst>
          </a:custGeom>
          <a:ln w="28575">
            <a:solidFill>
              <a:srgbClr val="22D3EE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6096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476500"/>
            <a:ext cx="10763250" cy="5715000"/>
          </a:xfrm>
          <a:prstGeom prst="roundRect">
            <a:avLst>
              <a:gd name="adj" fmla="val 2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3095625"/>
            <a:ext cx="10382250" cy="5067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287250" y="2476500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87250" y="3980408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287250" y="5484316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87250" y="6988225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3000" y="8420100"/>
            <a:ext cx="16002000" cy="914400"/>
          </a:xfrm>
          <a:prstGeom prst="roundRect">
            <a:avLst>
              <a:gd name="adj" fmla="val 14583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8420100"/>
            <a:ext cx="16002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7135475" y="8420100"/>
            <a:ext cx="9525" cy="91440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143000" y="9324975"/>
            <a:ext cx="16002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8420100"/>
            <a:ext cx="38100" cy="914400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15" name="Shape 12"/>
          <p:cNvSpPr/>
          <p:nvPr/>
        </p:nvSpPr>
        <p:spPr>
          <a:xfrm>
            <a:off x="1485900" y="8531572"/>
            <a:ext cx="3332559" cy="342900"/>
          </a:xfrm>
          <a:prstGeom prst="roundRect">
            <a:avLst>
              <a:gd name="adj" fmla="val 50000"/>
            </a:avLst>
          </a:prstGeom>
          <a:solidFill>
            <a:srgbClr val="8B7CF6">
              <a:alpha val="22000"/>
            </a:srgbClr>
          </a:solidFill>
          <a:ln w="9525">
            <a:solidFill>
              <a:srgbClr val="8B7CF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2619375"/>
            <a:ext cx="10020300" cy="61245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876300"/>
            <a:ext cx="489168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14 · AI/ML METHODOLOGY · HIGH-LEVEL VIEW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2685365" y="876300"/>
            <a:ext cx="44596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8B7C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43000" y="1085850"/>
            <a:ext cx="11947773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AI/ML Methodology: Random Forest Model</a:t>
            </a:r>
            <a:endParaRPr lang="en-US" sz="4800" dirty="0"/>
          </a:p>
        </p:txBody>
      </p:sp>
      <p:sp>
        <p:nvSpPr>
          <p:cNvPr id="20" name="Text 16"/>
          <p:cNvSpPr/>
          <p:nvPr/>
        </p:nvSpPr>
        <p:spPr>
          <a:xfrm>
            <a:off x="1143000" y="1847850"/>
            <a:ext cx="12465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Many decision trees look at the same input features; their predictions are combined into one output.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419225" y="2676525"/>
            <a:ext cx="43008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A RANDOM FOREST WORKS — SIMPLIFIED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405491" y="2705100"/>
            <a:ext cx="21007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ILLUSTRATION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12450812" y="256222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12954000" y="2476500"/>
            <a:ext cx="23717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MANY TREES, ONE ANSWER</a:t>
            </a:r>
            <a:endParaRPr lang="en-US" sz="1125" dirty="0"/>
          </a:p>
        </p:txBody>
      </p:sp>
      <p:sp>
        <p:nvSpPr>
          <p:cNvPr id="25" name="Text 21"/>
          <p:cNvSpPr/>
          <p:nvPr/>
        </p:nvSpPr>
        <p:spPr>
          <a:xfrm>
            <a:off x="12954000" y="2733675"/>
            <a:ext cx="3824288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Combines predictions from multiple decision trees.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2450812" y="4066133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12954000" y="3980408"/>
            <a:ext cx="14738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FEATURES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12954000" y="4237583"/>
            <a:ext cx="3857327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model processes the supported input features.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2450812" y="5570041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12954000" y="5484316"/>
            <a:ext cx="24120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SHAPES THE OUTPUT</a:t>
            </a:r>
            <a:endParaRPr lang="en-US" sz="1125" dirty="0"/>
          </a:p>
        </p:txBody>
      </p:sp>
      <p:sp>
        <p:nvSpPr>
          <p:cNvPr id="31" name="Text 27"/>
          <p:cNvSpPr/>
          <p:nvPr/>
        </p:nvSpPr>
        <p:spPr>
          <a:xfrm>
            <a:off x="12954000" y="5741491"/>
            <a:ext cx="3719512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data, target labels and the implemented prediction logic.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12450812" y="7073950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50" dirty="0"/>
          </a:p>
        </p:txBody>
      </p:sp>
      <p:sp>
        <p:nvSpPr>
          <p:cNvPr id="33" name="Text 29"/>
          <p:cNvSpPr/>
          <p:nvPr/>
        </p:nvSpPr>
        <p:spPr>
          <a:xfrm>
            <a:off x="12954000" y="6988225"/>
            <a:ext cx="23047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QUALITY NEEDS EVIDENCE</a:t>
            </a:r>
            <a:endParaRPr lang="en-US" sz="1125" dirty="0"/>
          </a:p>
        </p:txBody>
      </p:sp>
      <p:sp>
        <p:nvSpPr>
          <p:cNvPr id="34" name="Text 30"/>
          <p:cNvSpPr/>
          <p:nvPr/>
        </p:nvSpPr>
        <p:spPr>
          <a:xfrm>
            <a:off x="12954000" y="7245400"/>
            <a:ext cx="3335387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Quality must be assessed with appropriate, verified evaluation procedures.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828800" y="8617297"/>
            <a:ext cx="28277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 DATA · SYNTHETIC LABELS</a:t>
            </a:r>
            <a:endParaRPr lang="en-US" sz="975" dirty="0"/>
          </a:p>
        </p:txBody>
      </p:sp>
      <p:sp>
        <p:nvSpPr>
          <p:cNvPr id="36" name="Text 32"/>
          <p:cNvSpPr/>
          <p:nvPr/>
        </p:nvSpPr>
        <p:spPr>
          <a:xfrm>
            <a:off x="1485900" y="8960197"/>
            <a:ext cx="51692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prototype trains and runs on synthetic data only.</a:t>
            </a:r>
            <a:endParaRPr lang="en-US" sz="1650" dirty="0"/>
          </a:p>
        </p:txBody>
      </p:sp>
      <p:sp>
        <p:nvSpPr>
          <p:cNvPr id="37" name="Text 33"/>
          <p:cNvSpPr/>
          <p:nvPr/>
        </p:nvSpPr>
        <p:spPr>
          <a:xfrm>
            <a:off x="7391400" y="8485882"/>
            <a:ext cx="21426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DO NOT CLAIM</a:t>
            </a:r>
            <a:endParaRPr lang="en-US" sz="1125" dirty="0"/>
          </a:p>
        </p:txBody>
      </p:sp>
      <p:sp>
        <p:nvSpPr>
          <p:cNvPr id="38" name="Text 34"/>
          <p:cNvSpPr/>
          <p:nvPr/>
        </p:nvSpPr>
        <p:spPr>
          <a:xfrm>
            <a:off x="7391400" y="8733532"/>
            <a:ext cx="900901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performance metrics are reported. No disease detection or clinical-outcome prediction is claimed.</a:t>
            </a:r>
            <a:endParaRPr lang="en-US" sz="1650" dirty="0"/>
          </a:p>
        </p:txBody>
      </p:sp>
      <p:sp>
        <p:nvSpPr>
          <p:cNvPr id="39" name="Text 35"/>
          <p:cNvSpPr/>
          <p:nvPr/>
        </p:nvSpPr>
        <p:spPr>
          <a:xfrm>
            <a:off x="1143000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4742319" y="9734550"/>
            <a:ext cx="240268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</a:t>
            </a:r>
            <a:pPr algn="l" indent="0" marL="0">
              <a:buNone/>
            </a:pPr>
            <a:r>
              <a:rPr lang="en-US" sz="1050" b="1" spc="126" kern="0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/ 14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86750"/>
            <a:ext cx="18288000" cy="904875"/>
          </a:xfrm>
          <a:custGeom>
            <a:avLst/>
            <a:gdLst/>
            <a:ahLst/>
            <a:cxnLst/>
            <a:rect l="l" t="t" r="r" b="b"/>
            <a:pathLst>
              <a:path w="18288000" h="904875">
                <a:moveTo>
                  <a:pt x="0" y="428625"/>
                </a:moveTo>
                <a:lnTo>
                  <a:pt x="1524000" y="428625"/>
                </a:lnTo>
                <a:lnTo>
                  <a:pt x="1809750" y="428625"/>
                </a:lnTo>
                <a:lnTo>
                  <a:pt x="2047875" y="0"/>
                </a:lnTo>
                <a:lnTo>
                  <a:pt x="2333625" y="904875"/>
                </a:lnTo>
                <a:lnTo>
                  <a:pt x="2571750" y="428625"/>
                </a:lnTo>
                <a:lnTo>
                  <a:pt x="4000500" y="428625"/>
                </a:lnTo>
                <a:lnTo>
                  <a:pt x="4286250" y="428625"/>
                </a:lnTo>
                <a:lnTo>
                  <a:pt x="4524375" y="0"/>
                </a:lnTo>
                <a:lnTo>
                  <a:pt x="4810125" y="904875"/>
                </a:lnTo>
                <a:lnTo>
                  <a:pt x="5048250" y="428625"/>
                </a:lnTo>
                <a:lnTo>
                  <a:pt x="6477000" y="428625"/>
                </a:lnTo>
                <a:lnTo>
                  <a:pt x="6762750" y="428625"/>
                </a:lnTo>
                <a:lnTo>
                  <a:pt x="7000875" y="0"/>
                </a:lnTo>
                <a:lnTo>
                  <a:pt x="7286625" y="904875"/>
                </a:lnTo>
                <a:lnTo>
                  <a:pt x="7524750" y="428625"/>
                </a:lnTo>
                <a:lnTo>
                  <a:pt x="8953500" y="428625"/>
                </a:lnTo>
                <a:lnTo>
                  <a:pt x="9239250" y="428625"/>
                </a:lnTo>
                <a:lnTo>
                  <a:pt x="9477375" y="0"/>
                </a:lnTo>
                <a:lnTo>
                  <a:pt x="9763125" y="904875"/>
                </a:lnTo>
                <a:lnTo>
                  <a:pt x="10001250" y="428625"/>
                </a:lnTo>
                <a:lnTo>
                  <a:pt x="11430000" y="428625"/>
                </a:lnTo>
                <a:lnTo>
                  <a:pt x="11715750" y="428625"/>
                </a:lnTo>
                <a:lnTo>
                  <a:pt x="11953875" y="0"/>
                </a:lnTo>
                <a:lnTo>
                  <a:pt x="12239625" y="904875"/>
                </a:lnTo>
                <a:lnTo>
                  <a:pt x="12477750" y="428625"/>
                </a:lnTo>
                <a:lnTo>
                  <a:pt x="13906500" y="428625"/>
                </a:lnTo>
                <a:lnTo>
                  <a:pt x="14192250" y="428625"/>
                </a:lnTo>
                <a:lnTo>
                  <a:pt x="14430375" y="0"/>
                </a:lnTo>
                <a:lnTo>
                  <a:pt x="14716125" y="904875"/>
                </a:lnTo>
                <a:lnTo>
                  <a:pt x="14954250" y="428625"/>
                </a:lnTo>
                <a:lnTo>
                  <a:pt x="16383000" y="428625"/>
                </a:lnTo>
                <a:lnTo>
                  <a:pt x="16668750" y="428625"/>
                </a:lnTo>
                <a:lnTo>
                  <a:pt x="16906875" y="0"/>
                </a:lnTo>
                <a:lnTo>
                  <a:pt x="17192625" y="904875"/>
                </a:lnTo>
                <a:lnTo>
                  <a:pt x="17430750" y="428625"/>
                </a:lnTo>
                <a:lnTo>
                  <a:pt x="18288000" y="428625"/>
                </a:lnTo>
              </a:path>
            </a:pathLst>
          </a:custGeom>
          <a:ln w="23813">
            <a:solidFill>
              <a:srgbClr val="0FA3A3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334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4867483" y="1409700"/>
            <a:ext cx="2277517" cy="3810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381250"/>
            <a:ext cx="3771900" cy="5486400"/>
          </a:xfrm>
          <a:prstGeom prst="roundRect">
            <a:avLst>
              <a:gd name="adj" fmla="val 353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525" y="2390775"/>
            <a:ext cx="375285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Shape 5"/>
          <p:cNvSpPr/>
          <p:nvPr/>
        </p:nvSpPr>
        <p:spPr>
          <a:xfrm>
            <a:off x="1419225" y="26574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8" name="Shape 6"/>
          <p:cNvSpPr/>
          <p:nvPr/>
        </p:nvSpPr>
        <p:spPr>
          <a:xfrm>
            <a:off x="1419225" y="3400425"/>
            <a:ext cx="3238500" cy="2171700"/>
          </a:xfrm>
          <a:prstGeom prst="roundRect">
            <a:avLst>
              <a:gd name="adj" fmla="val 4386"/>
            </a:avLst>
          </a:prstGeom>
          <a:solidFill>
            <a:srgbClr val="08162A">
              <a:alpha val="9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8750" y="3409950"/>
            <a:ext cx="3219450" cy="2667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430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7640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097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19250" y="3829050"/>
            <a:ext cx="85725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19250" y="3962400"/>
            <a:ext cx="2857500" cy="247650"/>
          </a:xfrm>
          <a:prstGeom prst="roundRect">
            <a:avLst>
              <a:gd name="adj" fmla="val 23077"/>
            </a:avLst>
          </a:prstGeom>
          <a:ln w="14288">
            <a:solidFill>
              <a:srgbClr val="3CCF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4500" y="4048125"/>
            <a:ext cx="66675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19250" y="4343400"/>
            <a:ext cx="104775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19250" y="4476750"/>
            <a:ext cx="2857500" cy="247650"/>
          </a:xfrm>
          <a:prstGeom prst="roundRect">
            <a:avLst>
              <a:gd name="adj" fmla="val 23077"/>
            </a:avLst>
          </a:prstGeom>
          <a:ln w="14288">
            <a:solidFill>
              <a:srgbClr val="3CCF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4500" y="4562475"/>
            <a:ext cx="9525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48150" y="4572000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</a:path>
            </a:pathLst>
          </a:custGeom>
          <a:ln w="19050">
            <a:solidFill>
              <a:srgbClr val="3CCF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19250" y="485775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19250" y="5105400"/>
            <a:ext cx="2857500" cy="4763"/>
          </a:xfrm>
          <a:custGeom>
            <a:avLst/>
            <a:gdLst/>
            <a:ahLst/>
            <a:cxnLst/>
            <a:rect l="l" t="t" r="r" b="b"/>
            <a:pathLst>
              <a:path w="2857500" h="4763">
                <a:moveTo>
                  <a:pt x="0" y="0"/>
                </a:moveTo>
                <a:lnTo>
                  <a:pt x="28575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19250" y="5105400"/>
            <a:ext cx="1238250" cy="4763"/>
          </a:xfrm>
          <a:custGeom>
            <a:avLst/>
            <a:gdLst/>
            <a:ahLst/>
            <a:cxnLst/>
            <a:rect l="l" t="t" r="r" b="b"/>
            <a:pathLst>
              <a:path w="1238250" h="4763">
                <a:moveTo>
                  <a:pt x="0" y="0"/>
                </a:moveTo>
                <a:lnTo>
                  <a:pt x="12382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0FA3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1775" y="5019675"/>
            <a:ext cx="171450" cy="17145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19250" y="5295900"/>
            <a:ext cx="952500" cy="209550"/>
          </a:xfrm>
          <a:prstGeom prst="roundRect">
            <a:avLst>
              <a:gd name="adj" fmla="val 27273"/>
            </a:avLst>
          </a:prstGeom>
          <a:solidFill>
            <a:srgbClr val="0FA3A3"/>
          </a:solidFill>
          <a:ln/>
        </p:spPr>
      </p:sp>
      <p:sp>
        <p:nvSpPr>
          <p:cNvPr id="25" name="Shape 23"/>
          <p:cNvSpPr/>
          <p:nvPr/>
        </p:nvSpPr>
        <p:spPr>
          <a:xfrm>
            <a:off x="1809750" y="537210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419225" y="7248525"/>
            <a:ext cx="1834902" cy="361950"/>
          </a:xfrm>
          <a:prstGeom prst="roundRect">
            <a:avLst>
              <a:gd name="adj" fmla="val 21053"/>
            </a:avLst>
          </a:prstGeom>
          <a:solidFill>
            <a:srgbClr val="0FA3A3">
              <a:alpha val="18000"/>
            </a:srgbClr>
          </a:solidFill>
          <a:ln w="9525">
            <a:solidFill>
              <a:srgbClr val="0FA3A3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91100" y="4095750"/>
            <a:ext cx="152400" cy="209550"/>
          </a:xfrm>
          <a:prstGeom prst="rect">
            <a:avLst/>
          </a:prstGeom>
          <a:ln/>
        </p:spPr>
      </p:sp>
      <p:sp>
        <p:nvSpPr>
          <p:cNvPr id="28" name="Shape 26"/>
          <p:cNvSpPr/>
          <p:nvPr/>
        </p:nvSpPr>
        <p:spPr>
          <a:xfrm>
            <a:off x="4991100" y="4095750"/>
            <a:ext cx="152400" cy="20955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19700" y="2381250"/>
            <a:ext cx="3771900" cy="5486400"/>
          </a:xfrm>
          <a:prstGeom prst="roundRect">
            <a:avLst>
              <a:gd name="adj" fmla="val 353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29225" y="2390775"/>
            <a:ext cx="3752850" cy="38100"/>
          </a:xfrm>
          <a:prstGeom prst="rect">
            <a:avLst/>
          </a:prstGeom>
          <a:solidFill>
            <a:srgbClr val="9A8CF0"/>
          </a:solidFill>
          <a:ln/>
        </p:spPr>
      </p:sp>
      <p:sp>
        <p:nvSpPr>
          <p:cNvPr id="31" name="Shape 29"/>
          <p:cNvSpPr/>
          <p:nvPr/>
        </p:nvSpPr>
        <p:spPr>
          <a:xfrm>
            <a:off x="5495925" y="26574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9A8C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495925" y="3400425"/>
            <a:ext cx="3238500" cy="2171700"/>
          </a:xfrm>
          <a:prstGeom prst="roundRect">
            <a:avLst>
              <a:gd name="adj" fmla="val 4386"/>
            </a:avLst>
          </a:prstGeom>
          <a:solidFill>
            <a:srgbClr val="08162A">
              <a:alpha val="9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05450" y="3409950"/>
            <a:ext cx="3219450" cy="2667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197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5310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864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57850" y="4343400"/>
            <a:ext cx="723900" cy="571500"/>
          </a:xfrm>
          <a:prstGeom prst="roundRect">
            <a:avLst>
              <a:gd name="adj" fmla="val 16667"/>
            </a:avLst>
          </a:prstGeom>
          <a:ln w="14288">
            <a:solidFill>
              <a:srgbClr val="3CCF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4629150"/>
            <a:ext cx="133350" cy="4763"/>
          </a:xfrm>
          <a:custGeom>
            <a:avLst/>
            <a:gdLst/>
            <a:ahLst/>
            <a:cxnLst/>
            <a:rect l="l" t="t" r="r" b="b"/>
            <a:pathLst>
              <a:path w="133350" h="4763">
                <a:moveTo>
                  <a:pt x="0" y="0"/>
                </a:moveTo>
                <a:lnTo>
                  <a:pt x="1333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4150" y="45720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762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629400" y="4343400"/>
            <a:ext cx="952500" cy="571500"/>
          </a:xfrm>
          <a:prstGeom prst="roundRect">
            <a:avLst>
              <a:gd name="adj" fmla="val 16667"/>
            </a:avLst>
          </a:prstGeom>
          <a:ln w="14288">
            <a:solidFill>
              <a:srgbClr val="3CCF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0950" y="4629150"/>
            <a:ext cx="133350" cy="4763"/>
          </a:xfrm>
          <a:custGeom>
            <a:avLst/>
            <a:gdLst/>
            <a:ahLst/>
            <a:cxnLst/>
            <a:rect l="l" t="t" r="r" b="b"/>
            <a:pathLst>
              <a:path w="133350" h="4763">
                <a:moveTo>
                  <a:pt x="0" y="0"/>
                </a:moveTo>
                <a:lnTo>
                  <a:pt x="1333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34300" y="45720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762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7829550" y="4171950"/>
            <a:ext cx="781050" cy="914400"/>
          </a:xfrm>
          <a:prstGeom prst="roundRect">
            <a:avLst>
              <a:gd name="adj" fmla="val 12195"/>
            </a:avLst>
          </a:prstGeom>
          <a:solidFill>
            <a:srgbClr val="9A8CF0">
              <a:alpha val="14000"/>
            </a:srgbClr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81950" y="4400550"/>
            <a:ext cx="76200" cy="133350"/>
          </a:xfrm>
          <a:custGeom>
            <a:avLst/>
            <a:gdLst/>
            <a:ahLst/>
            <a:cxnLst/>
            <a:rect l="l" t="t" r="r" b="b"/>
            <a:pathLst>
              <a:path w="76200" h="133350">
                <a:moveTo>
                  <a:pt x="76200" y="0"/>
                </a:moveTo>
                <a:lnTo>
                  <a:pt x="0" y="133350"/>
                </a:lnTo>
              </a:path>
            </a:pathLst>
          </a:cu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8150" y="4400550"/>
            <a:ext cx="76200" cy="133350"/>
          </a:xfrm>
          <a:custGeom>
            <a:avLst/>
            <a:gdLst/>
            <a:ahLst/>
            <a:cxnLst/>
            <a:rect l="l" t="t" r="r" b="b"/>
            <a:pathLst>
              <a:path w="76200" h="133350">
                <a:moveTo>
                  <a:pt x="0" y="0"/>
                </a:moveTo>
                <a:lnTo>
                  <a:pt x="76200" y="133350"/>
                </a:lnTo>
              </a:path>
            </a:pathLst>
          </a:cu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29575" y="437197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53375" y="450532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05775" y="450532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4850" y="4400550"/>
            <a:ext cx="76200" cy="133350"/>
          </a:xfrm>
          <a:custGeom>
            <a:avLst/>
            <a:gdLst/>
            <a:ahLst/>
            <a:cxnLst/>
            <a:rect l="l" t="t" r="r" b="b"/>
            <a:pathLst>
              <a:path w="76200" h="133350">
                <a:moveTo>
                  <a:pt x="76200" y="0"/>
                </a:moveTo>
                <a:lnTo>
                  <a:pt x="0" y="133350"/>
                </a:lnTo>
              </a:path>
            </a:pathLst>
          </a:cu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01050" y="4400550"/>
            <a:ext cx="76200" cy="133350"/>
          </a:xfrm>
          <a:custGeom>
            <a:avLst/>
            <a:gdLst/>
            <a:ahLst/>
            <a:cxnLst/>
            <a:rect l="l" t="t" r="r" b="b"/>
            <a:pathLst>
              <a:path w="76200" h="133350">
                <a:moveTo>
                  <a:pt x="0" y="0"/>
                </a:moveTo>
                <a:lnTo>
                  <a:pt x="76200" y="133350"/>
                </a:lnTo>
              </a:path>
            </a:pathLst>
          </a:cu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72475" y="437197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96275" y="450532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48675" y="450532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53400" y="4648200"/>
            <a:ext cx="76200" cy="133350"/>
          </a:xfrm>
          <a:custGeom>
            <a:avLst/>
            <a:gdLst/>
            <a:ahLst/>
            <a:cxnLst/>
            <a:rect l="l" t="t" r="r" b="b"/>
            <a:pathLst>
              <a:path w="76200" h="133350">
                <a:moveTo>
                  <a:pt x="76200" y="0"/>
                </a:moveTo>
                <a:lnTo>
                  <a:pt x="0" y="133350"/>
                </a:lnTo>
              </a:path>
            </a:pathLst>
          </a:cu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29600" y="4648200"/>
            <a:ext cx="76200" cy="133350"/>
          </a:xfrm>
          <a:custGeom>
            <a:avLst/>
            <a:gdLst/>
            <a:ahLst/>
            <a:cxnLst/>
            <a:rect l="l" t="t" r="r" b="b"/>
            <a:pathLst>
              <a:path w="76200" h="133350">
                <a:moveTo>
                  <a:pt x="0" y="0"/>
                </a:moveTo>
                <a:lnTo>
                  <a:pt x="76200" y="133350"/>
                </a:lnTo>
              </a:path>
            </a:pathLst>
          </a:cu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01025" y="461962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24825" y="475297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77225" y="4752975"/>
            <a:ext cx="57150" cy="57150"/>
          </a:xfrm>
          <a:prstGeom prst="ellipse">
            <a:avLst/>
          </a:prstGeom>
          <a:solidFill>
            <a:srgbClr val="9A8CF0"/>
          </a:solidFill>
          <a:ln w="14288">
            <a:solidFill>
              <a:srgbClr val="9A8C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95925" y="7248525"/>
            <a:ext cx="2610594" cy="361950"/>
          </a:xfrm>
          <a:prstGeom prst="roundRect">
            <a:avLst>
              <a:gd name="adj" fmla="val 21053"/>
            </a:avLst>
          </a:prstGeom>
          <a:solidFill>
            <a:srgbClr val="9A8CF0">
              <a:alpha val="16000"/>
            </a:srgbClr>
          </a:solidFill>
          <a:ln w="9525">
            <a:solidFill>
              <a:srgbClr val="9A8CF0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67800" y="4095750"/>
            <a:ext cx="152400" cy="209550"/>
          </a:xfrm>
          <a:prstGeom prst="rect">
            <a:avLst/>
          </a:prstGeom>
          <a:ln/>
        </p:spPr>
      </p:sp>
      <p:sp>
        <p:nvSpPr>
          <p:cNvPr id="61" name="Shape 59"/>
          <p:cNvSpPr/>
          <p:nvPr/>
        </p:nvSpPr>
        <p:spPr>
          <a:xfrm>
            <a:off x="9067800" y="4095750"/>
            <a:ext cx="152400" cy="20955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96400" y="2381250"/>
            <a:ext cx="3771900" cy="5486400"/>
          </a:xfrm>
          <a:prstGeom prst="roundRect">
            <a:avLst>
              <a:gd name="adj" fmla="val 353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05925" y="2390775"/>
            <a:ext cx="375285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4" name="Shape 62"/>
          <p:cNvSpPr/>
          <p:nvPr/>
        </p:nvSpPr>
        <p:spPr>
          <a:xfrm>
            <a:off x="9572625" y="26574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65" name="Shape 63"/>
          <p:cNvSpPr/>
          <p:nvPr/>
        </p:nvSpPr>
        <p:spPr>
          <a:xfrm>
            <a:off x="9572625" y="3400425"/>
            <a:ext cx="3238500" cy="2171700"/>
          </a:xfrm>
          <a:prstGeom prst="roundRect">
            <a:avLst>
              <a:gd name="adj" fmla="val 4386"/>
            </a:avLst>
          </a:prstGeom>
          <a:solidFill>
            <a:srgbClr val="08162A">
              <a:alpha val="9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82150" y="3409950"/>
            <a:ext cx="3219450" cy="2667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964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2980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9631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0" y="3676650"/>
            <a:ext cx="3238500" cy="1905000"/>
          </a:xfrm>
          <a:prstGeom prst="rect">
            <a:avLst/>
          </a:prstGeom>
        </p:spPr>
      </p:pic>
      <p:sp>
        <p:nvSpPr>
          <p:cNvPr id="71" name="Shape 68"/>
          <p:cNvSpPr/>
          <p:nvPr/>
        </p:nvSpPr>
        <p:spPr>
          <a:xfrm>
            <a:off x="9572625" y="7248525"/>
            <a:ext cx="1834902" cy="361950"/>
          </a:xfrm>
          <a:prstGeom prst="roundRect">
            <a:avLst>
              <a:gd name="adj" fmla="val 21053"/>
            </a:avLst>
          </a:prstGeom>
          <a:solidFill>
            <a:srgbClr val="0FA3A3">
              <a:alpha val="18000"/>
            </a:srgbClr>
          </a:solidFill>
          <a:ln w="9525">
            <a:solidFill>
              <a:srgbClr val="0FA3A3">
                <a:alpha val="6000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3144500" y="4095750"/>
            <a:ext cx="152400" cy="209550"/>
          </a:xfrm>
          <a:prstGeom prst="rect">
            <a:avLst/>
          </a:prstGeom>
          <a:ln/>
        </p:spPr>
      </p:sp>
      <p:sp>
        <p:nvSpPr>
          <p:cNvPr id="73" name="Shape 70"/>
          <p:cNvSpPr/>
          <p:nvPr/>
        </p:nvSpPr>
        <p:spPr>
          <a:xfrm>
            <a:off x="13144500" y="4095750"/>
            <a:ext cx="152400" cy="20955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13373100" y="2381250"/>
            <a:ext cx="3771900" cy="5486400"/>
          </a:xfrm>
          <a:prstGeom prst="roundRect">
            <a:avLst>
              <a:gd name="adj" fmla="val 353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3382625" y="2390775"/>
            <a:ext cx="3752850" cy="38100"/>
          </a:xfrm>
          <a:prstGeom prst="rect">
            <a:avLst/>
          </a:prstGeom>
          <a:solidFill>
            <a:srgbClr val="3CCFE0"/>
          </a:solidFill>
          <a:ln/>
        </p:spPr>
      </p:sp>
      <p:sp>
        <p:nvSpPr>
          <p:cNvPr id="76" name="Shape 73"/>
          <p:cNvSpPr/>
          <p:nvPr/>
        </p:nvSpPr>
        <p:spPr>
          <a:xfrm>
            <a:off x="13649325" y="26574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3CCFE0"/>
          </a:solidFill>
          <a:ln/>
        </p:spPr>
      </p:sp>
      <p:sp>
        <p:nvSpPr>
          <p:cNvPr id="77" name="Shape 74"/>
          <p:cNvSpPr/>
          <p:nvPr/>
        </p:nvSpPr>
        <p:spPr>
          <a:xfrm>
            <a:off x="13649325" y="3400425"/>
            <a:ext cx="3238500" cy="2171700"/>
          </a:xfrm>
          <a:prstGeom prst="roundRect">
            <a:avLst>
              <a:gd name="adj" fmla="val 4386"/>
            </a:avLst>
          </a:prstGeom>
          <a:solidFill>
            <a:srgbClr val="08162A">
              <a:alpha val="9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3658850" y="3409950"/>
            <a:ext cx="3219450" cy="2667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137731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1390650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14039850" y="3505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2" name="Shape 79"/>
          <p:cNvSpPr/>
          <p:nvPr/>
        </p:nvSpPr>
        <p:spPr>
          <a:xfrm>
            <a:off x="14001750" y="3829050"/>
            <a:ext cx="4763" cy="1409700"/>
          </a:xfrm>
          <a:custGeom>
            <a:avLst/>
            <a:gdLst/>
            <a:ahLst/>
            <a:cxnLst/>
            <a:rect l="l" t="t" r="r" b="b"/>
            <a:pathLst>
              <a:path w="4763" h="1409700">
                <a:moveTo>
                  <a:pt x="0" y="0"/>
                </a:moveTo>
                <a:lnTo>
                  <a:pt x="0" y="140970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4001750" y="5238750"/>
            <a:ext cx="2743200" cy="4763"/>
          </a:xfrm>
          <a:custGeom>
            <a:avLst/>
            <a:gdLst/>
            <a:ahLst/>
            <a:cxnLst/>
            <a:rect l="l" t="t" r="r" b="b"/>
            <a:pathLst>
              <a:path w="2743200" h="4763">
                <a:moveTo>
                  <a:pt x="0" y="0"/>
                </a:moveTo>
                <a:lnTo>
                  <a:pt x="274320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4001750" y="4152900"/>
            <a:ext cx="2743200" cy="4763"/>
          </a:xfrm>
          <a:custGeom>
            <a:avLst/>
            <a:gdLst/>
            <a:ahLst/>
            <a:cxnLst/>
            <a:rect l="l" t="t" r="r" b="b"/>
            <a:pathLst>
              <a:path w="2743200" h="4763">
                <a:moveTo>
                  <a:pt x="0" y="0"/>
                </a:moveTo>
                <a:lnTo>
                  <a:pt x="27432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85" name="Shape 82"/>
          <p:cNvSpPr/>
          <p:nvPr/>
        </p:nvSpPr>
        <p:spPr>
          <a:xfrm>
            <a:off x="14001750" y="4533900"/>
            <a:ext cx="2743200" cy="4763"/>
          </a:xfrm>
          <a:custGeom>
            <a:avLst/>
            <a:gdLst/>
            <a:ahLst/>
            <a:cxnLst/>
            <a:rect l="l" t="t" r="r" b="b"/>
            <a:pathLst>
              <a:path w="2743200" h="4763">
                <a:moveTo>
                  <a:pt x="0" y="0"/>
                </a:moveTo>
                <a:lnTo>
                  <a:pt x="27432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86" name="Shape 83"/>
          <p:cNvSpPr/>
          <p:nvPr/>
        </p:nvSpPr>
        <p:spPr>
          <a:xfrm>
            <a:off x="14001750" y="4914900"/>
            <a:ext cx="2743200" cy="4763"/>
          </a:xfrm>
          <a:custGeom>
            <a:avLst/>
            <a:gdLst/>
            <a:ahLst/>
            <a:cxnLst/>
            <a:rect l="l" t="t" r="r" b="b"/>
            <a:pathLst>
              <a:path w="2743200" h="4763">
                <a:moveTo>
                  <a:pt x="0" y="0"/>
                </a:moveTo>
                <a:lnTo>
                  <a:pt x="27432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87" name="Shape 84"/>
          <p:cNvSpPr/>
          <p:nvPr/>
        </p:nvSpPr>
        <p:spPr>
          <a:xfrm>
            <a:off x="14249400" y="4591050"/>
            <a:ext cx="323850" cy="647700"/>
          </a:xfrm>
          <a:prstGeom prst="rect">
            <a:avLst/>
          </a:prstGeom>
          <a:ln w="14288">
            <a:solidFill>
              <a:srgbClr val="3CCFE0"/>
            </a:solidFill>
            <a:prstDash val="dash"/>
          </a:ln>
        </p:spPr>
      </p:sp>
      <p:sp>
        <p:nvSpPr>
          <p:cNvPr id="88" name="Shape 85"/>
          <p:cNvSpPr/>
          <p:nvPr/>
        </p:nvSpPr>
        <p:spPr>
          <a:xfrm>
            <a:off x="14763750" y="4248150"/>
            <a:ext cx="323850" cy="990600"/>
          </a:xfrm>
          <a:prstGeom prst="rect">
            <a:avLst/>
          </a:prstGeom>
          <a:ln w="14288">
            <a:solidFill>
              <a:srgbClr val="3CCFE0"/>
            </a:solidFill>
            <a:prstDash val="dash"/>
          </a:ln>
        </p:spPr>
      </p:sp>
      <p:sp>
        <p:nvSpPr>
          <p:cNvPr id="89" name="Shape 86"/>
          <p:cNvSpPr/>
          <p:nvPr/>
        </p:nvSpPr>
        <p:spPr>
          <a:xfrm>
            <a:off x="15278100" y="4743450"/>
            <a:ext cx="323850" cy="495300"/>
          </a:xfrm>
          <a:prstGeom prst="rect">
            <a:avLst/>
          </a:prstGeom>
          <a:ln w="14288">
            <a:solidFill>
              <a:srgbClr val="3CCFE0"/>
            </a:solidFill>
            <a:prstDash val="dash"/>
          </a:ln>
        </p:spPr>
      </p:sp>
      <p:sp>
        <p:nvSpPr>
          <p:cNvPr id="90" name="Shape 87"/>
          <p:cNvSpPr/>
          <p:nvPr/>
        </p:nvSpPr>
        <p:spPr>
          <a:xfrm>
            <a:off x="15792450" y="4419600"/>
            <a:ext cx="323850" cy="819150"/>
          </a:xfrm>
          <a:prstGeom prst="rect">
            <a:avLst/>
          </a:prstGeom>
          <a:ln w="14288">
            <a:solidFill>
              <a:srgbClr val="3CCFE0"/>
            </a:solidFill>
            <a:prstDash val="dash"/>
          </a:ln>
        </p:spPr>
      </p:sp>
      <p:sp>
        <p:nvSpPr>
          <p:cNvPr id="91" name="Shape 88"/>
          <p:cNvSpPr/>
          <p:nvPr/>
        </p:nvSpPr>
        <p:spPr>
          <a:xfrm>
            <a:off x="16306800" y="4819650"/>
            <a:ext cx="323850" cy="419100"/>
          </a:xfrm>
          <a:prstGeom prst="rect">
            <a:avLst/>
          </a:prstGeom>
          <a:ln w="14288">
            <a:solidFill>
              <a:srgbClr val="3CCFE0"/>
            </a:solidFill>
            <a:prstDash val="dash"/>
          </a:ln>
        </p:spPr>
      </p:sp>
      <p:sp>
        <p:nvSpPr>
          <p:cNvPr id="92" name="Shape 89"/>
          <p:cNvSpPr/>
          <p:nvPr/>
        </p:nvSpPr>
        <p:spPr>
          <a:xfrm>
            <a:off x="14077950" y="3962400"/>
            <a:ext cx="2590800" cy="1143000"/>
          </a:xfrm>
          <a:custGeom>
            <a:avLst/>
            <a:gdLst/>
            <a:ahLst/>
            <a:cxnLst/>
            <a:rect l="l" t="t" r="r" b="b"/>
            <a:pathLst>
              <a:path w="2590800" h="1143000">
                <a:moveTo>
                  <a:pt x="0" y="1047750"/>
                </a:moveTo>
                <a:cubicBezTo>
                  <a:pt x="438150" y="285750"/>
                  <a:pt x="819150" y="1143000"/>
                  <a:pt x="1295400" y="571500"/>
                </a:cubicBezTo>
                <a:cubicBezTo>
                  <a:pt x="1771650" y="0"/>
                  <a:pt x="2152650" y="95250"/>
                  <a:pt x="2590800" y="381000"/>
                </a:cubicBezTo>
              </a:path>
            </a:pathLst>
          </a:custGeom>
          <a:ln w="19050">
            <a:solidFill>
              <a:srgbClr val="9A8CF0"/>
            </a:solidFill>
            <a:prstDash val="dash"/>
          </a:ln>
        </p:spPr>
      </p:sp>
      <p:sp>
        <p:nvSpPr>
          <p:cNvPr id="93" name="Shape 90"/>
          <p:cNvSpPr/>
          <p:nvPr/>
        </p:nvSpPr>
        <p:spPr>
          <a:xfrm>
            <a:off x="13649325" y="7248525"/>
            <a:ext cx="788789" cy="361950"/>
          </a:xfrm>
          <a:prstGeom prst="roundRect">
            <a:avLst>
              <a:gd name="adj" fmla="val 21053"/>
            </a:avLst>
          </a:prstGeom>
          <a:solidFill>
            <a:srgbClr val="3CCFE0">
              <a:alpha val="14000"/>
            </a:srgbClr>
          </a:solidFill>
          <a:ln w="9525">
            <a:solidFill>
              <a:srgbClr val="3CCFE0">
                <a:alpha val="6000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143000" y="8096250"/>
            <a:ext cx="7810500" cy="1238250"/>
          </a:xfrm>
          <a:prstGeom prst="roundRect">
            <a:avLst>
              <a:gd name="adj" fmla="val 10769"/>
            </a:avLst>
          </a:prstGeom>
          <a:solidFill>
            <a:srgbClr val="0FA3A3">
              <a:alpha val="10000"/>
            </a:srgbClr>
          </a:solidFill>
          <a:ln/>
        </p:spPr>
      </p:sp>
      <p:sp>
        <p:nvSpPr>
          <p:cNvPr id="95" name="Shape 92"/>
          <p:cNvSpPr/>
          <p:nvPr/>
        </p:nvSpPr>
        <p:spPr>
          <a:xfrm>
            <a:off x="1143000" y="8096250"/>
            <a:ext cx="78105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96" name="Shape 93"/>
          <p:cNvSpPr/>
          <p:nvPr/>
        </p:nvSpPr>
        <p:spPr>
          <a:xfrm>
            <a:off x="8943975" y="8096250"/>
            <a:ext cx="9525" cy="1238250"/>
          </a:xfrm>
          <a:prstGeom prst="rect">
            <a:avLst/>
          </a:prstGeom>
          <a:solidFill>
            <a:srgbClr val="0FA3A3">
              <a:alpha val="6000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1143000" y="9324975"/>
            <a:ext cx="7810500" cy="9525"/>
          </a:xfrm>
          <a:prstGeom prst="rect">
            <a:avLst/>
          </a:prstGeom>
          <a:solidFill>
            <a:srgbClr val="0FA3A3">
              <a:alpha val="60000"/>
            </a:srgbClr>
          </a:solidFill>
          <a:ln/>
        </p:spPr>
      </p:sp>
      <p:sp>
        <p:nvSpPr>
          <p:cNvPr id="98" name="Shape 95"/>
          <p:cNvSpPr/>
          <p:nvPr/>
        </p:nvSpPr>
        <p:spPr>
          <a:xfrm>
            <a:off x="1143000" y="8096250"/>
            <a:ext cx="9525" cy="1238250"/>
          </a:xfrm>
          <a:prstGeom prst="rect">
            <a:avLst/>
          </a:prstGeom>
          <a:solidFill>
            <a:srgbClr val="0FA3A3">
              <a:alpha val="60000"/>
            </a:srgbClr>
          </a:solidFill>
          <a:ln/>
        </p:spPr>
      </p:sp>
      <p:pic>
        <p:nvPicPr>
          <p:cNvPr id="9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914400"/>
            <a:ext cx="7810500" cy="8420100"/>
          </a:xfrm>
          <a:prstGeom prst="rect">
            <a:avLst/>
          </a:prstGeom>
        </p:spPr>
      </p:pic>
      <p:sp>
        <p:nvSpPr>
          <p:cNvPr id="100" name="Text 96"/>
          <p:cNvSpPr/>
          <p:nvPr/>
        </p:nvSpPr>
        <p:spPr>
          <a:xfrm>
            <a:off x="1143000" y="762000"/>
            <a:ext cx="396135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F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 WORKFLOW · USER JOURNEY</a:t>
            </a:r>
            <a:endParaRPr lang="en-US" sz="1200" dirty="0"/>
          </a:p>
        </p:txBody>
      </p:sp>
      <p:sp>
        <p:nvSpPr>
          <p:cNvPr id="101" name="Text 97"/>
          <p:cNvSpPr/>
          <p:nvPr/>
        </p:nvSpPr>
        <p:spPr>
          <a:xfrm>
            <a:off x="1143000" y="933450"/>
            <a:ext cx="9907488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 Workflow and Interface</a:t>
            </a:r>
            <a:endParaRPr lang="en-US" sz="4800" dirty="0"/>
          </a:p>
        </p:txBody>
      </p:sp>
      <p:sp>
        <p:nvSpPr>
          <p:cNvPr id="102" name="Text 98"/>
          <p:cNvSpPr/>
          <p:nvPr/>
        </p:nvSpPr>
        <p:spPr>
          <a:xfrm>
            <a:off x="1143000" y="1752600"/>
            <a:ext cx="110214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stages of the user journey — described only as far as the current implementation supports.</a:t>
            </a:r>
            <a:endParaRPr lang="en-US" sz="1950" dirty="0"/>
          </a:p>
        </p:txBody>
      </p:sp>
      <p:sp>
        <p:nvSpPr>
          <p:cNvPr id="103" name="Text 99"/>
          <p:cNvSpPr/>
          <p:nvPr/>
        </p:nvSpPr>
        <p:spPr>
          <a:xfrm>
            <a:off x="13354050" y="1014413"/>
            <a:ext cx="36099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MOCKUPS · NOT SCREENSHOTS</a:t>
            </a:r>
            <a:endParaRPr lang="en-US" sz="1050" dirty="0"/>
          </a:p>
        </p:txBody>
      </p:sp>
      <p:sp>
        <p:nvSpPr>
          <p:cNvPr id="104" name="Text 100"/>
          <p:cNvSpPr/>
          <p:nvPr/>
        </p:nvSpPr>
        <p:spPr>
          <a:xfrm>
            <a:off x="15229433" y="1509713"/>
            <a:ext cx="17441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APP · LIVE</a:t>
            </a:r>
            <a:endParaRPr lang="en-US" sz="1050" dirty="0"/>
          </a:p>
        </p:txBody>
      </p:sp>
      <p:sp>
        <p:nvSpPr>
          <p:cNvPr id="105" name="Text 101"/>
          <p:cNvSpPr/>
          <p:nvPr/>
        </p:nvSpPr>
        <p:spPr>
          <a:xfrm>
            <a:off x="1614934" y="2767013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106" name="Text 102"/>
          <p:cNvSpPr/>
          <p:nvPr/>
        </p:nvSpPr>
        <p:spPr>
          <a:xfrm>
            <a:off x="2105025" y="2657475"/>
            <a:ext cx="8475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01</a:t>
            </a:r>
            <a:endParaRPr lang="en-US" sz="1125" dirty="0"/>
          </a:p>
        </p:txBody>
      </p:sp>
      <p:sp>
        <p:nvSpPr>
          <p:cNvPr id="107" name="Text 103"/>
          <p:cNvSpPr/>
          <p:nvPr/>
        </p:nvSpPr>
        <p:spPr>
          <a:xfrm>
            <a:off x="2105025" y="2790825"/>
            <a:ext cx="89788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</a:t>
            </a:r>
            <a:endParaRPr lang="en-US" sz="2850" dirty="0"/>
          </a:p>
        </p:txBody>
      </p:sp>
      <p:sp>
        <p:nvSpPr>
          <p:cNvPr id="108" name="Text 104"/>
          <p:cNvSpPr/>
          <p:nvPr/>
        </p:nvSpPr>
        <p:spPr>
          <a:xfrm>
            <a:off x="3114377" y="3471863"/>
            <a:ext cx="14195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MOCKUP</a:t>
            </a:r>
            <a:endParaRPr lang="en-US" sz="825" dirty="0"/>
          </a:p>
        </p:txBody>
      </p:sp>
      <p:sp>
        <p:nvSpPr>
          <p:cNvPr id="109" name="Text 105"/>
          <p:cNvSpPr/>
          <p:nvPr/>
        </p:nvSpPr>
        <p:spPr>
          <a:xfrm>
            <a:off x="1419225" y="5743575"/>
            <a:ext cx="1698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BASIS</a:t>
            </a:r>
            <a:endParaRPr lang="en-US" sz="1050" dirty="0"/>
          </a:p>
        </p:txBody>
      </p:sp>
      <p:sp>
        <p:nvSpPr>
          <p:cNvPr id="110" name="Text 106"/>
          <p:cNvSpPr/>
          <p:nvPr/>
        </p:nvSpPr>
        <p:spPr>
          <a:xfrm>
            <a:off x="1419225" y="6010275"/>
            <a:ext cx="3110210" cy="89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enter or select supported sample health-related inputs in the Streamlit interface.</a:t>
            </a:r>
            <a:endParaRPr lang="en-US" sz="1650" dirty="0"/>
          </a:p>
        </p:txBody>
      </p:sp>
      <p:sp>
        <p:nvSpPr>
          <p:cNvPr id="111" name="Text 107"/>
          <p:cNvSpPr/>
          <p:nvPr/>
        </p:nvSpPr>
        <p:spPr>
          <a:xfrm>
            <a:off x="1581150" y="7324725"/>
            <a:ext cx="151105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3CCF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interface</a:t>
            </a:r>
            <a:endParaRPr lang="en-US" sz="1200" dirty="0"/>
          </a:p>
        </p:txBody>
      </p:sp>
      <p:sp>
        <p:nvSpPr>
          <p:cNvPr id="112" name="Text 108"/>
          <p:cNvSpPr/>
          <p:nvPr/>
        </p:nvSpPr>
        <p:spPr>
          <a:xfrm>
            <a:off x="5691634" y="2767013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113" name="Text 109"/>
          <p:cNvSpPr/>
          <p:nvPr/>
        </p:nvSpPr>
        <p:spPr>
          <a:xfrm>
            <a:off x="6181725" y="2657475"/>
            <a:ext cx="8475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9A8C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02</a:t>
            </a:r>
            <a:endParaRPr lang="en-US" sz="1125" dirty="0"/>
          </a:p>
        </p:txBody>
      </p:sp>
      <p:sp>
        <p:nvSpPr>
          <p:cNvPr id="114" name="Text 110"/>
          <p:cNvSpPr/>
          <p:nvPr/>
        </p:nvSpPr>
        <p:spPr>
          <a:xfrm>
            <a:off x="6181725" y="2790825"/>
            <a:ext cx="1886992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Processing</a:t>
            </a:r>
            <a:endParaRPr lang="en-US" sz="2850" dirty="0"/>
          </a:p>
        </p:txBody>
      </p:sp>
      <p:sp>
        <p:nvSpPr>
          <p:cNvPr id="115" name="Text 111"/>
          <p:cNvSpPr/>
          <p:nvPr/>
        </p:nvSpPr>
        <p:spPr>
          <a:xfrm>
            <a:off x="7191077" y="3471863"/>
            <a:ext cx="14195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MOCKUP</a:t>
            </a:r>
            <a:endParaRPr lang="en-US" sz="825" dirty="0"/>
          </a:p>
        </p:txBody>
      </p:sp>
      <p:sp>
        <p:nvSpPr>
          <p:cNvPr id="116" name="Text 112"/>
          <p:cNvSpPr/>
          <p:nvPr/>
        </p:nvSpPr>
        <p:spPr>
          <a:xfrm>
            <a:off x="5495925" y="5743575"/>
            <a:ext cx="1698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BASIS</a:t>
            </a:r>
            <a:endParaRPr lang="en-US" sz="1050" dirty="0"/>
          </a:p>
        </p:txBody>
      </p:sp>
      <p:sp>
        <p:nvSpPr>
          <p:cNvPr id="117" name="Text 113"/>
          <p:cNvSpPr/>
          <p:nvPr/>
        </p:nvSpPr>
        <p:spPr>
          <a:xfrm>
            <a:off x="5495925" y="6010275"/>
            <a:ext cx="3173760" cy="119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Inputs are processed with pandas and NumPy, then passed to the implemented Random Forest model (scikit-learn).</a:t>
            </a:r>
            <a:endParaRPr lang="en-US" sz="1650" dirty="0"/>
          </a:p>
        </p:txBody>
      </p:sp>
      <p:sp>
        <p:nvSpPr>
          <p:cNvPr id="118" name="Text 114"/>
          <p:cNvSpPr/>
          <p:nvPr/>
        </p:nvSpPr>
        <p:spPr>
          <a:xfrm>
            <a:off x="5657850" y="7324725"/>
            <a:ext cx="228674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9A8C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 · NumPy · scikit-learn</a:t>
            </a:r>
            <a:endParaRPr lang="en-US" sz="1200" dirty="0"/>
          </a:p>
        </p:txBody>
      </p:sp>
      <p:sp>
        <p:nvSpPr>
          <p:cNvPr id="119" name="Text 115"/>
          <p:cNvSpPr/>
          <p:nvPr/>
        </p:nvSpPr>
        <p:spPr>
          <a:xfrm>
            <a:off x="9768334" y="2767013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120" name="Text 116"/>
          <p:cNvSpPr/>
          <p:nvPr/>
        </p:nvSpPr>
        <p:spPr>
          <a:xfrm>
            <a:off x="10258425" y="2657475"/>
            <a:ext cx="8475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03</a:t>
            </a:r>
            <a:endParaRPr lang="en-US" sz="1125" dirty="0"/>
          </a:p>
        </p:txBody>
      </p:sp>
      <p:sp>
        <p:nvSpPr>
          <p:cNvPr id="121" name="Text 117"/>
          <p:cNvSpPr/>
          <p:nvPr/>
        </p:nvSpPr>
        <p:spPr>
          <a:xfrm>
            <a:off x="10258425" y="2790825"/>
            <a:ext cx="1217116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</a:t>
            </a:r>
            <a:endParaRPr lang="en-US" sz="2850" dirty="0"/>
          </a:p>
        </p:txBody>
      </p:sp>
      <p:sp>
        <p:nvSpPr>
          <p:cNvPr id="122" name="Text 118"/>
          <p:cNvSpPr/>
          <p:nvPr/>
        </p:nvSpPr>
        <p:spPr>
          <a:xfrm>
            <a:off x="11267777" y="3471863"/>
            <a:ext cx="14195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MOCKUP</a:t>
            </a:r>
            <a:endParaRPr lang="en-US" sz="825" dirty="0"/>
          </a:p>
        </p:txBody>
      </p:sp>
      <p:sp>
        <p:nvSpPr>
          <p:cNvPr id="123" name="Text 119"/>
          <p:cNvSpPr/>
          <p:nvPr/>
        </p:nvSpPr>
        <p:spPr>
          <a:xfrm>
            <a:off x="9572625" y="5743575"/>
            <a:ext cx="1698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BASIS</a:t>
            </a:r>
            <a:endParaRPr lang="en-US" sz="1050" dirty="0"/>
          </a:p>
        </p:txBody>
      </p:sp>
      <p:sp>
        <p:nvSpPr>
          <p:cNvPr id="124" name="Text 120"/>
          <p:cNvSpPr/>
          <p:nvPr/>
        </p:nvSpPr>
        <p:spPr>
          <a:xfrm>
            <a:off x="9572625" y="6010275"/>
            <a:ext cx="3066455" cy="119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model’s output is displayed in the interface. Its meaning depends on synthetic training data and labels.</a:t>
            </a:r>
            <a:endParaRPr lang="en-US" sz="1650" dirty="0"/>
          </a:p>
        </p:txBody>
      </p:sp>
      <p:sp>
        <p:nvSpPr>
          <p:cNvPr id="125" name="Text 121"/>
          <p:cNvSpPr/>
          <p:nvPr/>
        </p:nvSpPr>
        <p:spPr>
          <a:xfrm>
            <a:off x="9734550" y="7324725"/>
            <a:ext cx="151105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3CCF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interface</a:t>
            </a:r>
            <a:endParaRPr lang="en-US" sz="1200" dirty="0"/>
          </a:p>
        </p:txBody>
      </p:sp>
      <p:sp>
        <p:nvSpPr>
          <p:cNvPr id="126" name="Text 122"/>
          <p:cNvSpPr/>
          <p:nvPr/>
        </p:nvSpPr>
        <p:spPr>
          <a:xfrm>
            <a:off x="13845034" y="2767013"/>
            <a:ext cx="1418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800" dirty="0"/>
          </a:p>
        </p:txBody>
      </p:sp>
      <p:sp>
        <p:nvSpPr>
          <p:cNvPr id="127" name="Text 123"/>
          <p:cNvSpPr/>
          <p:nvPr/>
        </p:nvSpPr>
        <p:spPr>
          <a:xfrm>
            <a:off x="14335125" y="2657475"/>
            <a:ext cx="8475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3CCF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04</a:t>
            </a:r>
            <a:endParaRPr lang="en-US" sz="1125" dirty="0"/>
          </a:p>
        </p:txBody>
      </p:sp>
      <p:sp>
        <p:nvSpPr>
          <p:cNvPr id="128" name="Text 124"/>
          <p:cNvSpPr/>
          <p:nvPr/>
        </p:nvSpPr>
        <p:spPr>
          <a:xfrm>
            <a:off x="14335125" y="2790825"/>
            <a:ext cx="2165152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Visualization</a:t>
            </a:r>
            <a:endParaRPr lang="en-US" sz="2850" dirty="0"/>
          </a:p>
        </p:txBody>
      </p:sp>
      <p:sp>
        <p:nvSpPr>
          <p:cNvPr id="129" name="Text 125"/>
          <p:cNvSpPr/>
          <p:nvPr/>
        </p:nvSpPr>
        <p:spPr>
          <a:xfrm>
            <a:off x="15344477" y="3471863"/>
            <a:ext cx="14195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MOCKUP</a:t>
            </a:r>
            <a:endParaRPr lang="en-US" sz="825" dirty="0"/>
          </a:p>
        </p:txBody>
      </p:sp>
      <p:sp>
        <p:nvSpPr>
          <p:cNvPr id="130" name="Text 126"/>
          <p:cNvSpPr/>
          <p:nvPr/>
        </p:nvSpPr>
        <p:spPr>
          <a:xfrm>
            <a:off x="13649325" y="5743575"/>
            <a:ext cx="1698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BASIS</a:t>
            </a:r>
            <a:endParaRPr lang="en-US" sz="1050" dirty="0"/>
          </a:p>
        </p:txBody>
      </p:sp>
      <p:sp>
        <p:nvSpPr>
          <p:cNvPr id="131" name="Text 127"/>
          <p:cNvSpPr/>
          <p:nvPr/>
        </p:nvSpPr>
        <p:spPr>
          <a:xfrm>
            <a:off x="13649325" y="6010275"/>
            <a:ext cx="3152329" cy="89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 visualizations let users interactively explore outputs for educational purposes.</a:t>
            </a:r>
            <a:endParaRPr lang="en-US" sz="1650" dirty="0"/>
          </a:p>
        </p:txBody>
      </p:sp>
      <p:sp>
        <p:nvSpPr>
          <p:cNvPr id="132" name="Text 128"/>
          <p:cNvSpPr/>
          <p:nvPr/>
        </p:nvSpPr>
        <p:spPr>
          <a:xfrm>
            <a:off x="13811250" y="7324725"/>
            <a:ext cx="46493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3CCF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</a:t>
            </a:r>
            <a:endParaRPr lang="en-US" sz="1200" dirty="0"/>
          </a:p>
        </p:txBody>
      </p:sp>
      <p:sp>
        <p:nvSpPr>
          <p:cNvPr id="133" name="Text 129"/>
          <p:cNvSpPr/>
          <p:nvPr/>
        </p:nvSpPr>
        <p:spPr>
          <a:xfrm>
            <a:off x="1419225" y="8324850"/>
            <a:ext cx="17137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F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APPLICATION</a:t>
            </a:r>
            <a:endParaRPr lang="en-US" sz="1200" dirty="0"/>
          </a:p>
        </p:txBody>
      </p:sp>
      <p:sp>
        <p:nvSpPr>
          <p:cNvPr id="134" name="Text 130"/>
          <p:cNvSpPr/>
          <p:nvPr/>
        </p:nvSpPr>
        <p:spPr>
          <a:xfrm>
            <a:off x="1419225" y="8639175"/>
            <a:ext cx="627310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https://neurorhythmtwin-nwpkjzcxc8rktt5slbaplg.streamlit.app/</a:t>
            </a:r>
            <a:endParaRPr lang="en-US" sz="1575" dirty="0"/>
          </a:p>
        </p:txBody>
      </p:sp>
      <p:sp>
        <p:nvSpPr>
          <p:cNvPr id="135" name="Text 131"/>
          <p:cNvSpPr/>
          <p:nvPr/>
        </p:nvSpPr>
        <p:spPr>
          <a:xfrm>
            <a:off x="1419225" y="8984903"/>
            <a:ext cx="45389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Deployed Streamlit prototype — open it to see the real interface.</a:t>
            </a:r>
            <a:endParaRPr lang="en-US" sz="1200" dirty="0"/>
          </a:p>
        </p:txBody>
      </p:sp>
      <p:sp>
        <p:nvSpPr>
          <p:cNvPr id="136" name="Text 132"/>
          <p:cNvSpPr/>
          <p:nvPr/>
        </p:nvSpPr>
        <p:spPr>
          <a:xfrm>
            <a:off x="9620250" y="8305800"/>
            <a:ext cx="24782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READING THESE MOCKUPS</a:t>
            </a:r>
            <a:endParaRPr lang="en-US" sz="1200" dirty="0"/>
          </a:p>
        </p:txBody>
      </p:sp>
      <p:sp>
        <p:nvSpPr>
          <p:cNvPr id="137" name="Text 133"/>
          <p:cNvSpPr/>
          <p:nvPr/>
        </p:nvSpPr>
        <p:spPr>
          <a:xfrm>
            <a:off x="9620250" y="8610600"/>
            <a:ext cx="6795046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screenshots supplied: panels are conceptual mockups. They show layout only — no real model outputs, values or results.</a:t>
            </a:r>
            <a:endParaRPr lang="en-US" sz="1650" dirty="0"/>
          </a:p>
        </p:txBody>
      </p:sp>
      <p:sp>
        <p:nvSpPr>
          <p:cNvPr id="138" name="Text 134"/>
          <p:cNvSpPr/>
          <p:nvPr/>
        </p:nvSpPr>
        <p:spPr>
          <a:xfrm>
            <a:off x="1143000" y="9734550"/>
            <a:ext cx="77017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 · EDUCATIONAL PROTOTYPE, NOT A MEDICAL DEVICE</a:t>
            </a:r>
            <a:endParaRPr lang="en-US" sz="1050" dirty="0"/>
          </a:p>
        </p:txBody>
      </p:sp>
      <p:sp>
        <p:nvSpPr>
          <p:cNvPr id="139" name="Text 135"/>
          <p:cNvSpPr/>
          <p:nvPr/>
        </p:nvSpPr>
        <p:spPr>
          <a:xfrm>
            <a:off x="16592996" y="9734550"/>
            <a:ext cx="5520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CCF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/ 14</a:t>
            </a:r>
            <a:endParaRPr lang="en-US" sz="1050" dirty="0"/>
          </a:p>
        </p:txBody>
      </p:sp>
      <p:sp>
        <p:nvSpPr>
          <p:cNvPr id="140" name="Text 136"/>
          <p:cNvSpPr/>
          <p:nvPr/>
        </p:nvSpPr>
        <p:spPr>
          <a:xfrm>
            <a:off x="5826472" y="4543425"/>
            <a:ext cx="386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Inputs</a:t>
            </a:r>
            <a:endParaRPr lang="en-US" sz="975" dirty="0"/>
          </a:p>
        </p:txBody>
      </p:sp>
      <p:sp>
        <p:nvSpPr>
          <p:cNvPr id="141" name="Text 137"/>
          <p:cNvSpPr/>
          <p:nvPr/>
        </p:nvSpPr>
        <p:spPr>
          <a:xfrm>
            <a:off x="6903095" y="4467225"/>
            <a:ext cx="4098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</a:t>
            </a:r>
            <a:endParaRPr lang="en-US" sz="900" dirty="0"/>
          </a:p>
        </p:txBody>
      </p:sp>
      <p:sp>
        <p:nvSpPr>
          <p:cNvPr id="142" name="Text 138"/>
          <p:cNvSpPr/>
          <p:nvPr/>
        </p:nvSpPr>
        <p:spPr>
          <a:xfrm>
            <a:off x="6908974" y="4638675"/>
            <a:ext cx="39597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NumPy</a:t>
            </a:r>
            <a:endParaRPr lang="en-US" sz="900" dirty="0"/>
          </a:p>
        </p:txBody>
      </p:sp>
      <p:sp>
        <p:nvSpPr>
          <p:cNvPr id="143" name="Text 139"/>
          <p:cNvSpPr/>
          <p:nvPr/>
        </p:nvSpPr>
        <p:spPr>
          <a:xfrm>
            <a:off x="7873380" y="4905375"/>
            <a:ext cx="69339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</a:t>
            </a:r>
            <a:endParaRPr lang="en-US" sz="750" dirty="0"/>
          </a:p>
        </p:txBody>
      </p:sp>
      <p:sp>
        <p:nvSpPr>
          <p:cNvPr id="144" name="Text 140"/>
          <p:cNvSpPr/>
          <p:nvPr/>
        </p:nvSpPr>
        <p:spPr>
          <a:xfrm>
            <a:off x="6522839" y="5276850"/>
            <a:ext cx="120372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ILLUSTRATIVE FLOW</a:t>
            </a:r>
            <a:endParaRPr lang="en-US" sz="825" dirty="0"/>
          </a:p>
        </p:txBody>
      </p:sp>
      <p:sp>
        <p:nvSpPr>
          <p:cNvPr id="145" name="Text 141"/>
          <p:cNvSpPr/>
          <p:nvPr/>
        </p:nvSpPr>
        <p:spPr>
          <a:xfrm>
            <a:off x="14399642" y="5334000"/>
            <a:ext cx="19474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CHART PLACEHOLDER · NO DATA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19250"/>
            <a:ext cx="18288000" cy="762000"/>
          </a:xfrm>
          <a:custGeom>
            <a:avLst/>
            <a:gdLst/>
            <a:ahLst/>
            <a:cxnLst/>
            <a:rect l="l" t="t" r="r" b="b"/>
            <a:pathLst>
              <a:path w="18288000" h="762000">
                <a:moveTo>
                  <a:pt x="0" y="381000"/>
                </a:moveTo>
                <a:lnTo>
                  <a:pt x="2857500" y="381000"/>
                </a:lnTo>
                <a:lnTo>
                  <a:pt x="3143250" y="381000"/>
                </a:lnTo>
                <a:lnTo>
                  <a:pt x="3333750" y="0"/>
                </a:lnTo>
                <a:lnTo>
                  <a:pt x="3619500" y="762000"/>
                </a:lnTo>
                <a:lnTo>
                  <a:pt x="3857625" y="381000"/>
                </a:lnTo>
                <a:lnTo>
                  <a:pt x="6667500" y="381000"/>
                </a:lnTo>
                <a:lnTo>
                  <a:pt x="6953250" y="381000"/>
                </a:lnTo>
                <a:lnTo>
                  <a:pt x="7143750" y="95250"/>
                </a:lnTo>
                <a:lnTo>
                  <a:pt x="7429500" y="666750"/>
                </a:lnTo>
                <a:lnTo>
                  <a:pt x="7667625" y="381000"/>
                </a:lnTo>
                <a:lnTo>
                  <a:pt x="10477500" y="381000"/>
                </a:lnTo>
                <a:lnTo>
                  <a:pt x="10763250" y="381000"/>
                </a:lnTo>
                <a:lnTo>
                  <a:pt x="10953750" y="0"/>
                </a:lnTo>
                <a:lnTo>
                  <a:pt x="11239500" y="762000"/>
                </a:lnTo>
                <a:lnTo>
                  <a:pt x="11477625" y="381000"/>
                </a:lnTo>
                <a:lnTo>
                  <a:pt x="14287500" y="381000"/>
                </a:lnTo>
                <a:lnTo>
                  <a:pt x="14573250" y="381000"/>
                </a:lnTo>
                <a:lnTo>
                  <a:pt x="14763750" y="95250"/>
                </a:lnTo>
                <a:lnTo>
                  <a:pt x="15049500" y="666750"/>
                </a:lnTo>
                <a:lnTo>
                  <a:pt x="15287625" y="381000"/>
                </a:lnTo>
                <a:lnTo>
                  <a:pt x="18288000" y="381000"/>
                </a:lnTo>
              </a:path>
            </a:pathLst>
          </a:custGeom>
          <a:ln w="28575">
            <a:solidFill>
              <a:srgbClr val="0FA3A3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6858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667000"/>
            <a:ext cx="723900" cy="514350"/>
          </a:xfrm>
          <a:prstGeom prst="rect">
            <a:avLst/>
          </a:prstGeom>
          <a:ln/>
        </p:spPr>
      </p:sp>
      <p:sp>
        <p:nvSpPr>
          <p:cNvPr id="5" name="Shape 3"/>
          <p:cNvSpPr/>
          <p:nvPr/>
        </p:nvSpPr>
        <p:spPr>
          <a:xfrm>
            <a:off x="1143000" y="3162300"/>
            <a:ext cx="7239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" name="Shape 4"/>
          <p:cNvSpPr/>
          <p:nvPr/>
        </p:nvSpPr>
        <p:spPr>
          <a:xfrm>
            <a:off x="1866900" y="2667000"/>
            <a:ext cx="1905000" cy="51435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1866900" y="3162300"/>
            <a:ext cx="19050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8" name="Shape 6"/>
          <p:cNvSpPr/>
          <p:nvPr/>
        </p:nvSpPr>
        <p:spPr>
          <a:xfrm>
            <a:off x="3771900" y="2667000"/>
            <a:ext cx="3238500" cy="514350"/>
          </a:xfrm>
          <a:prstGeom prst="rect">
            <a:avLst/>
          </a:prstGeom>
          <a:ln/>
        </p:spPr>
      </p:sp>
      <p:sp>
        <p:nvSpPr>
          <p:cNvPr id="9" name="Shape 7"/>
          <p:cNvSpPr/>
          <p:nvPr/>
        </p:nvSpPr>
        <p:spPr>
          <a:xfrm>
            <a:off x="3771900" y="3162300"/>
            <a:ext cx="32385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0" name="Shape 8"/>
          <p:cNvSpPr/>
          <p:nvPr/>
        </p:nvSpPr>
        <p:spPr>
          <a:xfrm>
            <a:off x="7010400" y="2667000"/>
            <a:ext cx="2419350" cy="51435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7010400" y="3162300"/>
            <a:ext cx="241935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2" name="Shape 10"/>
          <p:cNvSpPr/>
          <p:nvPr/>
        </p:nvSpPr>
        <p:spPr>
          <a:xfrm>
            <a:off x="9429750" y="2667000"/>
            <a:ext cx="1619250" cy="514350"/>
          </a:xfrm>
          <a:prstGeom prst="rect">
            <a:avLst/>
          </a:prstGeom>
          <a:ln/>
        </p:spPr>
      </p:sp>
      <p:sp>
        <p:nvSpPr>
          <p:cNvPr id="13" name="Shape 11"/>
          <p:cNvSpPr/>
          <p:nvPr/>
        </p:nvSpPr>
        <p:spPr>
          <a:xfrm>
            <a:off x="9429750" y="3162300"/>
            <a:ext cx="161925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3181350"/>
            <a:ext cx="723900" cy="762000"/>
          </a:xfrm>
          <a:prstGeom prst="rect">
            <a:avLst/>
          </a:prstGeom>
          <a:ln/>
        </p:spPr>
      </p:sp>
      <p:sp>
        <p:nvSpPr>
          <p:cNvPr id="15" name="Shape 13"/>
          <p:cNvSpPr/>
          <p:nvPr/>
        </p:nvSpPr>
        <p:spPr>
          <a:xfrm>
            <a:off x="1143000" y="3933825"/>
            <a:ext cx="723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14450" y="3374231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20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3181350"/>
            <a:ext cx="1905000" cy="762000"/>
          </a:xfrm>
          <a:prstGeom prst="rect">
            <a:avLst/>
          </a:prstGeom>
          <a:ln/>
        </p:spPr>
      </p:sp>
      <p:sp>
        <p:nvSpPr>
          <p:cNvPr id="18" name="Shape 16"/>
          <p:cNvSpPr/>
          <p:nvPr/>
        </p:nvSpPr>
        <p:spPr>
          <a:xfrm>
            <a:off x="1866900" y="3933825"/>
            <a:ext cx="190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71900" y="3181350"/>
            <a:ext cx="3238500" cy="762000"/>
          </a:xfrm>
          <a:prstGeom prst="rect">
            <a:avLst/>
          </a:prstGeom>
          <a:ln/>
        </p:spPr>
      </p:sp>
      <p:sp>
        <p:nvSpPr>
          <p:cNvPr id="20" name="Shape 18"/>
          <p:cNvSpPr/>
          <p:nvPr/>
        </p:nvSpPr>
        <p:spPr>
          <a:xfrm>
            <a:off x="3771900" y="3933825"/>
            <a:ext cx="323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10400" y="3181350"/>
            <a:ext cx="2419350" cy="762000"/>
          </a:xfrm>
          <a:prstGeom prst="rect">
            <a:avLst/>
          </a:prstGeom>
          <a:ln/>
        </p:spPr>
      </p:sp>
      <p:sp>
        <p:nvSpPr>
          <p:cNvPr id="22" name="Shape 20"/>
          <p:cNvSpPr/>
          <p:nvPr/>
        </p:nvSpPr>
        <p:spPr>
          <a:xfrm>
            <a:off x="7010400" y="3933825"/>
            <a:ext cx="2419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429750" y="3181350"/>
            <a:ext cx="1619250" cy="762000"/>
          </a:xfrm>
          <a:prstGeom prst="rect">
            <a:avLst/>
          </a:prstGeom>
          <a:ln/>
        </p:spPr>
      </p:sp>
      <p:sp>
        <p:nvSpPr>
          <p:cNvPr id="24" name="Shape 22"/>
          <p:cNvSpPr/>
          <p:nvPr/>
        </p:nvSpPr>
        <p:spPr>
          <a:xfrm>
            <a:off x="9429750" y="3933825"/>
            <a:ext cx="1619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0" y="3393281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3943350"/>
            <a:ext cx="7239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695825"/>
            <a:ext cx="723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4133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20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6900" y="3943350"/>
            <a:ext cx="19050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66900" y="4695825"/>
            <a:ext cx="190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71900" y="3943350"/>
            <a:ext cx="32385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71900" y="4695825"/>
            <a:ext cx="323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010400" y="3943350"/>
            <a:ext cx="241935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010400" y="4695825"/>
            <a:ext cx="2419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429750" y="3943350"/>
            <a:ext cx="161925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429750" y="4695825"/>
            <a:ext cx="1619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601200" y="4152900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38" name="Shape 36"/>
          <p:cNvSpPr/>
          <p:nvPr/>
        </p:nvSpPr>
        <p:spPr>
          <a:xfrm>
            <a:off x="1143000" y="4705350"/>
            <a:ext cx="723900" cy="762000"/>
          </a:xfrm>
          <a:prstGeom prst="rect">
            <a:avLst/>
          </a:prstGeom>
          <a:ln/>
        </p:spPr>
      </p:sp>
      <p:sp>
        <p:nvSpPr>
          <p:cNvPr id="39" name="Shape 37"/>
          <p:cNvSpPr/>
          <p:nvPr/>
        </p:nvSpPr>
        <p:spPr>
          <a:xfrm>
            <a:off x="1143000" y="5457825"/>
            <a:ext cx="723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4895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20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4705350"/>
            <a:ext cx="1905000" cy="762000"/>
          </a:xfrm>
          <a:prstGeom prst="rect">
            <a:avLst/>
          </a:prstGeom>
          <a:ln/>
        </p:spPr>
      </p:sp>
      <p:sp>
        <p:nvSpPr>
          <p:cNvPr id="42" name="Shape 40"/>
          <p:cNvSpPr/>
          <p:nvPr/>
        </p:nvSpPr>
        <p:spPr>
          <a:xfrm>
            <a:off x="1866900" y="5457825"/>
            <a:ext cx="190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771900" y="4705350"/>
            <a:ext cx="3238500" cy="762000"/>
          </a:xfrm>
          <a:prstGeom prst="rect">
            <a:avLst/>
          </a:prstGeom>
          <a:ln/>
        </p:spPr>
      </p:sp>
      <p:sp>
        <p:nvSpPr>
          <p:cNvPr id="44" name="Shape 42"/>
          <p:cNvSpPr/>
          <p:nvPr/>
        </p:nvSpPr>
        <p:spPr>
          <a:xfrm>
            <a:off x="3771900" y="5457825"/>
            <a:ext cx="323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593110" y="5124450"/>
            <a:ext cx="612874" cy="205680"/>
          </a:xfrm>
          <a:prstGeom prst="roundRect">
            <a:avLst>
              <a:gd name="adj" fmla="val 27786"/>
            </a:avLst>
          </a:prstGeom>
          <a:ln w="9525">
            <a:solidFill>
              <a:srgbClr val="8B7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10400" y="4705350"/>
            <a:ext cx="2419350" cy="762000"/>
          </a:xfrm>
          <a:prstGeom prst="rect">
            <a:avLst/>
          </a:prstGeom>
          <a:ln/>
        </p:spPr>
      </p:sp>
      <p:sp>
        <p:nvSpPr>
          <p:cNvPr id="47" name="Shape 45"/>
          <p:cNvSpPr/>
          <p:nvPr/>
        </p:nvSpPr>
        <p:spPr>
          <a:xfrm>
            <a:off x="7010400" y="5457825"/>
            <a:ext cx="2419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29750" y="4705350"/>
            <a:ext cx="1619250" cy="762000"/>
          </a:xfrm>
          <a:prstGeom prst="rect">
            <a:avLst/>
          </a:prstGeom>
          <a:ln/>
        </p:spPr>
      </p:sp>
      <p:sp>
        <p:nvSpPr>
          <p:cNvPr id="49" name="Shape 47"/>
          <p:cNvSpPr/>
          <p:nvPr/>
        </p:nvSpPr>
        <p:spPr>
          <a:xfrm>
            <a:off x="9429750" y="5457825"/>
            <a:ext cx="1619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601200" y="4914900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51" name="Shape 49"/>
          <p:cNvSpPr/>
          <p:nvPr/>
        </p:nvSpPr>
        <p:spPr>
          <a:xfrm>
            <a:off x="1143000" y="5467350"/>
            <a:ext cx="7239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43000" y="6219825"/>
            <a:ext cx="723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314450" y="5657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20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66900" y="5467350"/>
            <a:ext cx="19050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866900" y="6219825"/>
            <a:ext cx="190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771900" y="5467350"/>
            <a:ext cx="32385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771900" y="6219825"/>
            <a:ext cx="323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10400" y="5467350"/>
            <a:ext cx="241935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010400" y="6219825"/>
            <a:ext cx="2419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29750" y="5467350"/>
            <a:ext cx="161925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29750" y="6219825"/>
            <a:ext cx="1619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01200" y="5676900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63" name="Shape 61"/>
          <p:cNvSpPr/>
          <p:nvPr/>
        </p:nvSpPr>
        <p:spPr>
          <a:xfrm>
            <a:off x="1143000" y="6229350"/>
            <a:ext cx="723900" cy="762000"/>
          </a:xfrm>
          <a:prstGeom prst="rect">
            <a:avLst/>
          </a:prstGeom>
          <a:ln/>
        </p:spPr>
      </p:sp>
      <p:sp>
        <p:nvSpPr>
          <p:cNvPr id="64" name="Shape 62"/>
          <p:cNvSpPr/>
          <p:nvPr/>
        </p:nvSpPr>
        <p:spPr>
          <a:xfrm>
            <a:off x="1143000" y="6981825"/>
            <a:ext cx="723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314450" y="6419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20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66900" y="6229350"/>
            <a:ext cx="1905000" cy="762000"/>
          </a:xfrm>
          <a:prstGeom prst="rect">
            <a:avLst/>
          </a:prstGeom>
          <a:ln/>
        </p:spPr>
      </p:sp>
      <p:sp>
        <p:nvSpPr>
          <p:cNvPr id="67" name="Shape 65"/>
          <p:cNvSpPr/>
          <p:nvPr/>
        </p:nvSpPr>
        <p:spPr>
          <a:xfrm>
            <a:off x="1866900" y="6981825"/>
            <a:ext cx="190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771900" y="6229350"/>
            <a:ext cx="3238500" cy="762000"/>
          </a:xfrm>
          <a:prstGeom prst="rect">
            <a:avLst/>
          </a:prstGeom>
          <a:ln/>
        </p:spPr>
      </p:sp>
      <p:sp>
        <p:nvSpPr>
          <p:cNvPr id="69" name="Shape 67"/>
          <p:cNvSpPr/>
          <p:nvPr/>
        </p:nvSpPr>
        <p:spPr>
          <a:xfrm>
            <a:off x="3771900" y="6981825"/>
            <a:ext cx="323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010400" y="6229350"/>
            <a:ext cx="2419350" cy="762000"/>
          </a:xfrm>
          <a:prstGeom prst="rect">
            <a:avLst/>
          </a:prstGeom>
          <a:ln/>
        </p:spPr>
      </p:sp>
      <p:sp>
        <p:nvSpPr>
          <p:cNvPr id="71" name="Shape 69"/>
          <p:cNvSpPr/>
          <p:nvPr/>
        </p:nvSpPr>
        <p:spPr>
          <a:xfrm>
            <a:off x="7010400" y="6981825"/>
            <a:ext cx="2419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29750" y="6229350"/>
            <a:ext cx="1619250" cy="762000"/>
          </a:xfrm>
          <a:prstGeom prst="rect">
            <a:avLst/>
          </a:prstGeom>
          <a:ln/>
        </p:spPr>
      </p:sp>
      <p:sp>
        <p:nvSpPr>
          <p:cNvPr id="73" name="Shape 71"/>
          <p:cNvSpPr/>
          <p:nvPr/>
        </p:nvSpPr>
        <p:spPr>
          <a:xfrm>
            <a:off x="9429750" y="6981825"/>
            <a:ext cx="1619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601200" y="6438900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75" name="Shape 73"/>
          <p:cNvSpPr/>
          <p:nvPr/>
        </p:nvSpPr>
        <p:spPr>
          <a:xfrm>
            <a:off x="1143000" y="6991350"/>
            <a:ext cx="7239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143000" y="7743825"/>
            <a:ext cx="723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314450" y="7181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20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66900" y="6991350"/>
            <a:ext cx="19050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866900" y="7743825"/>
            <a:ext cx="190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771900" y="6991350"/>
            <a:ext cx="323850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3771900" y="7743825"/>
            <a:ext cx="323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7010400" y="6991350"/>
            <a:ext cx="241935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010400" y="7743825"/>
            <a:ext cx="2419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429750" y="6991350"/>
            <a:ext cx="1619250" cy="762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9429750" y="7743825"/>
            <a:ext cx="1619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601200" y="7200900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87" name="Shape 85"/>
          <p:cNvSpPr/>
          <p:nvPr/>
        </p:nvSpPr>
        <p:spPr>
          <a:xfrm>
            <a:off x="1143000" y="7753350"/>
            <a:ext cx="723900" cy="762000"/>
          </a:xfrm>
          <a:prstGeom prst="rect">
            <a:avLst/>
          </a:prstGeom>
          <a:ln/>
        </p:spPr>
      </p:sp>
      <p:sp>
        <p:nvSpPr>
          <p:cNvPr id="88" name="Shape 86"/>
          <p:cNvSpPr/>
          <p:nvPr/>
        </p:nvSpPr>
        <p:spPr>
          <a:xfrm>
            <a:off x="1143000" y="8505825"/>
            <a:ext cx="7239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314450" y="7943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A3A3">
              <a:alpha val="20000"/>
            </a:srgbClr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866900" y="7753350"/>
            <a:ext cx="1905000" cy="762000"/>
          </a:xfrm>
          <a:prstGeom prst="rect">
            <a:avLst/>
          </a:prstGeom>
          <a:ln/>
        </p:spPr>
      </p:sp>
      <p:sp>
        <p:nvSpPr>
          <p:cNvPr id="91" name="Shape 89"/>
          <p:cNvSpPr/>
          <p:nvPr/>
        </p:nvSpPr>
        <p:spPr>
          <a:xfrm>
            <a:off x="1866900" y="8505825"/>
            <a:ext cx="190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771900" y="7753350"/>
            <a:ext cx="3238500" cy="762000"/>
          </a:xfrm>
          <a:prstGeom prst="rect">
            <a:avLst/>
          </a:prstGeom>
          <a:ln/>
        </p:spPr>
      </p:sp>
      <p:sp>
        <p:nvSpPr>
          <p:cNvPr id="93" name="Shape 91"/>
          <p:cNvSpPr/>
          <p:nvPr/>
        </p:nvSpPr>
        <p:spPr>
          <a:xfrm>
            <a:off x="3771900" y="8505825"/>
            <a:ext cx="323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7010400" y="7753350"/>
            <a:ext cx="2419350" cy="762000"/>
          </a:xfrm>
          <a:prstGeom prst="rect">
            <a:avLst/>
          </a:prstGeom>
          <a:ln/>
        </p:spPr>
      </p:sp>
      <p:sp>
        <p:nvSpPr>
          <p:cNvPr id="95" name="Shape 93"/>
          <p:cNvSpPr/>
          <p:nvPr/>
        </p:nvSpPr>
        <p:spPr>
          <a:xfrm>
            <a:off x="7010400" y="8505825"/>
            <a:ext cx="24193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9429750" y="7753350"/>
            <a:ext cx="1619250" cy="762000"/>
          </a:xfrm>
          <a:prstGeom prst="rect">
            <a:avLst/>
          </a:prstGeom>
          <a:ln/>
        </p:spPr>
      </p:sp>
      <p:sp>
        <p:nvSpPr>
          <p:cNvPr id="97" name="Shape 95"/>
          <p:cNvSpPr/>
          <p:nvPr/>
        </p:nvSpPr>
        <p:spPr>
          <a:xfrm>
            <a:off x="9429750" y="8505825"/>
            <a:ext cx="1619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601200" y="7962900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99" name="Shape 97"/>
          <p:cNvSpPr/>
          <p:nvPr/>
        </p:nvSpPr>
        <p:spPr>
          <a:xfrm>
            <a:off x="11430000" y="2667000"/>
            <a:ext cx="5715000" cy="3105150"/>
          </a:xfrm>
          <a:prstGeom prst="roundRect">
            <a:avLst>
              <a:gd name="adj" fmla="val 4294"/>
            </a:avLst>
          </a:prstGeom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5520243" y="2933700"/>
            <a:ext cx="1319957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30000" y="5962650"/>
            <a:ext cx="5715000" cy="2552700"/>
          </a:xfrm>
          <a:prstGeom prst="roundRect">
            <a:avLst>
              <a:gd name="adj" fmla="val 522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1430000" y="5962650"/>
            <a:ext cx="5715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7135475" y="5962650"/>
            <a:ext cx="9525" cy="25527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1430000" y="8505825"/>
            <a:ext cx="5715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1430000" y="5962650"/>
            <a:ext cx="9525" cy="25527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5212020" y="6248400"/>
            <a:ext cx="1637705" cy="3429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43000" y="8743950"/>
            <a:ext cx="16002000" cy="590550"/>
          </a:xfrm>
          <a:prstGeom prst="roundRect">
            <a:avLst>
              <a:gd name="adj" fmla="val 16129"/>
            </a:avLst>
          </a:prstGeom>
          <a:solidFill>
            <a:srgbClr val="0FA3A3">
              <a:alpha val="14000"/>
            </a:srgbClr>
          </a:solidFill>
          <a:ln w="9525">
            <a:solidFill>
              <a:srgbClr val="0FA3A3">
                <a:alpha val="45000"/>
              </a:srgbClr>
            </a:solidFill>
            <a:prstDash val="solid"/>
          </a:ln>
        </p:spPr>
      </p:sp>
      <p:pic>
        <p:nvPicPr>
          <p:cNvPr id="10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0" y="3038475"/>
            <a:ext cx="6067425" cy="5143500"/>
          </a:xfrm>
          <a:prstGeom prst="rect">
            <a:avLst/>
          </a:prstGeom>
        </p:spPr>
      </p:pic>
      <p:sp>
        <p:nvSpPr>
          <p:cNvPr id="109" name="Text 106"/>
          <p:cNvSpPr/>
          <p:nvPr/>
        </p:nvSpPr>
        <p:spPr>
          <a:xfrm>
            <a:off x="1143000" y="914400"/>
            <a:ext cx="46776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PROTOTYPE STATUS · IMPLEMENTED VS. PLANNED</a:t>
            </a:r>
            <a:endParaRPr lang="en-US" sz="1200" dirty="0"/>
          </a:p>
        </p:txBody>
      </p:sp>
      <p:sp>
        <p:nvSpPr>
          <p:cNvPr id="110" name="Text 107"/>
          <p:cNvSpPr/>
          <p:nvPr/>
        </p:nvSpPr>
        <p:spPr>
          <a:xfrm>
            <a:off x="12685365" y="914400"/>
            <a:ext cx="44596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</a:t>
            </a:r>
            <a:endParaRPr lang="en-US" sz="1200" dirty="0"/>
          </a:p>
        </p:txBody>
      </p:sp>
      <p:sp>
        <p:nvSpPr>
          <p:cNvPr id="111" name="Text 108"/>
          <p:cNvSpPr/>
          <p:nvPr/>
        </p:nvSpPr>
        <p:spPr>
          <a:xfrm>
            <a:off x="1143000" y="1200150"/>
            <a:ext cx="13698289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350" b="1" spc="-8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Prototype Status: Implemented Components</a:t>
            </a:r>
            <a:endParaRPr lang="en-US" sz="4350" dirty="0"/>
          </a:p>
        </p:txBody>
      </p:sp>
      <p:sp>
        <p:nvSpPr>
          <p:cNvPr id="112" name="Text 109"/>
          <p:cNvSpPr/>
          <p:nvPr/>
        </p:nvSpPr>
        <p:spPr>
          <a:xfrm>
            <a:off x="1143000" y="2019300"/>
            <a:ext cx="122985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Seven components have been part of the project — shown solid; planned improvements are shown dashed.</a:t>
            </a:r>
            <a:endParaRPr lang="en-US" sz="1950" dirty="0"/>
          </a:p>
        </p:txBody>
      </p:sp>
      <p:sp>
        <p:nvSpPr>
          <p:cNvPr id="113" name="Text 110"/>
          <p:cNvSpPr/>
          <p:nvPr/>
        </p:nvSpPr>
        <p:spPr>
          <a:xfrm>
            <a:off x="1314450" y="2828925"/>
            <a:ext cx="166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</a:t>
            </a:r>
            <a:endParaRPr lang="en-US" sz="1200" dirty="0"/>
          </a:p>
        </p:txBody>
      </p:sp>
      <p:sp>
        <p:nvSpPr>
          <p:cNvPr id="114" name="Text 111"/>
          <p:cNvSpPr/>
          <p:nvPr/>
        </p:nvSpPr>
        <p:spPr>
          <a:xfrm>
            <a:off x="2038350" y="2828925"/>
            <a:ext cx="65543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</a:t>
            </a:r>
            <a:endParaRPr lang="en-US" sz="1200" dirty="0"/>
          </a:p>
        </p:txBody>
      </p:sp>
      <p:sp>
        <p:nvSpPr>
          <p:cNvPr id="115" name="Text 112"/>
          <p:cNvSpPr/>
          <p:nvPr/>
        </p:nvSpPr>
        <p:spPr>
          <a:xfrm>
            <a:off x="3943350" y="2828925"/>
            <a:ext cx="11885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116" name="Text 113"/>
          <p:cNvSpPr/>
          <p:nvPr/>
        </p:nvSpPr>
        <p:spPr>
          <a:xfrm>
            <a:off x="7181850" y="2828925"/>
            <a:ext cx="19023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 IN PROTOTYPE</a:t>
            </a:r>
            <a:endParaRPr lang="en-US" sz="1200" dirty="0"/>
          </a:p>
        </p:txBody>
      </p:sp>
      <p:sp>
        <p:nvSpPr>
          <p:cNvPr id="117" name="Text 114"/>
          <p:cNvSpPr/>
          <p:nvPr/>
        </p:nvSpPr>
        <p:spPr>
          <a:xfrm>
            <a:off x="9601200" y="2828925"/>
            <a:ext cx="7267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</a:t>
            </a:r>
            <a:endParaRPr lang="en-US" sz="1200" dirty="0"/>
          </a:p>
        </p:txBody>
      </p:sp>
      <p:sp>
        <p:nvSpPr>
          <p:cNvPr id="118" name="Text 115"/>
          <p:cNvSpPr/>
          <p:nvPr/>
        </p:nvSpPr>
        <p:spPr>
          <a:xfrm>
            <a:off x="1451670" y="3453259"/>
            <a:ext cx="106412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350" dirty="0"/>
          </a:p>
        </p:txBody>
      </p:sp>
      <p:sp>
        <p:nvSpPr>
          <p:cNvPr id="119" name="Text 116"/>
          <p:cNvSpPr/>
          <p:nvPr/>
        </p:nvSpPr>
        <p:spPr>
          <a:xfrm>
            <a:off x="2038350" y="3419029"/>
            <a:ext cx="16963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650" dirty="0"/>
          </a:p>
        </p:txBody>
      </p:sp>
      <p:sp>
        <p:nvSpPr>
          <p:cNvPr id="120" name="Text 117"/>
          <p:cNvSpPr/>
          <p:nvPr/>
        </p:nvSpPr>
        <p:spPr>
          <a:xfrm>
            <a:off x="3943350" y="3419029"/>
            <a:ext cx="20466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application</a:t>
            </a:r>
            <a:endParaRPr lang="en-US" sz="1650" dirty="0"/>
          </a:p>
        </p:txBody>
      </p:sp>
      <p:sp>
        <p:nvSpPr>
          <p:cNvPr id="121" name="Text 118"/>
          <p:cNvSpPr/>
          <p:nvPr/>
        </p:nvSpPr>
        <p:spPr>
          <a:xfrm>
            <a:off x="7181850" y="3419029"/>
            <a:ext cx="199489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interface</a:t>
            </a:r>
            <a:endParaRPr lang="en-US" sz="1650" dirty="0"/>
          </a:p>
        </p:txBody>
      </p:sp>
      <p:sp>
        <p:nvSpPr>
          <p:cNvPr id="122" name="Text 119"/>
          <p:cNvSpPr/>
          <p:nvPr/>
        </p:nvSpPr>
        <p:spPr>
          <a:xfrm>
            <a:off x="9944100" y="3478113"/>
            <a:ext cx="11424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1451670" y="4212878"/>
            <a:ext cx="106412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350" dirty="0"/>
          </a:p>
        </p:txBody>
      </p:sp>
      <p:sp>
        <p:nvSpPr>
          <p:cNvPr id="124" name="Text 121"/>
          <p:cNvSpPr/>
          <p:nvPr/>
        </p:nvSpPr>
        <p:spPr>
          <a:xfrm>
            <a:off x="2038350" y="4178647"/>
            <a:ext cx="16963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650" dirty="0"/>
          </a:p>
        </p:txBody>
      </p:sp>
      <p:sp>
        <p:nvSpPr>
          <p:cNvPr id="125" name="Text 122"/>
          <p:cNvSpPr/>
          <p:nvPr/>
        </p:nvSpPr>
        <p:spPr>
          <a:xfrm>
            <a:off x="3943350" y="4178647"/>
            <a:ext cx="26920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Python-based project code</a:t>
            </a:r>
            <a:endParaRPr lang="en-US" sz="1650" dirty="0"/>
          </a:p>
        </p:txBody>
      </p:sp>
      <p:sp>
        <p:nvSpPr>
          <p:cNvPr id="126" name="Text 123"/>
          <p:cNvSpPr/>
          <p:nvPr/>
        </p:nvSpPr>
        <p:spPr>
          <a:xfrm>
            <a:off x="7181850" y="4178647"/>
            <a:ext cx="170586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language</a:t>
            </a:r>
            <a:endParaRPr lang="en-US" sz="1650" dirty="0"/>
          </a:p>
        </p:txBody>
      </p:sp>
      <p:sp>
        <p:nvSpPr>
          <p:cNvPr id="127" name="Text 124"/>
          <p:cNvSpPr/>
          <p:nvPr/>
        </p:nvSpPr>
        <p:spPr>
          <a:xfrm>
            <a:off x="9944100" y="4237732"/>
            <a:ext cx="11424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28" name="Text 125"/>
          <p:cNvSpPr/>
          <p:nvPr/>
        </p:nvSpPr>
        <p:spPr>
          <a:xfrm>
            <a:off x="1451670" y="4974878"/>
            <a:ext cx="106412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350" dirty="0"/>
          </a:p>
        </p:txBody>
      </p:sp>
      <p:sp>
        <p:nvSpPr>
          <p:cNvPr id="129" name="Text 126"/>
          <p:cNvSpPr/>
          <p:nvPr/>
        </p:nvSpPr>
        <p:spPr>
          <a:xfrm>
            <a:off x="2038350" y="4940647"/>
            <a:ext cx="16963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650" dirty="0"/>
          </a:p>
        </p:txBody>
      </p:sp>
      <p:sp>
        <p:nvSpPr>
          <p:cNvPr id="130" name="Text 127"/>
          <p:cNvSpPr/>
          <p:nvPr/>
        </p:nvSpPr>
        <p:spPr>
          <a:xfrm>
            <a:off x="3943350" y="4804470"/>
            <a:ext cx="2157859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 model implementation</a:t>
            </a:r>
            <a:pPr algn="l" indent="0" marL="0">
              <a:lnSpc>
                <a:spcPts val="2145"/>
              </a:lnSpc>
              <a:buNone/>
            </a:pPr>
            <a:r>
              <a:rPr lang="en-US" sz="900" b="1" spc="126" kern="0" dirty="0">
                <a:solidFill>
                  <a:srgbClr val="8B7C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AI/ML</a:t>
            </a:r>
            <a:endParaRPr lang="en-US" sz="1650" dirty="0"/>
          </a:p>
        </p:txBody>
      </p:sp>
      <p:sp>
        <p:nvSpPr>
          <p:cNvPr id="131" name="Text 128"/>
          <p:cNvSpPr/>
          <p:nvPr/>
        </p:nvSpPr>
        <p:spPr>
          <a:xfrm>
            <a:off x="7181850" y="4940647"/>
            <a:ext cx="15815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inference</a:t>
            </a:r>
            <a:endParaRPr lang="en-US" sz="1650" dirty="0"/>
          </a:p>
        </p:txBody>
      </p:sp>
      <p:sp>
        <p:nvSpPr>
          <p:cNvPr id="132" name="Text 129"/>
          <p:cNvSpPr/>
          <p:nvPr/>
        </p:nvSpPr>
        <p:spPr>
          <a:xfrm>
            <a:off x="9944100" y="4999732"/>
            <a:ext cx="11424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1451670" y="5736878"/>
            <a:ext cx="106412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350" dirty="0"/>
          </a:p>
        </p:txBody>
      </p:sp>
      <p:sp>
        <p:nvSpPr>
          <p:cNvPr id="134" name="Text 131"/>
          <p:cNvSpPr/>
          <p:nvPr/>
        </p:nvSpPr>
        <p:spPr>
          <a:xfrm>
            <a:off x="2038350" y="5566470"/>
            <a:ext cx="1550640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98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&amp; PROCESSING</a:t>
            </a:r>
            <a:endParaRPr lang="en-US" sz="1650" dirty="0"/>
          </a:p>
        </p:txBody>
      </p:sp>
      <p:sp>
        <p:nvSpPr>
          <p:cNvPr id="135" name="Text 132"/>
          <p:cNvSpPr/>
          <p:nvPr/>
        </p:nvSpPr>
        <p:spPr>
          <a:xfrm>
            <a:off x="3943350" y="5702647"/>
            <a:ext cx="27290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 historical dataset</a:t>
            </a:r>
            <a:endParaRPr lang="en-US" sz="1650" dirty="0"/>
          </a:p>
        </p:txBody>
      </p:sp>
      <p:sp>
        <p:nvSpPr>
          <p:cNvPr id="136" name="Text 133"/>
          <p:cNvSpPr/>
          <p:nvPr/>
        </p:nvSpPr>
        <p:spPr>
          <a:xfrm>
            <a:off x="7181850" y="5566470"/>
            <a:ext cx="1395710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Synthetic, not patient data</a:t>
            </a:r>
            <a:endParaRPr lang="en-US" sz="1650" dirty="0"/>
          </a:p>
        </p:txBody>
      </p:sp>
      <p:sp>
        <p:nvSpPr>
          <p:cNvPr id="137" name="Text 134"/>
          <p:cNvSpPr/>
          <p:nvPr/>
        </p:nvSpPr>
        <p:spPr>
          <a:xfrm>
            <a:off x="9944100" y="5761732"/>
            <a:ext cx="11424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38" name="Text 135"/>
          <p:cNvSpPr/>
          <p:nvPr/>
        </p:nvSpPr>
        <p:spPr>
          <a:xfrm>
            <a:off x="1451670" y="6498878"/>
            <a:ext cx="106412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350" dirty="0"/>
          </a:p>
        </p:txBody>
      </p:sp>
      <p:sp>
        <p:nvSpPr>
          <p:cNvPr id="139" name="Text 136"/>
          <p:cNvSpPr/>
          <p:nvPr/>
        </p:nvSpPr>
        <p:spPr>
          <a:xfrm>
            <a:off x="2038350" y="6328470"/>
            <a:ext cx="1550640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98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&amp; PROCESSING</a:t>
            </a:r>
            <a:endParaRPr lang="en-US" sz="1650" dirty="0"/>
          </a:p>
        </p:txBody>
      </p:sp>
      <p:sp>
        <p:nvSpPr>
          <p:cNvPr id="140" name="Text 137"/>
          <p:cNvSpPr/>
          <p:nvPr/>
        </p:nvSpPr>
        <p:spPr>
          <a:xfrm>
            <a:off x="3943350" y="6328470"/>
            <a:ext cx="2362349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 and NumPy data processing</a:t>
            </a:r>
            <a:endParaRPr lang="en-US" sz="1650" dirty="0"/>
          </a:p>
        </p:txBody>
      </p:sp>
      <p:sp>
        <p:nvSpPr>
          <p:cNvPr id="141" name="Text 138"/>
          <p:cNvSpPr/>
          <p:nvPr/>
        </p:nvSpPr>
        <p:spPr>
          <a:xfrm>
            <a:off x="7181850" y="6328470"/>
            <a:ext cx="1186904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&amp; data handling</a:t>
            </a:r>
            <a:endParaRPr lang="en-US" sz="1650" dirty="0"/>
          </a:p>
        </p:txBody>
      </p:sp>
      <p:sp>
        <p:nvSpPr>
          <p:cNvPr id="142" name="Text 139"/>
          <p:cNvSpPr/>
          <p:nvPr/>
        </p:nvSpPr>
        <p:spPr>
          <a:xfrm>
            <a:off x="9944100" y="6523732"/>
            <a:ext cx="11424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1451670" y="7260878"/>
            <a:ext cx="106412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1350" dirty="0"/>
          </a:p>
        </p:txBody>
      </p:sp>
      <p:sp>
        <p:nvSpPr>
          <p:cNvPr id="144" name="Text 141"/>
          <p:cNvSpPr/>
          <p:nvPr/>
        </p:nvSpPr>
        <p:spPr>
          <a:xfrm>
            <a:off x="2038350" y="7090470"/>
            <a:ext cx="1550640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98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&amp; PROCESSING</a:t>
            </a:r>
            <a:endParaRPr lang="en-US" sz="1650" dirty="0"/>
          </a:p>
        </p:txBody>
      </p:sp>
      <p:sp>
        <p:nvSpPr>
          <p:cNvPr id="145" name="Text 142"/>
          <p:cNvSpPr/>
          <p:nvPr/>
        </p:nvSpPr>
        <p:spPr>
          <a:xfrm>
            <a:off x="3943350" y="7226647"/>
            <a:ext cx="1946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 visualizations</a:t>
            </a:r>
            <a:endParaRPr lang="en-US" sz="1650" dirty="0"/>
          </a:p>
        </p:txBody>
      </p:sp>
      <p:sp>
        <p:nvSpPr>
          <p:cNvPr id="146" name="Text 143"/>
          <p:cNvSpPr/>
          <p:nvPr/>
        </p:nvSpPr>
        <p:spPr>
          <a:xfrm>
            <a:off x="7181850" y="7090470"/>
            <a:ext cx="1781026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output charts</a:t>
            </a:r>
            <a:endParaRPr lang="en-US" sz="1650" dirty="0"/>
          </a:p>
        </p:txBody>
      </p:sp>
      <p:sp>
        <p:nvSpPr>
          <p:cNvPr id="147" name="Text 144"/>
          <p:cNvSpPr/>
          <p:nvPr/>
        </p:nvSpPr>
        <p:spPr>
          <a:xfrm>
            <a:off x="9944100" y="7285732"/>
            <a:ext cx="11424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48" name="Text 145"/>
          <p:cNvSpPr/>
          <p:nvPr/>
        </p:nvSpPr>
        <p:spPr>
          <a:xfrm>
            <a:off x="1451670" y="8022878"/>
            <a:ext cx="106412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1350" dirty="0"/>
          </a:p>
        </p:txBody>
      </p:sp>
      <p:sp>
        <p:nvSpPr>
          <p:cNvPr id="149" name="Text 146"/>
          <p:cNvSpPr/>
          <p:nvPr/>
        </p:nvSpPr>
        <p:spPr>
          <a:xfrm>
            <a:off x="2038350" y="7852470"/>
            <a:ext cx="1148655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98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 CONTROL</a:t>
            </a:r>
            <a:endParaRPr lang="en-US" sz="1650" dirty="0"/>
          </a:p>
        </p:txBody>
      </p:sp>
      <p:sp>
        <p:nvSpPr>
          <p:cNvPr id="150" name="Text 147"/>
          <p:cNvSpPr/>
          <p:nvPr/>
        </p:nvSpPr>
        <p:spPr>
          <a:xfrm>
            <a:off x="3943350" y="7988647"/>
            <a:ext cx="17348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 repository</a:t>
            </a:r>
            <a:endParaRPr lang="en-US" sz="1650" dirty="0"/>
          </a:p>
        </p:txBody>
      </p:sp>
      <p:sp>
        <p:nvSpPr>
          <p:cNvPr id="151" name="Text 148"/>
          <p:cNvSpPr/>
          <p:nvPr/>
        </p:nvSpPr>
        <p:spPr>
          <a:xfrm>
            <a:off x="7181850" y="7988647"/>
            <a:ext cx="19642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 source code</a:t>
            </a:r>
            <a:endParaRPr lang="en-US" sz="1650" dirty="0"/>
          </a:p>
        </p:txBody>
      </p:sp>
      <p:sp>
        <p:nvSpPr>
          <p:cNvPr id="152" name="Text 149"/>
          <p:cNvSpPr/>
          <p:nvPr/>
        </p:nvSpPr>
        <p:spPr>
          <a:xfrm>
            <a:off x="9944100" y="8047732"/>
            <a:ext cx="11424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11734800" y="3000375"/>
            <a:ext cx="24026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 IMPROVEMENTS</a:t>
            </a:r>
            <a:endParaRPr lang="en-US" sz="1200" dirty="0"/>
          </a:p>
        </p:txBody>
      </p:sp>
      <p:sp>
        <p:nvSpPr>
          <p:cNvPr id="154" name="Text 151"/>
          <p:cNvSpPr/>
          <p:nvPr/>
        </p:nvSpPr>
        <p:spPr>
          <a:xfrm>
            <a:off x="15920293" y="3014663"/>
            <a:ext cx="7484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11734800" y="3448050"/>
            <a:ext cx="3980855" cy="54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Prototype refinement — usability, documentation, workflow testing</a:t>
            </a:r>
            <a:endParaRPr lang="en-US" sz="1575" dirty="0"/>
          </a:p>
        </p:txBody>
      </p:sp>
      <p:sp>
        <p:nvSpPr>
          <p:cNvPr id="156" name="Text 153"/>
          <p:cNvSpPr/>
          <p:nvPr/>
        </p:nvSpPr>
        <p:spPr>
          <a:xfrm>
            <a:off x="11734800" y="4122241"/>
            <a:ext cx="4404866" cy="54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Data and model evaluation — ethically sourced data, valid labels, bias assessment</a:t>
            </a:r>
            <a:endParaRPr lang="en-US" sz="1575" dirty="0"/>
          </a:p>
        </p:txBody>
      </p:sp>
      <p:sp>
        <p:nvSpPr>
          <p:cNvPr id="157" name="Text 154"/>
          <p:cNvSpPr/>
          <p:nvPr/>
        </p:nvSpPr>
        <p:spPr>
          <a:xfrm>
            <a:off x="11734800" y="4796433"/>
            <a:ext cx="4793307" cy="54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Phases 3 &amp; 4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Responsible health-data integration; further technical/clinical validation</a:t>
            </a:r>
            <a:endParaRPr lang="en-US" sz="1575" dirty="0"/>
          </a:p>
        </p:txBody>
      </p:sp>
      <p:sp>
        <p:nvSpPr>
          <p:cNvPr id="158" name="Text 155"/>
          <p:cNvSpPr/>
          <p:nvPr/>
        </p:nvSpPr>
        <p:spPr>
          <a:xfrm>
            <a:off x="11725275" y="6315075"/>
            <a:ext cx="118645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59" name="Text 156"/>
          <p:cNvSpPr/>
          <p:nvPr/>
        </p:nvSpPr>
        <p:spPr>
          <a:xfrm>
            <a:off x="15554920" y="6329363"/>
            <a:ext cx="114240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0B1F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11725275" y="6753225"/>
            <a:ext cx="30198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hosted on GitHub</a:t>
            </a:r>
            <a:endParaRPr lang="en-US" sz="1950" dirty="0"/>
          </a:p>
        </p:txBody>
      </p:sp>
      <p:sp>
        <p:nvSpPr>
          <p:cNvPr id="161" name="Text 158"/>
          <p:cNvSpPr/>
          <p:nvPr/>
        </p:nvSpPr>
        <p:spPr>
          <a:xfrm>
            <a:off x="11725275" y="7212211"/>
            <a:ext cx="48534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https://github.com/HARSHA-1119/NeuroRhythmTwin</a:t>
            </a:r>
            <a:endParaRPr lang="en-US" sz="1500" dirty="0"/>
          </a:p>
        </p:txBody>
      </p:sp>
      <p:sp>
        <p:nvSpPr>
          <p:cNvPr id="162" name="Text 159"/>
          <p:cNvSpPr/>
          <p:nvPr/>
        </p:nvSpPr>
        <p:spPr>
          <a:xfrm>
            <a:off x="11725275" y="7602736"/>
            <a:ext cx="4484787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 control for the Streamlit app, code and synthetic dataset.</a:t>
            </a:r>
            <a:endParaRPr lang="en-US" sz="1350" dirty="0"/>
          </a:p>
        </p:txBody>
      </p:sp>
      <p:sp>
        <p:nvSpPr>
          <p:cNvPr id="163" name="Text 160"/>
          <p:cNvSpPr/>
          <p:nvPr/>
        </p:nvSpPr>
        <p:spPr>
          <a:xfrm>
            <a:off x="1419225" y="8934450"/>
            <a:ext cx="14463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164" name="Text 161"/>
          <p:cNvSpPr/>
          <p:nvPr/>
        </p:nvSpPr>
        <p:spPr>
          <a:xfrm>
            <a:off x="3094137" y="8893522"/>
            <a:ext cx="120474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components have been part of the project. Not every feature has been independently tested in the current version.</a:t>
            </a:r>
            <a:endParaRPr lang="en-US" sz="1650" dirty="0"/>
          </a:p>
        </p:txBody>
      </p:sp>
      <p:sp>
        <p:nvSpPr>
          <p:cNvPr id="165" name="Text 162"/>
          <p:cNvSpPr/>
          <p:nvPr/>
        </p:nvSpPr>
        <p:spPr>
          <a:xfrm>
            <a:off x="1143000" y="9734550"/>
            <a:ext cx="39629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DEVICE.</a:t>
            </a:r>
            <a:endParaRPr lang="en-US" sz="1050" dirty="0"/>
          </a:p>
        </p:txBody>
      </p:sp>
      <p:sp>
        <p:nvSpPr>
          <p:cNvPr id="166" name="Text 163"/>
          <p:cNvSpPr/>
          <p:nvPr/>
        </p:nvSpPr>
        <p:spPr>
          <a:xfrm>
            <a:off x="9251603" y="9734550"/>
            <a:ext cx="31920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ALPHA MONARCHS · NEURORHYTHM TWIN</a:t>
            </a:r>
            <a:endParaRPr lang="en-US" sz="1050" dirty="0"/>
          </a:p>
        </p:txBody>
      </p:sp>
      <p:sp>
        <p:nvSpPr>
          <p:cNvPr id="167" name="Text 164"/>
          <p:cNvSpPr/>
          <p:nvPr/>
        </p:nvSpPr>
        <p:spPr>
          <a:xfrm>
            <a:off x="16589127" y="9734550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FD0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67750"/>
            <a:ext cx="18288000" cy="762000"/>
          </a:xfrm>
          <a:custGeom>
            <a:avLst/>
            <a:gdLst/>
            <a:ahLst/>
            <a:cxnLst/>
            <a:rect l="l" t="t" r="r" b="b"/>
            <a:pathLst>
              <a:path w="18288000" h="762000">
                <a:moveTo>
                  <a:pt x="0" y="381000"/>
                </a:moveTo>
                <a:lnTo>
                  <a:pt x="1143000" y="381000"/>
                </a:lnTo>
                <a:lnTo>
                  <a:pt x="1428750" y="381000"/>
                </a:lnTo>
                <a:lnTo>
                  <a:pt x="1666875" y="95250"/>
                </a:lnTo>
                <a:lnTo>
                  <a:pt x="1905000" y="666750"/>
                </a:lnTo>
                <a:lnTo>
                  <a:pt x="2143125" y="381000"/>
                </a:lnTo>
                <a:lnTo>
                  <a:pt x="3429000" y="381000"/>
                </a:lnTo>
                <a:lnTo>
                  <a:pt x="3810000" y="381000"/>
                </a:lnTo>
                <a:lnTo>
                  <a:pt x="4048125" y="0"/>
                </a:lnTo>
                <a:lnTo>
                  <a:pt x="4333875" y="762000"/>
                </a:lnTo>
                <a:lnTo>
                  <a:pt x="4619625" y="381000"/>
                </a:lnTo>
                <a:lnTo>
                  <a:pt x="6096000" y="381000"/>
                </a:lnTo>
                <a:lnTo>
                  <a:pt x="6667500" y="381000"/>
                </a:lnTo>
                <a:lnTo>
                  <a:pt x="6905625" y="95250"/>
                </a:lnTo>
                <a:lnTo>
                  <a:pt x="7143750" y="666750"/>
                </a:lnTo>
                <a:lnTo>
                  <a:pt x="7381875" y="381000"/>
                </a:lnTo>
                <a:lnTo>
                  <a:pt x="9144000" y="381000"/>
                </a:lnTo>
                <a:lnTo>
                  <a:pt x="9525000" y="381000"/>
                </a:lnTo>
                <a:lnTo>
                  <a:pt x="9763125" y="0"/>
                </a:lnTo>
                <a:lnTo>
                  <a:pt x="10048875" y="762000"/>
                </a:lnTo>
                <a:lnTo>
                  <a:pt x="10334625" y="381000"/>
                </a:lnTo>
                <a:lnTo>
                  <a:pt x="11811000" y="381000"/>
                </a:lnTo>
                <a:lnTo>
                  <a:pt x="12382500" y="381000"/>
                </a:lnTo>
                <a:lnTo>
                  <a:pt x="12620625" y="95250"/>
                </a:lnTo>
                <a:lnTo>
                  <a:pt x="12858750" y="666750"/>
                </a:lnTo>
                <a:lnTo>
                  <a:pt x="13096875" y="381000"/>
                </a:lnTo>
                <a:lnTo>
                  <a:pt x="14859000" y="381000"/>
                </a:lnTo>
                <a:lnTo>
                  <a:pt x="15240000" y="381000"/>
                </a:lnTo>
                <a:lnTo>
                  <a:pt x="15478125" y="0"/>
                </a:lnTo>
                <a:lnTo>
                  <a:pt x="15763875" y="762000"/>
                </a:lnTo>
                <a:lnTo>
                  <a:pt x="16049625" y="381000"/>
                </a:lnTo>
                <a:lnTo>
                  <a:pt x="18288000" y="381000"/>
                </a:lnTo>
              </a:path>
            </a:pathLst>
          </a:custGeom>
          <a:ln w="28575">
            <a:solidFill>
              <a:srgbClr val="0FA3A3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334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2628959" y="742950"/>
            <a:ext cx="2276326" cy="38100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09800"/>
            <a:ext cx="685800" cy="419100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1143000" y="2609850"/>
            <a:ext cx="6858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2209800"/>
            <a:ext cx="4400550" cy="419100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1828800" y="2609850"/>
            <a:ext cx="440055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9" name="Shape 7"/>
          <p:cNvSpPr/>
          <p:nvPr/>
        </p:nvSpPr>
        <p:spPr>
          <a:xfrm>
            <a:off x="6229350" y="2209800"/>
            <a:ext cx="5676900" cy="419100"/>
          </a:xfrm>
          <a:prstGeom prst="rect">
            <a:avLst/>
          </a:prstGeom>
          <a:ln/>
        </p:spPr>
      </p:sp>
      <p:sp>
        <p:nvSpPr>
          <p:cNvPr id="10" name="Shape 8"/>
          <p:cNvSpPr/>
          <p:nvPr/>
        </p:nvSpPr>
        <p:spPr>
          <a:xfrm>
            <a:off x="6229350" y="2609850"/>
            <a:ext cx="56769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628900"/>
            <a:ext cx="685800" cy="952500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1143000" y="3571875"/>
            <a:ext cx="685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2628900"/>
            <a:ext cx="4400550" cy="952500"/>
          </a:xfrm>
          <a:prstGeom prst="rect">
            <a:avLst/>
          </a:prstGeom>
          <a:ln/>
        </p:spPr>
      </p:sp>
      <p:sp>
        <p:nvSpPr>
          <p:cNvPr id="14" name="Shape 12"/>
          <p:cNvSpPr/>
          <p:nvPr/>
        </p:nvSpPr>
        <p:spPr>
          <a:xfrm>
            <a:off x="1828800" y="3571875"/>
            <a:ext cx="4400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29350" y="2628900"/>
            <a:ext cx="5676900" cy="952500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6229350" y="3571875"/>
            <a:ext cx="5676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3581400"/>
            <a:ext cx="68580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4524375"/>
            <a:ext cx="685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3581400"/>
            <a:ext cx="440055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4524375"/>
            <a:ext cx="4400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29350" y="3581400"/>
            <a:ext cx="567690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29350" y="4524375"/>
            <a:ext cx="5676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4533900"/>
            <a:ext cx="685800" cy="952500"/>
          </a:xfrm>
          <a:prstGeom prst="rect">
            <a:avLst/>
          </a:prstGeom>
          <a:ln/>
        </p:spPr>
      </p:sp>
      <p:sp>
        <p:nvSpPr>
          <p:cNvPr id="24" name="Shape 22"/>
          <p:cNvSpPr/>
          <p:nvPr/>
        </p:nvSpPr>
        <p:spPr>
          <a:xfrm>
            <a:off x="1143000" y="5476875"/>
            <a:ext cx="685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4533900"/>
            <a:ext cx="4400550" cy="952500"/>
          </a:xfrm>
          <a:prstGeom prst="rect">
            <a:avLst/>
          </a:prstGeom>
          <a:ln/>
        </p:spPr>
      </p:sp>
      <p:sp>
        <p:nvSpPr>
          <p:cNvPr id="26" name="Shape 24"/>
          <p:cNvSpPr/>
          <p:nvPr/>
        </p:nvSpPr>
        <p:spPr>
          <a:xfrm>
            <a:off x="1828800" y="5476875"/>
            <a:ext cx="4400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29350" y="4533900"/>
            <a:ext cx="5676900" cy="952500"/>
          </a:xfrm>
          <a:prstGeom prst="rect">
            <a:avLst/>
          </a:prstGeom>
          <a:ln/>
        </p:spPr>
      </p:sp>
      <p:sp>
        <p:nvSpPr>
          <p:cNvPr id="28" name="Shape 26"/>
          <p:cNvSpPr/>
          <p:nvPr/>
        </p:nvSpPr>
        <p:spPr>
          <a:xfrm>
            <a:off x="6229350" y="5476875"/>
            <a:ext cx="5676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5486400"/>
            <a:ext cx="68580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6429375"/>
            <a:ext cx="685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828800" y="5486400"/>
            <a:ext cx="440055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6429375"/>
            <a:ext cx="4400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29350" y="5486400"/>
            <a:ext cx="567690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29350" y="6429375"/>
            <a:ext cx="5676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3000" y="6438900"/>
            <a:ext cx="685800" cy="952500"/>
          </a:xfrm>
          <a:prstGeom prst="rect">
            <a:avLst/>
          </a:prstGeom>
          <a:ln/>
        </p:spPr>
      </p:sp>
      <p:sp>
        <p:nvSpPr>
          <p:cNvPr id="36" name="Shape 34"/>
          <p:cNvSpPr/>
          <p:nvPr/>
        </p:nvSpPr>
        <p:spPr>
          <a:xfrm>
            <a:off x="1143000" y="7381875"/>
            <a:ext cx="685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6438900"/>
            <a:ext cx="4400550" cy="952500"/>
          </a:xfrm>
          <a:prstGeom prst="rect">
            <a:avLst/>
          </a:prstGeom>
          <a:ln/>
        </p:spPr>
      </p:sp>
      <p:sp>
        <p:nvSpPr>
          <p:cNvPr id="38" name="Shape 36"/>
          <p:cNvSpPr/>
          <p:nvPr/>
        </p:nvSpPr>
        <p:spPr>
          <a:xfrm>
            <a:off x="1828800" y="7381875"/>
            <a:ext cx="4400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29350" y="6438900"/>
            <a:ext cx="5676900" cy="952500"/>
          </a:xfrm>
          <a:prstGeom prst="rect">
            <a:avLst/>
          </a:prstGeom>
          <a:ln/>
        </p:spPr>
      </p:sp>
      <p:sp>
        <p:nvSpPr>
          <p:cNvPr id="40" name="Shape 38"/>
          <p:cNvSpPr/>
          <p:nvPr/>
        </p:nvSpPr>
        <p:spPr>
          <a:xfrm>
            <a:off x="6229350" y="7381875"/>
            <a:ext cx="5676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43000" y="7391400"/>
            <a:ext cx="68580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43000" y="8334375"/>
            <a:ext cx="685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828800" y="7391400"/>
            <a:ext cx="440055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828800" y="8334375"/>
            <a:ext cx="4400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29350" y="7391400"/>
            <a:ext cx="5676900" cy="952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29350" y="8334375"/>
            <a:ext cx="5676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" y="8343900"/>
            <a:ext cx="685800" cy="952500"/>
          </a:xfrm>
          <a:prstGeom prst="rect">
            <a:avLst/>
          </a:prstGeom>
          <a:ln/>
        </p:spPr>
      </p:sp>
      <p:sp>
        <p:nvSpPr>
          <p:cNvPr id="48" name="Shape 46"/>
          <p:cNvSpPr/>
          <p:nvPr/>
        </p:nvSpPr>
        <p:spPr>
          <a:xfrm>
            <a:off x="1143000" y="9286875"/>
            <a:ext cx="685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828800" y="8343900"/>
            <a:ext cx="4400550" cy="952500"/>
          </a:xfrm>
          <a:prstGeom prst="rect">
            <a:avLst/>
          </a:prstGeom>
          <a:ln/>
        </p:spPr>
      </p:sp>
      <p:sp>
        <p:nvSpPr>
          <p:cNvPr id="50" name="Shape 48"/>
          <p:cNvSpPr/>
          <p:nvPr/>
        </p:nvSpPr>
        <p:spPr>
          <a:xfrm>
            <a:off x="1828800" y="9286875"/>
            <a:ext cx="4400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29350" y="8343900"/>
            <a:ext cx="5676900" cy="952500"/>
          </a:xfrm>
          <a:prstGeom prst="rect">
            <a:avLst/>
          </a:prstGeom>
          <a:ln/>
        </p:spPr>
      </p:sp>
      <p:sp>
        <p:nvSpPr>
          <p:cNvPr id="52" name="Shape 50"/>
          <p:cNvSpPr/>
          <p:nvPr/>
        </p:nvSpPr>
        <p:spPr>
          <a:xfrm>
            <a:off x="6229350" y="9286875"/>
            <a:ext cx="5676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2287250" y="2209800"/>
            <a:ext cx="4857750" cy="7086600"/>
          </a:xfrm>
          <a:prstGeom prst="roundRect">
            <a:avLst>
              <a:gd name="adj" fmla="val 274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287250" y="2209800"/>
            <a:ext cx="485775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5" name="Shape 53"/>
          <p:cNvSpPr/>
          <p:nvPr/>
        </p:nvSpPr>
        <p:spPr>
          <a:xfrm>
            <a:off x="17135475" y="2209800"/>
            <a:ext cx="9525" cy="7086600"/>
          </a:xfrm>
          <a:prstGeom prst="rect">
            <a:avLst/>
          </a:prstGeom>
          <a:solidFill>
            <a:srgbClr val="0FA3A3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287250" y="9286875"/>
            <a:ext cx="4857750" cy="9525"/>
          </a:xfrm>
          <a:prstGeom prst="rect">
            <a:avLst/>
          </a:prstGeom>
          <a:solidFill>
            <a:srgbClr val="0FA3A3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2287250" y="2209800"/>
            <a:ext cx="9525" cy="7086600"/>
          </a:xfrm>
          <a:prstGeom prst="rect">
            <a:avLst/>
          </a:prstGeom>
          <a:solidFill>
            <a:srgbClr val="0FA3A3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2668250" y="28956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59" name="Shape 57"/>
          <p:cNvSpPr/>
          <p:nvPr/>
        </p:nvSpPr>
        <p:spPr>
          <a:xfrm>
            <a:off x="12687300" y="7953375"/>
            <a:ext cx="190500" cy="1905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801600" y="7953375"/>
            <a:ext cx="190500" cy="190500"/>
          </a:xfrm>
          <a:prstGeom prst="ellipse">
            <a:avLst/>
          </a:prstGeom>
          <a:ln w="19050">
            <a:solidFill>
              <a:srgbClr val="0FA3A3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12687300" y="8353425"/>
            <a:ext cx="190500" cy="1905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801600" y="8353425"/>
            <a:ext cx="190500" cy="190500"/>
          </a:xfrm>
          <a:prstGeom prst="ellipse">
            <a:avLst/>
          </a:prstGeom>
          <a:ln w="19050">
            <a:solidFill>
              <a:srgbClr val="0FA3A3"/>
            </a:solidFill>
            <a:prstDash val="dash"/>
          </a:ln>
        </p:spPr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0650" y="742950"/>
            <a:ext cx="4324350" cy="381000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1143000" y="800100"/>
            <a:ext cx="55953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14 · HONESTY FIRST · WHAT THIS PROTOTYPE IS NOT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13048059" y="842963"/>
            <a:ext cx="1666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DEMONSTRATED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15391061" y="842963"/>
            <a:ext cx="15729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ONLY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1143000" y="1057275"/>
            <a:ext cx="6375202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100" b="1" spc="-10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Limitations and Risks</a:t>
            </a:r>
            <a:endParaRPr lang="en-US" sz="5100" dirty="0"/>
          </a:p>
        </p:txBody>
      </p:sp>
      <p:sp>
        <p:nvSpPr>
          <p:cNvPr id="68" name="Text 65"/>
          <p:cNvSpPr/>
          <p:nvPr/>
        </p:nvSpPr>
        <p:spPr>
          <a:xfrm>
            <a:off x="1333500" y="2243138"/>
            <a:ext cx="166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2019300" y="2243138"/>
            <a:ext cx="17220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LIMITATION / RISK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6419850" y="2243138"/>
            <a:ext cx="147935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333500" y="2912269"/>
            <a:ext cx="34304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250" dirty="0"/>
          </a:p>
        </p:txBody>
      </p:sp>
      <p:sp>
        <p:nvSpPr>
          <p:cNvPr id="72" name="Text 69"/>
          <p:cNvSpPr/>
          <p:nvPr/>
        </p:nvSpPr>
        <p:spPr>
          <a:xfrm>
            <a:off x="2019300" y="2949029"/>
            <a:ext cx="372948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 training data and labels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6419850" y="2962870"/>
            <a:ext cx="52560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Outputs reflect synthetic examples, not real patients.</a:t>
            </a:r>
            <a:endParaRPr lang="en-US" sz="1650" dirty="0"/>
          </a:p>
        </p:txBody>
      </p:sp>
      <p:sp>
        <p:nvSpPr>
          <p:cNvPr id="74" name="Text 71"/>
          <p:cNvSpPr/>
          <p:nvPr/>
        </p:nvSpPr>
        <p:spPr>
          <a:xfrm>
            <a:off x="1333500" y="3862387"/>
            <a:ext cx="34304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250" dirty="0"/>
          </a:p>
        </p:txBody>
      </p:sp>
      <p:sp>
        <p:nvSpPr>
          <p:cNvPr id="75" name="Text 72"/>
          <p:cNvSpPr/>
          <p:nvPr/>
        </p:nvSpPr>
        <p:spPr>
          <a:xfrm>
            <a:off x="2019300" y="3759845"/>
            <a:ext cx="3239393" cy="59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of demonstrated clinical validation</a:t>
            </a:r>
            <a:endParaRPr lang="en-US" sz="1800" dirty="0"/>
          </a:p>
        </p:txBody>
      </p:sp>
      <p:sp>
        <p:nvSpPr>
          <p:cNvPr id="76" name="Text 73"/>
          <p:cNvSpPr/>
          <p:nvPr/>
        </p:nvSpPr>
        <p:spPr>
          <a:xfrm>
            <a:off x="6419850" y="3768477"/>
            <a:ext cx="5258246" cy="574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7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clinical evaluation is demonstrated; no accuracy or disease-detection claim is made.</a:t>
            </a:r>
            <a:endParaRPr lang="en-US" sz="1650" dirty="0"/>
          </a:p>
        </p:txBody>
      </p:sp>
      <p:sp>
        <p:nvSpPr>
          <p:cNvPr id="77" name="Text 74"/>
          <p:cNvSpPr/>
          <p:nvPr/>
        </p:nvSpPr>
        <p:spPr>
          <a:xfrm>
            <a:off x="1333500" y="4814888"/>
            <a:ext cx="34304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250" dirty="0"/>
          </a:p>
        </p:txBody>
      </p:sp>
      <p:sp>
        <p:nvSpPr>
          <p:cNvPr id="78" name="Text 75"/>
          <p:cNvSpPr/>
          <p:nvPr/>
        </p:nvSpPr>
        <p:spPr>
          <a:xfrm>
            <a:off x="2019300" y="4712345"/>
            <a:ext cx="2794843" cy="59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Potential bias and limited generalizability</a:t>
            </a:r>
            <a:endParaRPr lang="en-US" sz="1800" dirty="0"/>
          </a:p>
        </p:txBody>
      </p:sp>
      <p:sp>
        <p:nvSpPr>
          <p:cNvPr id="79" name="Text 76"/>
          <p:cNvSpPr/>
          <p:nvPr/>
        </p:nvSpPr>
        <p:spPr>
          <a:xfrm>
            <a:off x="6419850" y="4720977"/>
            <a:ext cx="4183112" cy="574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7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 data may not represent diverse populations, so results may not generalize.</a:t>
            </a:r>
            <a:endParaRPr lang="en-US" sz="1650" dirty="0"/>
          </a:p>
        </p:txBody>
      </p:sp>
      <p:sp>
        <p:nvSpPr>
          <p:cNvPr id="80" name="Text 77"/>
          <p:cNvSpPr/>
          <p:nvPr/>
        </p:nvSpPr>
        <p:spPr>
          <a:xfrm>
            <a:off x="1333500" y="5767388"/>
            <a:ext cx="34304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2250" dirty="0"/>
          </a:p>
        </p:txBody>
      </p:sp>
      <p:sp>
        <p:nvSpPr>
          <p:cNvPr id="81" name="Text 78"/>
          <p:cNvSpPr/>
          <p:nvPr/>
        </p:nvSpPr>
        <p:spPr>
          <a:xfrm>
            <a:off x="2019300" y="5664845"/>
            <a:ext cx="3551634" cy="59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Risk of misleading outputs if the model is misunderstood</a:t>
            </a:r>
            <a:endParaRPr lang="en-US" sz="1800" dirty="0"/>
          </a:p>
        </p:txBody>
      </p:sp>
      <p:sp>
        <p:nvSpPr>
          <p:cNvPr id="82" name="Text 79"/>
          <p:cNvSpPr/>
          <p:nvPr/>
        </p:nvSpPr>
        <p:spPr>
          <a:xfrm>
            <a:off x="6419850" y="5673477"/>
            <a:ext cx="4751040" cy="574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7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Outputs are illustrative; reading them as medical findings would mislead.</a:t>
            </a:r>
            <a:endParaRPr lang="en-US" sz="1650" dirty="0"/>
          </a:p>
        </p:txBody>
      </p:sp>
      <p:sp>
        <p:nvSpPr>
          <p:cNvPr id="83" name="Text 80"/>
          <p:cNvSpPr/>
          <p:nvPr/>
        </p:nvSpPr>
        <p:spPr>
          <a:xfrm>
            <a:off x="1333500" y="6719888"/>
            <a:ext cx="34304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2250" dirty="0"/>
          </a:p>
        </p:txBody>
      </p:sp>
      <p:sp>
        <p:nvSpPr>
          <p:cNvPr id="84" name="Text 81"/>
          <p:cNvSpPr/>
          <p:nvPr/>
        </p:nvSpPr>
        <p:spPr>
          <a:xfrm>
            <a:off x="2019300" y="6617345"/>
            <a:ext cx="3821609" cy="59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Privacy, security and responsible handling of real health information</a:t>
            </a:r>
            <a:endParaRPr lang="en-US" sz="1800" dirty="0"/>
          </a:p>
        </p:txBody>
      </p:sp>
      <p:sp>
        <p:nvSpPr>
          <p:cNvPr id="85" name="Text 82"/>
          <p:cNvSpPr/>
          <p:nvPr/>
        </p:nvSpPr>
        <p:spPr>
          <a:xfrm>
            <a:off x="6419850" y="6625977"/>
            <a:ext cx="4386263" cy="574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7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Needed before any real health data is used; a prototype alone does not provide them.</a:t>
            </a:r>
            <a:endParaRPr lang="en-US" sz="1650" dirty="0"/>
          </a:p>
        </p:txBody>
      </p:sp>
      <p:sp>
        <p:nvSpPr>
          <p:cNvPr id="86" name="Text 83"/>
          <p:cNvSpPr/>
          <p:nvPr/>
        </p:nvSpPr>
        <p:spPr>
          <a:xfrm>
            <a:off x="1333500" y="7672388"/>
            <a:ext cx="34304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2250" dirty="0"/>
          </a:p>
        </p:txBody>
      </p:sp>
      <p:sp>
        <p:nvSpPr>
          <p:cNvPr id="87" name="Text 84"/>
          <p:cNvSpPr/>
          <p:nvPr/>
        </p:nvSpPr>
        <p:spPr>
          <a:xfrm>
            <a:off x="2019300" y="7569845"/>
            <a:ext cx="3122563" cy="59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 for appropriate clinical expertise and evaluation</a:t>
            </a:r>
            <a:endParaRPr lang="en-US" sz="1800" dirty="0"/>
          </a:p>
        </p:txBody>
      </p:sp>
      <p:sp>
        <p:nvSpPr>
          <p:cNvPr id="88" name="Text 85"/>
          <p:cNvSpPr/>
          <p:nvPr/>
        </p:nvSpPr>
        <p:spPr>
          <a:xfrm>
            <a:off x="6419850" y="7722989"/>
            <a:ext cx="45746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Required before any real-world healthcare use.</a:t>
            </a:r>
            <a:endParaRPr lang="en-US" sz="1650" dirty="0"/>
          </a:p>
        </p:txBody>
      </p:sp>
      <p:sp>
        <p:nvSpPr>
          <p:cNvPr id="89" name="Text 86"/>
          <p:cNvSpPr/>
          <p:nvPr/>
        </p:nvSpPr>
        <p:spPr>
          <a:xfrm>
            <a:off x="1333500" y="8624888"/>
            <a:ext cx="34304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2250" dirty="0"/>
          </a:p>
        </p:txBody>
      </p:sp>
      <p:sp>
        <p:nvSpPr>
          <p:cNvPr id="90" name="Text 87"/>
          <p:cNvSpPr/>
          <p:nvPr/>
        </p:nvSpPr>
        <p:spPr>
          <a:xfrm>
            <a:off x="2019300" y="8522345"/>
            <a:ext cx="3973413" cy="59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demonstrated integration with hospital systems or medical devices</a:t>
            </a:r>
            <a:endParaRPr lang="en-US" sz="1800" dirty="0"/>
          </a:p>
        </p:txBody>
      </p:sp>
      <p:sp>
        <p:nvSpPr>
          <p:cNvPr id="91" name="Text 88"/>
          <p:cNvSpPr/>
          <p:nvPr/>
        </p:nvSpPr>
        <p:spPr>
          <a:xfrm>
            <a:off x="6419850" y="8675489"/>
            <a:ext cx="3067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None is claimed unless verified.</a:t>
            </a:r>
            <a:endParaRPr lang="en-US" sz="1650" dirty="0"/>
          </a:p>
        </p:txBody>
      </p:sp>
      <p:sp>
        <p:nvSpPr>
          <p:cNvPr id="92" name="Text 89"/>
          <p:cNvSpPr/>
          <p:nvPr/>
        </p:nvSpPr>
        <p:spPr>
          <a:xfrm>
            <a:off x="12668250" y="2552700"/>
            <a:ext cx="20559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EXPLICIT DISCLAIMER</a:t>
            </a:r>
            <a:endParaRPr lang="en-US" sz="1200" dirty="0"/>
          </a:p>
        </p:txBody>
      </p:sp>
      <p:sp>
        <p:nvSpPr>
          <p:cNvPr id="93" name="Text 90"/>
          <p:cNvSpPr/>
          <p:nvPr/>
        </p:nvSpPr>
        <p:spPr>
          <a:xfrm>
            <a:off x="12630150" y="2876550"/>
            <a:ext cx="499914" cy="142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38" b="1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</a:t>
            </a:r>
            <a:endParaRPr lang="en-US" sz="4538" dirty="0"/>
          </a:p>
        </p:txBody>
      </p:sp>
      <p:sp>
        <p:nvSpPr>
          <p:cNvPr id="94" name="Text 91"/>
          <p:cNvSpPr/>
          <p:nvPr/>
        </p:nvSpPr>
        <p:spPr>
          <a:xfrm>
            <a:off x="12668250" y="3790950"/>
            <a:ext cx="4113758" cy="284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62"/>
              </a:lnSpc>
              <a:buNone/>
            </a:pPr>
            <a:r>
              <a:rPr lang="en-US" sz="2550" b="1" spc="-2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is an educational and research prototype. It is not a clinically validated medical tool and must not be used for diagnosis or treatment decisions.”</a:t>
            </a:r>
            <a:endParaRPr lang="en-US" sz="2550" dirty="0"/>
          </a:p>
        </p:txBody>
      </p:sp>
      <p:sp>
        <p:nvSpPr>
          <p:cNvPr id="95" name="Text 92"/>
          <p:cNvSpPr/>
          <p:nvPr/>
        </p:nvSpPr>
        <p:spPr>
          <a:xfrm>
            <a:off x="13144500" y="7905750"/>
            <a:ext cx="169321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for diagnosis</a:t>
            </a:r>
            <a:endParaRPr lang="en-US" sz="1650" dirty="0"/>
          </a:p>
        </p:txBody>
      </p:sp>
      <p:sp>
        <p:nvSpPr>
          <p:cNvPr id="96" name="Text 93"/>
          <p:cNvSpPr/>
          <p:nvPr/>
        </p:nvSpPr>
        <p:spPr>
          <a:xfrm>
            <a:off x="13144500" y="8305800"/>
            <a:ext cx="275376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for treatment decisions</a:t>
            </a:r>
            <a:endParaRPr lang="en-US" sz="1650" dirty="0"/>
          </a:p>
        </p:txBody>
      </p:sp>
      <p:sp>
        <p:nvSpPr>
          <p:cNvPr id="97" name="Text 94"/>
          <p:cNvSpPr/>
          <p:nvPr/>
        </p:nvSpPr>
        <p:spPr>
          <a:xfrm>
            <a:off x="1143000" y="9734550"/>
            <a:ext cx="39629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DEVICE.</a:t>
            </a:r>
            <a:endParaRPr lang="en-US" sz="1050" dirty="0"/>
          </a:p>
        </p:txBody>
      </p:sp>
      <p:sp>
        <p:nvSpPr>
          <p:cNvPr id="98" name="Text 95"/>
          <p:cNvSpPr/>
          <p:nvPr/>
        </p:nvSpPr>
        <p:spPr>
          <a:xfrm>
            <a:off x="12625388" y="9734550"/>
            <a:ext cx="45196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 · </a:t>
            </a:r>
            <a:pPr algn="l" indent="0" marL="0">
              <a:buNone/>
            </a:pPr>
            <a:r>
              <a:rPr lang="en-US" sz="1050" b="1" spc="126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14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6858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1"/>
          <p:cNvSpPr/>
          <p:nvPr/>
        </p:nvSpPr>
        <p:spPr>
          <a:xfrm>
            <a:off x="13392448" y="1428750"/>
            <a:ext cx="3752552" cy="38100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85950" y="2857500"/>
            <a:ext cx="3067050" cy="419100"/>
          </a:xfrm>
          <a:custGeom>
            <a:avLst/>
            <a:gdLst/>
            <a:ahLst/>
            <a:cxnLst/>
            <a:rect l="l" t="t" r="r" b="b"/>
            <a:pathLst>
              <a:path w="3067050" h="419100">
                <a:moveTo>
                  <a:pt x="0" y="209550"/>
                </a:moveTo>
                <a:lnTo>
                  <a:pt x="1066800" y="209550"/>
                </a:lnTo>
                <a:lnTo>
                  <a:pt x="1219200" y="209550"/>
                </a:lnTo>
                <a:lnTo>
                  <a:pt x="1314450" y="0"/>
                </a:lnTo>
                <a:lnTo>
                  <a:pt x="1466850" y="419100"/>
                </a:lnTo>
                <a:lnTo>
                  <a:pt x="1600200" y="209550"/>
                </a:lnTo>
                <a:lnTo>
                  <a:pt x="3067050" y="209550"/>
                </a:lnTo>
              </a:path>
            </a:pathLst>
          </a:custGeom>
          <a:ln w="28575">
            <a:solidFill>
              <a:srgbClr val="37D0D6">
                <a:alpha val="85000"/>
              </a:srgbClr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962650" y="2857500"/>
            <a:ext cx="3067050" cy="419100"/>
          </a:xfrm>
          <a:custGeom>
            <a:avLst/>
            <a:gdLst/>
            <a:ahLst/>
            <a:cxnLst/>
            <a:rect l="l" t="t" r="r" b="b"/>
            <a:pathLst>
              <a:path w="3067050" h="419100">
                <a:moveTo>
                  <a:pt x="0" y="209550"/>
                </a:moveTo>
                <a:lnTo>
                  <a:pt x="1066800" y="209550"/>
                </a:lnTo>
                <a:lnTo>
                  <a:pt x="1219200" y="209550"/>
                </a:lnTo>
                <a:lnTo>
                  <a:pt x="1314450" y="0"/>
                </a:lnTo>
                <a:lnTo>
                  <a:pt x="1466850" y="419100"/>
                </a:lnTo>
                <a:lnTo>
                  <a:pt x="1600200" y="209550"/>
                </a:lnTo>
                <a:lnTo>
                  <a:pt x="3067050" y="209550"/>
                </a:lnTo>
              </a:path>
            </a:pathLst>
          </a:custGeom>
          <a:ln w="28575">
            <a:solidFill>
              <a:srgbClr val="37D0D6">
                <a:alpha val="85000"/>
              </a:srgbClr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0039350" y="2857500"/>
            <a:ext cx="3067050" cy="419100"/>
          </a:xfrm>
          <a:custGeom>
            <a:avLst/>
            <a:gdLst/>
            <a:ahLst/>
            <a:cxnLst/>
            <a:rect l="l" t="t" r="r" b="b"/>
            <a:pathLst>
              <a:path w="3067050" h="419100">
                <a:moveTo>
                  <a:pt x="0" y="209550"/>
                </a:moveTo>
                <a:lnTo>
                  <a:pt x="1066800" y="209550"/>
                </a:lnTo>
                <a:lnTo>
                  <a:pt x="1219200" y="209550"/>
                </a:lnTo>
                <a:lnTo>
                  <a:pt x="1314450" y="0"/>
                </a:lnTo>
                <a:lnTo>
                  <a:pt x="1466850" y="419100"/>
                </a:lnTo>
                <a:lnTo>
                  <a:pt x="1600200" y="209550"/>
                </a:lnTo>
                <a:lnTo>
                  <a:pt x="3067050" y="209550"/>
                </a:lnTo>
              </a:path>
            </a:pathLst>
          </a:custGeom>
          <a:ln w="28575">
            <a:solidFill>
              <a:srgbClr val="37D0D6">
                <a:alpha val="85000"/>
              </a:srgbClr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4116050" y="3067050"/>
            <a:ext cx="3028950" cy="4763"/>
          </a:xfrm>
          <a:custGeom>
            <a:avLst/>
            <a:gdLst/>
            <a:ahLst/>
            <a:cxnLst/>
            <a:rect l="l" t="t" r="r" b="b"/>
            <a:pathLst>
              <a:path w="3028950" h="4763">
                <a:moveTo>
                  <a:pt x="0" y="0"/>
                </a:moveTo>
                <a:lnTo>
                  <a:pt x="3028950" y="0"/>
                </a:lnTo>
              </a:path>
            </a:pathLst>
          </a:custGeom>
          <a:ln w="28575">
            <a:solidFill>
              <a:srgbClr val="37D0D6">
                <a:alpha val="35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619250" y="3314700"/>
            <a:ext cx="19050" cy="419100"/>
          </a:xfrm>
          <a:prstGeom prst="rect">
            <a:avLst/>
          </a:prstGeom>
          <a:ln/>
        </p:spPr>
      </p:sp>
      <p:sp>
        <p:nvSpPr>
          <p:cNvPr id="10" name="Shape 7"/>
          <p:cNvSpPr/>
          <p:nvPr/>
        </p:nvSpPr>
        <p:spPr>
          <a:xfrm>
            <a:off x="1619250" y="3314700"/>
            <a:ext cx="19050" cy="419100"/>
          </a:xfrm>
          <a:prstGeom prst="rect">
            <a:avLst/>
          </a:prstGeom>
          <a:solidFill>
            <a:srgbClr val="37D0D6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695950" y="3314700"/>
            <a:ext cx="19050" cy="419100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5695950" y="3314700"/>
            <a:ext cx="19050" cy="419100"/>
          </a:xfrm>
          <a:prstGeom prst="rect">
            <a:avLst/>
          </a:prstGeom>
          <a:solidFill>
            <a:srgbClr val="37D0D6">
              <a:alpha val="6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772650" y="3314700"/>
            <a:ext cx="19050" cy="419100"/>
          </a:xfrm>
          <a:prstGeom prst="rect">
            <a:avLst/>
          </a:prstGeom>
          <a:ln/>
        </p:spPr>
      </p:sp>
      <p:sp>
        <p:nvSpPr>
          <p:cNvPr id="14" name="Shape 11"/>
          <p:cNvSpPr/>
          <p:nvPr/>
        </p:nvSpPr>
        <p:spPr>
          <a:xfrm>
            <a:off x="9772650" y="3314700"/>
            <a:ext cx="19050" cy="419100"/>
          </a:xfrm>
          <a:prstGeom prst="rect">
            <a:avLst/>
          </a:prstGeom>
          <a:solidFill>
            <a:srgbClr val="37D0D6">
              <a:alpha val="6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3849350" y="3314700"/>
            <a:ext cx="19050" cy="419100"/>
          </a:xfrm>
          <a:prstGeom prst="rect">
            <a:avLst/>
          </a:prstGeom>
          <a:ln/>
        </p:spPr>
      </p:sp>
      <p:sp>
        <p:nvSpPr>
          <p:cNvPr id="16" name="Shape 13"/>
          <p:cNvSpPr/>
          <p:nvPr/>
        </p:nvSpPr>
        <p:spPr>
          <a:xfrm>
            <a:off x="13849350" y="3314700"/>
            <a:ext cx="19050" cy="419100"/>
          </a:xfrm>
          <a:prstGeom prst="rect">
            <a:avLst/>
          </a:prstGeom>
          <a:solidFill>
            <a:srgbClr val="37D0D6">
              <a:alpha val="6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3733800"/>
            <a:ext cx="3771900" cy="4610100"/>
          </a:xfrm>
          <a:prstGeom prst="roundRect">
            <a:avLst>
              <a:gd name="adj" fmla="val 35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3733800"/>
            <a:ext cx="3771900" cy="38100"/>
          </a:xfrm>
          <a:prstGeom prst="rect">
            <a:avLst/>
          </a:prstGeom>
          <a:solidFill>
            <a:srgbClr val="37D0D6"/>
          </a:solidFill>
          <a:ln/>
        </p:spPr>
      </p:sp>
      <p:sp>
        <p:nvSpPr>
          <p:cNvPr id="19" name="Shape 16"/>
          <p:cNvSpPr/>
          <p:nvPr/>
        </p:nvSpPr>
        <p:spPr>
          <a:xfrm>
            <a:off x="489585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43000" y="8324850"/>
            <a:ext cx="3771900" cy="1905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14300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219700" y="3733800"/>
            <a:ext cx="3771900" cy="4610100"/>
          </a:xfrm>
          <a:prstGeom prst="roundRect">
            <a:avLst>
              <a:gd name="adj" fmla="val 35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219700" y="3733800"/>
            <a:ext cx="3771900" cy="38100"/>
          </a:xfrm>
          <a:prstGeom prst="rect">
            <a:avLst/>
          </a:prstGeom>
          <a:solidFill>
            <a:srgbClr val="37D0D6"/>
          </a:solidFill>
          <a:ln/>
        </p:spPr>
      </p:sp>
      <p:sp>
        <p:nvSpPr>
          <p:cNvPr id="24" name="Shape 21"/>
          <p:cNvSpPr/>
          <p:nvPr/>
        </p:nvSpPr>
        <p:spPr>
          <a:xfrm>
            <a:off x="897255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219700" y="8324850"/>
            <a:ext cx="3771900" cy="1905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21970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9296400" y="3733800"/>
            <a:ext cx="3771900" cy="4610100"/>
          </a:xfrm>
          <a:prstGeom prst="roundRect">
            <a:avLst>
              <a:gd name="adj" fmla="val 35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9296400" y="3733800"/>
            <a:ext cx="3771900" cy="38100"/>
          </a:xfrm>
          <a:prstGeom prst="rect">
            <a:avLst/>
          </a:prstGeom>
          <a:solidFill>
            <a:srgbClr val="37D0D6"/>
          </a:solidFill>
          <a:ln/>
        </p:spPr>
      </p:sp>
      <p:sp>
        <p:nvSpPr>
          <p:cNvPr id="29" name="Shape 26"/>
          <p:cNvSpPr/>
          <p:nvPr/>
        </p:nvSpPr>
        <p:spPr>
          <a:xfrm>
            <a:off x="1304925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9296400" y="8324850"/>
            <a:ext cx="3771900" cy="1905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929640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3373100" y="3733800"/>
            <a:ext cx="3771900" cy="4610100"/>
          </a:xfrm>
          <a:prstGeom prst="roundRect">
            <a:avLst>
              <a:gd name="adj" fmla="val 35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3373100" y="3733800"/>
            <a:ext cx="3771900" cy="38100"/>
          </a:xfrm>
          <a:prstGeom prst="rect">
            <a:avLst/>
          </a:prstGeom>
          <a:solidFill>
            <a:srgbClr val="37D0D6"/>
          </a:solidFill>
          <a:ln/>
        </p:spPr>
      </p:sp>
      <p:sp>
        <p:nvSpPr>
          <p:cNvPr id="34" name="Shape 31"/>
          <p:cNvSpPr/>
          <p:nvPr/>
        </p:nvSpPr>
        <p:spPr>
          <a:xfrm>
            <a:off x="1712595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3373100" y="8324850"/>
            <a:ext cx="3771900" cy="1905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3373100" y="3733800"/>
            <a:ext cx="19050" cy="46101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143000" y="8629650"/>
            <a:ext cx="16002000" cy="685800"/>
          </a:xfrm>
          <a:prstGeom prst="roundRect">
            <a:avLst>
              <a:gd name="adj" fmla="val 19444"/>
            </a:avLst>
          </a:prstGeom>
          <a:solidFill>
            <a:srgbClr val="8B7CF6">
              <a:alpha val="8000"/>
            </a:srgbClr>
          </a:solidFill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485900" y="8782050"/>
            <a:ext cx="1348978" cy="38100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71600" y="28194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37D0D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48300" y="28194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37D0D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25000" y="28194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37D0D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3601700" y="28194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28575">
            <a:solidFill>
              <a:srgbClr val="37D0D6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552575"/>
            <a:ext cx="12392025" cy="748665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143000" y="933450"/>
            <a:ext cx="310470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7D0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14 · FUTURE DEVELOPMENT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14087921" y="933450"/>
            <a:ext cx="30570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 WORK · FOUR PHASES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1143000" y="1200150"/>
            <a:ext cx="8600777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Future Development Roadmap</a:t>
            </a:r>
            <a:endParaRPr lang="en-US" sz="4800" dirty="0"/>
          </a:p>
        </p:txBody>
      </p:sp>
      <p:sp>
        <p:nvSpPr>
          <p:cNvPr id="47" name="Text 43"/>
          <p:cNvSpPr/>
          <p:nvPr/>
        </p:nvSpPr>
        <p:spPr>
          <a:xfrm>
            <a:off x="1143000" y="2038350"/>
            <a:ext cx="675486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future work as planned, not completed.</a:t>
            </a:r>
            <a:endParaRPr lang="en-US" sz="2400" dirty="0"/>
          </a:p>
        </p:txBody>
      </p:sp>
      <p:sp>
        <p:nvSpPr>
          <p:cNvPr id="48" name="Text 44"/>
          <p:cNvSpPr/>
          <p:nvPr/>
        </p:nvSpPr>
        <p:spPr>
          <a:xfrm>
            <a:off x="13811548" y="1528763"/>
            <a:ext cx="31429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 · NOT CURRENT CAPABILITIES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1554212" y="29241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50" dirty="0"/>
          </a:p>
        </p:txBody>
      </p:sp>
      <p:sp>
        <p:nvSpPr>
          <p:cNvPr id="50" name="Text 46"/>
          <p:cNvSpPr/>
          <p:nvPr/>
        </p:nvSpPr>
        <p:spPr>
          <a:xfrm>
            <a:off x="5630912" y="29241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50" dirty="0"/>
          </a:p>
        </p:txBody>
      </p:sp>
      <p:sp>
        <p:nvSpPr>
          <p:cNvPr id="51" name="Text 47"/>
          <p:cNvSpPr/>
          <p:nvPr/>
        </p:nvSpPr>
        <p:spPr>
          <a:xfrm>
            <a:off x="9707612" y="29241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50" dirty="0"/>
          </a:p>
        </p:txBody>
      </p:sp>
      <p:sp>
        <p:nvSpPr>
          <p:cNvPr id="52" name="Text 48"/>
          <p:cNvSpPr/>
          <p:nvPr/>
        </p:nvSpPr>
        <p:spPr>
          <a:xfrm>
            <a:off x="13784312" y="2924175"/>
            <a:ext cx="1299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50" dirty="0"/>
          </a:p>
        </p:txBody>
      </p:sp>
      <p:sp>
        <p:nvSpPr>
          <p:cNvPr id="53" name="Text 49"/>
          <p:cNvSpPr/>
          <p:nvPr/>
        </p:nvSpPr>
        <p:spPr>
          <a:xfrm>
            <a:off x="1466850" y="4057650"/>
            <a:ext cx="7914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7D0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1466850" y="4324350"/>
            <a:ext cx="300290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spc="-3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Prototype refinement</a:t>
            </a:r>
            <a:endParaRPr lang="en-US" sz="2325" dirty="0"/>
          </a:p>
        </p:txBody>
      </p:sp>
      <p:sp>
        <p:nvSpPr>
          <p:cNvPr id="55" name="Text 51"/>
          <p:cNvSpPr/>
          <p:nvPr/>
        </p:nvSpPr>
        <p:spPr>
          <a:xfrm>
            <a:off x="1752600" y="5476875"/>
            <a:ext cx="1785491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 the existing workflow.</a:t>
            </a:r>
            <a:endParaRPr lang="en-US" sz="1800" dirty="0"/>
          </a:p>
        </p:txBody>
      </p:sp>
      <p:sp>
        <p:nvSpPr>
          <p:cNvPr id="56" name="Text 52"/>
          <p:cNvSpPr/>
          <p:nvPr/>
        </p:nvSpPr>
        <p:spPr>
          <a:xfrm>
            <a:off x="1752600" y="6279059"/>
            <a:ext cx="2261592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 usability and documentation.</a:t>
            </a:r>
            <a:endParaRPr lang="en-US" sz="1800" dirty="0"/>
          </a:p>
        </p:txBody>
      </p:sp>
      <p:sp>
        <p:nvSpPr>
          <p:cNvPr id="57" name="Text 53"/>
          <p:cNvSpPr/>
          <p:nvPr/>
        </p:nvSpPr>
        <p:spPr>
          <a:xfrm>
            <a:off x="1752600" y="7081242"/>
            <a:ext cx="2746921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Verify model behavior and evaluation methodology.</a:t>
            </a:r>
            <a:endParaRPr lang="en-US" sz="1800" dirty="0"/>
          </a:p>
        </p:txBody>
      </p:sp>
      <p:sp>
        <p:nvSpPr>
          <p:cNvPr id="58" name="Text 54"/>
          <p:cNvSpPr/>
          <p:nvPr/>
        </p:nvSpPr>
        <p:spPr>
          <a:xfrm>
            <a:off x="5543550" y="4057650"/>
            <a:ext cx="7914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7D0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2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5543550" y="4324350"/>
            <a:ext cx="2153841" cy="7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74"/>
              </a:lnSpc>
              <a:buNone/>
            </a:pPr>
            <a:r>
              <a:rPr lang="en-US" sz="2325" b="1" spc="-3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and model evaluation</a:t>
            </a:r>
            <a:endParaRPr lang="en-US" sz="2325" dirty="0"/>
          </a:p>
        </p:txBody>
      </p:sp>
      <p:sp>
        <p:nvSpPr>
          <p:cNvPr id="60" name="Text 56"/>
          <p:cNvSpPr/>
          <p:nvPr/>
        </p:nvSpPr>
        <p:spPr>
          <a:xfrm>
            <a:off x="5829300" y="5476875"/>
            <a:ext cx="2421434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Investigate ethically sourced, appropriately licensed datasets.</a:t>
            </a:r>
            <a:endParaRPr lang="en-US" sz="1800" dirty="0"/>
          </a:p>
        </p:txBody>
      </p:sp>
      <p:sp>
        <p:nvSpPr>
          <p:cNvPr id="61" name="Text 57"/>
          <p:cNvSpPr/>
          <p:nvPr/>
        </p:nvSpPr>
        <p:spPr>
          <a:xfrm>
            <a:off x="5829300" y="6594425"/>
            <a:ext cx="2641104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valid target labels and evaluation procedures.</a:t>
            </a:r>
            <a:endParaRPr lang="en-US" sz="1800" dirty="0"/>
          </a:p>
        </p:txBody>
      </p:sp>
      <p:sp>
        <p:nvSpPr>
          <p:cNvPr id="62" name="Text 58"/>
          <p:cNvSpPr/>
          <p:nvPr/>
        </p:nvSpPr>
        <p:spPr>
          <a:xfrm>
            <a:off x="5829300" y="7711976"/>
            <a:ext cx="2796332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 generalization and bias.</a:t>
            </a:r>
            <a:endParaRPr lang="en-US" sz="1800" dirty="0"/>
          </a:p>
        </p:txBody>
      </p:sp>
      <p:sp>
        <p:nvSpPr>
          <p:cNvPr id="63" name="Text 59"/>
          <p:cNvSpPr/>
          <p:nvPr/>
        </p:nvSpPr>
        <p:spPr>
          <a:xfrm>
            <a:off x="9620250" y="4057650"/>
            <a:ext cx="7914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7D0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3</a:t>
            </a:r>
            <a:endParaRPr lang="en-US" sz="1200" dirty="0"/>
          </a:p>
        </p:txBody>
      </p:sp>
      <p:sp>
        <p:nvSpPr>
          <p:cNvPr id="64" name="Text 60"/>
          <p:cNvSpPr/>
          <p:nvPr/>
        </p:nvSpPr>
        <p:spPr>
          <a:xfrm>
            <a:off x="9620250" y="4324350"/>
            <a:ext cx="2790676" cy="7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74"/>
              </a:lnSpc>
              <a:buNone/>
            </a:pPr>
            <a:r>
              <a:rPr lang="en-US" sz="2325" b="1" spc="-3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Responsible health-data integration</a:t>
            </a:r>
            <a:endParaRPr lang="en-US" sz="2325" dirty="0"/>
          </a:p>
        </p:txBody>
      </p:sp>
      <p:sp>
        <p:nvSpPr>
          <p:cNvPr id="65" name="Text 61"/>
          <p:cNvSpPr/>
          <p:nvPr/>
        </p:nvSpPr>
        <p:spPr>
          <a:xfrm>
            <a:off x="9906000" y="5476875"/>
            <a:ext cx="2720727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privacy-preserving data handling.</a:t>
            </a:r>
            <a:endParaRPr lang="en-US" sz="1800" dirty="0"/>
          </a:p>
        </p:txBody>
      </p:sp>
      <p:sp>
        <p:nvSpPr>
          <p:cNvPr id="66" name="Text 62"/>
          <p:cNvSpPr/>
          <p:nvPr/>
        </p:nvSpPr>
        <p:spPr>
          <a:xfrm>
            <a:off x="9906000" y="6279059"/>
            <a:ext cx="2586782" cy="629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Investigate consent and security requirements.</a:t>
            </a:r>
            <a:endParaRPr lang="en-US" sz="1800" dirty="0"/>
          </a:p>
        </p:txBody>
      </p:sp>
      <p:sp>
        <p:nvSpPr>
          <p:cNvPr id="67" name="Text 63"/>
          <p:cNvSpPr/>
          <p:nvPr/>
        </p:nvSpPr>
        <p:spPr>
          <a:xfrm>
            <a:off x="9906000" y="7081242"/>
            <a:ext cx="2717899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Seek qualified healthcare and research collaborators.</a:t>
            </a:r>
            <a:endParaRPr lang="en-US" sz="1800" dirty="0"/>
          </a:p>
        </p:txBody>
      </p:sp>
      <p:sp>
        <p:nvSpPr>
          <p:cNvPr id="68" name="Text 64"/>
          <p:cNvSpPr/>
          <p:nvPr/>
        </p:nvSpPr>
        <p:spPr>
          <a:xfrm>
            <a:off x="13696950" y="4057650"/>
            <a:ext cx="7914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7D0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4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13696950" y="4324350"/>
            <a:ext cx="246489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spc="-3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Further validation</a:t>
            </a:r>
            <a:endParaRPr lang="en-US" sz="2325" dirty="0"/>
          </a:p>
        </p:txBody>
      </p:sp>
      <p:sp>
        <p:nvSpPr>
          <p:cNvPr id="70" name="Text 66"/>
          <p:cNvSpPr/>
          <p:nvPr/>
        </p:nvSpPr>
        <p:spPr>
          <a:xfrm>
            <a:off x="13982700" y="5476875"/>
            <a:ext cx="2548979" cy="126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Conduct appropriate technical and clinical evaluation before any healthcare deployment.</a:t>
            </a:r>
            <a:endParaRPr lang="en-US" sz="1800" dirty="0"/>
          </a:p>
        </p:txBody>
      </p:sp>
      <p:sp>
        <p:nvSpPr>
          <p:cNvPr id="71" name="Text 67"/>
          <p:cNvSpPr/>
          <p:nvPr/>
        </p:nvSpPr>
        <p:spPr>
          <a:xfrm>
            <a:off x="13982700" y="6909792"/>
            <a:ext cx="2442567" cy="126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Consider external data integrations only after feasibility, privacy, and safety assessments.</a:t>
            </a:r>
            <a:endParaRPr lang="en-US" sz="1800" dirty="0"/>
          </a:p>
        </p:txBody>
      </p:sp>
      <p:sp>
        <p:nvSpPr>
          <p:cNvPr id="72" name="Text 68"/>
          <p:cNvSpPr/>
          <p:nvPr/>
        </p:nvSpPr>
        <p:spPr>
          <a:xfrm>
            <a:off x="1905000" y="8882063"/>
            <a:ext cx="73937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</a:t>
            </a:r>
            <a:endParaRPr lang="en-US" sz="1050" dirty="0"/>
          </a:p>
        </p:txBody>
      </p:sp>
      <p:sp>
        <p:nvSpPr>
          <p:cNvPr id="73" name="Text 69"/>
          <p:cNvSpPr/>
          <p:nvPr/>
        </p:nvSpPr>
        <p:spPr>
          <a:xfrm>
            <a:off x="3101578" y="8801100"/>
            <a:ext cx="790560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spc="-1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not present future integrations or validation as already achieved.</a:t>
            </a:r>
            <a:endParaRPr lang="en-US" sz="1950" dirty="0"/>
          </a:p>
        </p:txBody>
      </p:sp>
      <p:sp>
        <p:nvSpPr>
          <p:cNvPr id="74" name="Text 70"/>
          <p:cNvSpPr/>
          <p:nvPr/>
        </p:nvSpPr>
        <p:spPr>
          <a:xfrm>
            <a:off x="1143000" y="9734550"/>
            <a:ext cx="78724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 · NEURORHYTHM TWIN · TEAM ALPHA MONARCHS</a:t>
            </a:r>
            <a:endParaRPr lang="en-US" sz="1050" dirty="0"/>
          </a:p>
        </p:txBody>
      </p:sp>
      <p:sp>
        <p:nvSpPr>
          <p:cNvPr id="75" name="Text 71"/>
          <p:cNvSpPr/>
          <p:nvPr/>
        </p:nvSpPr>
        <p:spPr>
          <a:xfrm>
            <a:off x="16589127" y="9734550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7D0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14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05750"/>
            <a:ext cx="18288000" cy="1190625"/>
          </a:xfrm>
          <a:custGeom>
            <a:avLst/>
            <a:gdLst/>
            <a:ahLst/>
            <a:cxnLst/>
            <a:rect l="l" t="t" r="r" b="b"/>
            <a:pathLst>
              <a:path w="18288000" h="1190625">
                <a:moveTo>
                  <a:pt x="0" y="571500"/>
                </a:moveTo>
                <a:lnTo>
                  <a:pt x="2095500" y="571500"/>
                </a:lnTo>
                <a:lnTo>
                  <a:pt x="2381250" y="571500"/>
                </a:lnTo>
                <a:lnTo>
                  <a:pt x="2619375" y="0"/>
                </a:lnTo>
                <a:lnTo>
                  <a:pt x="2952750" y="1190625"/>
                </a:lnTo>
                <a:lnTo>
                  <a:pt x="3238500" y="571500"/>
                </a:lnTo>
                <a:lnTo>
                  <a:pt x="5334000" y="571500"/>
                </a:lnTo>
                <a:lnTo>
                  <a:pt x="5619750" y="571500"/>
                </a:lnTo>
                <a:lnTo>
                  <a:pt x="5857875" y="0"/>
                </a:lnTo>
                <a:lnTo>
                  <a:pt x="6191250" y="1190625"/>
                </a:lnTo>
                <a:lnTo>
                  <a:pt x="6477000" y="571500"/>
                </a:lnTo>
                <a:lnTo>
                  <a:pt x="8572500" y="571500"/>
                </a:lnTo>
                <a:lnTo>
                  <a:pt x="8858250" y="571500"/>
                </a:lnTo>
                <a:lnTo>
                  <a:pt x="9096375" y="0"/>
                </a:lnTo>
                <a:lnTo>
                  <a:pt x="9429750" y="1190625"/>
                </a:lnTo>
                <a:lnTo>
                  <a:pt x="9715500" y="571500"/>
                </a:lnTo>
                <a:lnTo>
                  <a:pt x="11811000" y="571500"/>
                </a:lnTo>
                <a:lnTo>
                  <a:pt x="12096750" y="571500"/>
                </a:lnTo>
                <a:lnTo>
                  <a:pt x="12334875" y="0"/>
                </a:lnTo>
                <a:lnTo>
                  <a:pt x="12668250" y="1190625"/>
                </a:lnTo>
                <a:lnTo>
                  <a:pt x="12954000" y="571500"/>
                </a:lnTo>
                <a:lnTo>
                  <a:pt x="15049500" y="571500"/>
                </a:lnTo>
                <a:lnTo>
                  <a:pt x="15335250" y="571500"/>
                </a:lnTo>
                <a:lnTo>
                  <a:pt x="15573375" y="0"/>
                </a:lnTo>
                <a:lnTo>
                  <a:pt x="15906750" y="1190625"/>
                </a:lnTo>
                <a:lnTo>
                  <a:pt x="16192500" y="571500"/>
                </a:lnTo>
                <a:lnTo>
                  <a:pt x="18288000" y="571500"/>
                </a:lnTo>
              </a:path>
            </a:pathLst>
          </a:custGeom>
          <a:ln w="28575">
            <a:solidFill>
              <a:srgbClr val="0FA3A3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5334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5012293" y="2028825"/>
            <a:ext cx="114300" cy="114300"/>
          </a:xfrm>
          <a:prstGeom prst="roundRect">
            <a:avLst>
              <a:gd name="adj" fmla="val 50000"/>
            </a:avLst>
          </a:prstGeom>
          <a:ln w="19050">
            <a:solidFill>
              <a:srgbClr val="8B7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590800"/>
            <a:ext cx="800100" cy="476250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1143000" y="3048000"/>
            <a:ext cx="8001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Shape 5"/>
          <p:cNvSpPr/>
          <p:nvPr/>
        </p:nvSpPr>
        <p:spPr>
          <a:xfrm>
            <a:off x="1943100" y="2590800"/>
            <a:ext cx="4953000" cy="476250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1943100" y="3048000"/>
            <a:ext cx="49530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9" name="Shape 7"/>
          <p:cNvSpPr/>
          <p:nvPr/>
        </p:nvSpPr>
        <p:spPr>
          <a:xfrm>
            <a:off x="6896100" y="2590800"/>
            <a:ext cx="4191000" cy="476250"/>
          </a:xfrm>
          <a:prstGeom prst="rect">
            <a:avLst/>
          </a:prstGeom>
          <a:ln/>
        </p:spPr>
      </p:sp>
      <p:sp>
        <p:nvSpPr>
          <p:cNvPr id="10" name="Shape 8"/>
          <p:cNvSpPr/>
          <p:nvPr/>
        </p:nvSpPr>
        <p:spPr>
          <a:xfrm>
            <a:off x="6896100" y="3048000"/>
            <a:ext cx="41910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1" name="Shape 9"/>
          <p:cNvSpPr/>
          <p:nvPr/>
        </p:nvSpPr>
        <p:spPr>
          <a:xfrm>
            <a:off x="11087100" y="2590800"/>
            <a:ext cx="4000500" cy="476250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11087100" y="3048000"/>
            <a:ext cx="40005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0" y="2590800"/>
            <a:ext cx="2057400" cy="476250"/>
          </a:xfrm>
          <a:prstGeom prst="rect">
            <a:avLst/>
          </a:prstGeom>
          <a:ln/>
        </p:spPr>
      </p:sp>
      <p:sp>
        <p:nvSpPr>
          <p:cNvPr id="14" name="Shape 12"/>
          <p:cNvSpPr/>
          <p:nvPr/>
        </p:nvSpPr>
        <p:spPr>
          <a:xfrm>
            <a:off x="15087600" y="3048000"/>
            <a:ext cx="2057400" cy="1905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3067050"/>
            <a:ext cx="8001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4219575"/>
            <a:ext cx="8001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52550" y="3440906"/>
            <a:ext cx="419100" cy="419100"/>
          </a:xfrm>
          <a:prstGeom prst="roundRect">
            <a:avLst>
              <a:gd name="adj" fmla="val 50000"/>
            </a:avLst>
          </a:prstGeom>
          <a:ln w="19050">
            <a:solidFill>
              <a:srgbClr val="8B7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3067050"/>
            <a:ext cx="49530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4219575"/>
            <a:ext cx="4953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96100" y="3067050"/>
            <a:ext cx="41910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96100" y="4219575"/>
            <a:ext cx="4191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87100" y="3067050"/>
            <a:ext cx="40005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087100" y="4219575"/>
            <a:ext cx="4000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087600" y="3067050"/>
            <a:ext cx="20574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087600" y="4219575"/>
            <a:ext cx="20574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97150" y="3469481"/>
            <a:ext cx="1626543" cy="3619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229100"/>
            <a:ext cx="800100" cy="1162050"/>
          </a:xfrm>
          <a:prstGeom prst="rect">
            <a:avLst/>
          </a:prstGeom>
          <a:ln/>
        </p:spPr>
      </p:sp>
      <p:sp>
        <p:nvSpPr>
          <p:cNvPr id="28" name="Shape 26"/>
          <p:cNvSpPr/>
          <p:nvPr/>
        </p:nvSpPr>
        <p:spPr>
          <a:xfrm>
            <a:off x="1143000" y="5381625"/>
            <a:ext cx="8001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52550" y="4600575"/>
            <a:ext cx="419100" cy="419100"/>
          </a:xfrm>
          <a:prstGeom prst="roundRect">
            <a:avLst>
              <a:gd name="adj" fmla="val 50000"/>
            </a:avLst>
          </a:prstGeom>
          <a:ln w="19050">
            <a:solidFill>
              <a:srgbClr val="0FA3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43100" y="4229100"/>
            <a:ext cx="4953000" cy="1162050"/>
          </a:xfrm>
          <a:prstGeom prst="rect">
            <a:avLst/>
          </a:prstGeom>
          <a:ln/>
        </p:spPr>
      </p:sp>
      <p:sp>
        <p:nvSpPr>
          <p:cNvPr id="31" name="Shape 29"/>
          <p:cNvSpPr/>
          <p:nvPr/>
        </p:nvSpPr>
        <p:spPr>
          <a:xfrm>
            <a:off x="1943100" y="5381625"/>
            <a:ext cx="4953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96100" y="4229100"/>
            <a:ext cx="4191000" cy="1162050"/>
          </a:xfrm>
          <a:prstGeom prst="rect">
            <a:avLst/>
          </a:prstGeom>
          <a:ln/>
        </p:spPr>
      </p:sp>
      <p:sp>
        <p:nvSpPr>
          <p:cNvPr id="33" name="Shape 31"/>
          <p:cNvSpPr/>
          <p:nvPr/>
        </p:nvSpPr>
        <p:spPr>
          <a:xfrm>
            <a:off x="6896100" y="5381625"/>
            <a:ext cx="4191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087100" y="4229100"/>
            <a:ext cx="4000500" cy="1162050"/>
          </a:xfrm>
          <a:prstGeom prst="rect">
            <a:avLst/>
          </a:prstGeom>
          <a:ln/>
        </p:spPr>
      </p:sp>
      <p:sp>
        <p:nvSpPr>
          <p:cNvPr id="35" name="Shape 33"/>
          <p:cNvSpPr/>
          <p:nvPr/>
        </p:nvSpPr>
        <p:spPr>
          <a:xfrm>
            <a:off x="11087100" y="5381625"/>
            <a:ext cx="4000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087600" y="4229100"/>
            <a:ext cx="2057400" cy="1162050"/>
          </a:xfrm>
          <a:prstGeom prst="rect">
            <a:avLst/>
          </a:prstGeom>
          <a:ln/>
        </p:spPr>
      </p:sp>
      <p:sp>
        <p:nvSpPr>
          <p:cNvPr id="37" name="Shape 35"/>
          <p:cNvSpPr/>
          <p:nvPr/>
        </p:nvSpPr>
        <p:spPr>
          <a:xfrm>
            <a:off x="15087600" y="5381625"/>
            <a:ext cx="20574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297150" y="4629150"/>
            <a:ext cx="1626543" cy="3619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3000" y="5391150"/>
            <a:ext cx="8001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43000" y="6543675"/>
            <a:ext cx="8001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52550" y="5762625"/>
            <a:ext cx="419100" cy="419100"/>
          </a:xfrm>
          <a:prstGeom prst="roundRect">
            <a:avLst>
              <a:gd name="adj" fmla="val 50000"/>
            </a:avLst>
          </a:prstGeom>
          <a:ln w="19050">
            <a:solidFill>
              <a:srgbClr val="8B7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43100" y="5391150"/>
            <a:ext cx="49530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43100" y="6543675"/>
            <a:ext cx="4953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96100" y="5391150"/>
            <a:ext cx="41910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96100" y="6543675"/>
            <a:ext cx="4191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087100" y="5391150"/>
            <a:ext cx="40005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087100" y="6543675"/>
            <a:ext cx="4000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5087600" y="5391150"/>
            <a:ext cx="2057400" cy="11620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5087600" y="6543675"/>
            <a:ext cx="20574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297150" y="5791200"/>
            <a:ext cx="1626543" cy="3619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51" name="Shape 49"/>
          <p:cNvSpPr/>
          <p:nvPr/>
        </p:nvSpPr>
        <p:spPr>
          <a:xfrm>
            <a:off x="1143000" y="6553200"/>
            <a:ext cx="800100" cy="1162050"/>
          </a:xfrm>
          <a:prstGeom prst="rect">
            <a:avLst/>
          </a:prstGeom>
          <a:ln/>
        </p:spPr>
      </p:sp>
      <p:sp>
        <p:nvSpPr>
          <p:cNvPr id="52" name="Shape 50"/>
          <p:cNvSpPr/>
          <p:nvPr/>
        </p:nvSpPr>
        <p:spPr>
          <a:xfrm>
            <a:off x="1143000" y="7705725"/>
            <a:ext cx="8001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352550" y="6924675"/>
            <a:ext cx="419100" cy="419100"/>
          </a:xfrm>
          <a:prstGeom prst="roundRect">
            <a:avLst>
              <a:gd name="adj" fmla="val 50000"/>
            </a:avLst>
          </a:prstGeom>
          <a:ln w="19050">
            <a:solidFill>
              <a:srgbClr val="0FA3A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43100" y="6553200"/>
            <a:ext cx="4953000" cy="1162050"/>
          </a:xfrm>
          <a:prstGeom prst="rect">
            <a:avLst/>
          </a:prstGeom>
          <a:ln/>
        </p:spPr>
      </p:sp>
      <p:sp>
        <p:nvSpPr>
          <p:cNvPr id="55" name="Shape 53"/>
          <p:cNvSpPr/>
          <p:nvPr/>
        </p:nvSpPr>
        <p:spPr>
          <a:xfrm>
            <a:off x="1943100" y="7705725"/>
            <a:ext cx="4953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896100" y="6553200"/>
            <a:ext cx="4191000" cy="1162050"/>
          </a:xfrm>
          <a:prstGeom prst="rect">
            <a:avLst/>
          </a:prstGeom>
          <a:ln/>
        </p:spPr>
      </p:sp>
      <p:sp>
        <p:nvSpPr>
          <p:cNvPr id="57" name="Shape 55"/>
          <p:cNvSpPr/>
          <p:nvPr/>
        </p:nvSpPr>
        <p:spPr>
          <a:xfrm>
            <a:off x="6896100" y="7705725"/>
            <a:ext cx="41910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087100" y="6553200"/>
            <a:ext cx="4000500" cy="1162050"/>
          </a:xfrm>
          <a:prstGeom prst="rect">
            <a:avLst/>
          </a:prstGeom>
          <a:ln/>
        </p:spPr>
      </p:sp>
      <p:sp>
        <p:nvSpPr>
          <p:cNvPr id="59" name="Shape 57"/>
          <p:cNvSpPr/>
          <p:nvPr/>
        </p:nvSpPr>
        <p:spPr>
          <a:xfrm>
            <a:off x="11087100" y="7705725"/>
            <a:ext cx="4000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087600" y="6553200"/>
            <a:ext cx="2057400" cy="1162050"/>
          </a:xfrm>
          <a:prstGeom prst="rect">
            <a:avLst/>
          </a:prstGeom>
          <a:ln/>
        </p:spPr>
      </p:sp>
      <p:sp>
        <p:nvSpPr>
          <p:cNvPr id="61" name="Shape 59"/>
          <p:cNvSpPr/>
          <p:nvPr/>
        </p:nvSpPr>
        <p:spPr>
          <a:xfrm>
            <a:off x="15087600" y="7705725"/>
            <a:ext cx="20574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297150" y="6953250"/>
            <a:ext cx="1310878" cy="36195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3000" y="7981950"/>
            <a:ext cx="7524750" cy="1295400"/>
          </a:xfrm>
          <a:prstGeom prst="roundRect">
            <a:avLst>
              <a:gd name="adj" fmla="val 10294"/>
            </a:avLst>
          </a:prstGeom>
          <a:solidFill>
            <a:srgbClr val="0FA3A3">
              <a:alpha val="1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43000" y="7981950"/>
            <a:ext cx="752475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5" name="Shape 63"/>
          <p:cNvSpPr/>
          <p:nvPr/>
        </p:nvSpPr>
        <p:spPr>
          <a:xfrm>
            <a:off x="8658225" y="7981950"/>
            <a:ext cx="9525" cy="1295400"/>
          </a:xfrm>
          <a:prstGeom prst="rect">
            <a:avLst/>
          </a:prstGeom>
          <a:solidFill>
            <a:srgbClr val="0FA3A3">
              <a:alpha val="5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43000" y="9267825"/>
            <a:ext cx="7524750" cy="9525"/>
          </a:xfrm>
          <a:prstGeom prst="rect">
            <a:avLst/>
          </a:prstGeom>
          <a:solidFill>
            <a:srgbClr val="0FA3A3">
              <a:alpha val="5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43000" y="7981950"/>
            <a:ext cx="9525" cy="1295400"/>
          </a:xfrm>
          <a:prstGeom prst="rect">
            <a:avLst/>
          </a:prstGeom>
          <a:solidFill>
            <a:srgbClr val="0FA3A3">
              <a:alpha val="5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20250" y="7981950"/>
            <a:ext cx="7524750" cy="1295400"/>
          </a:xfrm>
          <a:prstGeom prst="roundRect">
            <a:avLst>
              <a:gd name="adj" fmla="val 10294"/>
            </a:avLst>
          </a:prstGeom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9550" y="3600450"/>
            <a:ext cx="152400" cy="3600450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1143000" y="781050"/>
            <a:ext cx="53588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EXPECTED IMPACT · EDUCATIONAL AND RESEARCH VALUE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3251805" y="781050"/>
            <a:ext cx="38931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ALPHA MONARCHS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1143000" y="1066800"/>
            <a:ext cx="12725251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350" b="1" spc="-8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Potential Impact: Educational and Research Value</a:t>
            </a:r>
            <a:endParaRPr lang="en-US" sz="4350" dirty="0"/>
          </a:p>
        </p:txBody>
      </p:sp>
      <p:sp>
        <p:nvSpPr>
          <p:cNvPr id="73" name="Text 70"/>
          <p:cNvSpPr/>
          <p:nvPr/>
        </p:nvSpPr>
        <p:spPr>
          <a:xfrm>
            <a:off x="1143000" y="1885950"/>
            <a:ext cx="886152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Potential benefits, tied to what exists today — not measured outcomes.</a:t>
            </a:r>
            <a:endParaRPr lang="en-US" sz="2100" dirty="0"/>
          </a:p>
        </p:txBody>
      </p:sp>
      <p:sp>
        <p:nvSpPr>
          <p:cNvPr id="74" name="Text 71"/>
          <p:cNvSpPr/>
          <p:nvPr/>
        </p:nvSpPr>
        <p:spPr>
          <a:xfrm>
            <a:off x="15202793" y="1981200"/>
            <a:ext cx="19422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125" b="1" spc="135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/ ML-RELATED VALUE</a:t>
            </a:r>
            <a:endParaRPr lang="en-US" sz="1125" dirty="0"/>
          </a:p>
        </p:txBody>
      </p:sp>
      <p:sp>
        <p:nvSpPr>
          <p:cNvPr id="75" name="Text 72"/>
          <p:cNvSpPr/>
          <p:nvPr/>
        </p:nvSpPr>
        <p:spPr>
          <a:xfrm>
            <a:off x="1352550" y="2714625"/>
            <a:ext cx="166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2152650" y="2714625"/>
            <a:ext cx="167610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POTENTIAL VALUE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7105650" y="2714625"/>
            <a:ext cx="17119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ON (TODAY)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11296650" y="2714625"/>
            <a:ext cx="203284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DEPENDS ON / LIMITS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15297150" y="2714625"/>
            <a:ext cx="12337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BASIS TODAY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1503015" y="3517106"/>
            <a:ext cx="118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500" dirty="0"/>
          </a:p>
        </p:txBody>
      </p:sp>
      <p:sp>
        <p:nvSpPr>
          <p:cNvPr id="81" name="Text 78"/>
          <p:cNvSpPr/>
          <p:nvPr/>
        </p:nvSpPr>
        <p:spPr>
          <a:xfrm>
            <a:off x="2152650" y="3167063"/>
            <a:ext cx="449833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Makes machine-learning concepts easier to explore through an interactive interface.</a:t>
            </a:r>
            <a:endParaRPr lang="en-US" sz="1875" dirty="0"/>
          </a:p>
        </p:txBody>
      </p:sp>
      <p:sp>
        <p:nvSpPr>
          <p:cNvPr id="82" name="Text 79"/>
          <p:cNvSpPr/>
          <p:nvPr/>
        </p:nvSpPr>
        <p:spPr>
          <a:xfrm>
            <a:off x="7105650" y="3210371"/>
            <a:ext cx="3426916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Streamlit interface; Random Forest model (scikit-learn); supported sample inputs</a:t>
            </a:r>
            <a:endParaRPr lang="en-US" sz="1650" dirty="0"/>
          </a:p>
        </p:txBody>
      </p:sp>
      <p:sp>
        <p:nvSpPr>
          <p:cNvPr id="83" name="Text 80"/>
          <p:cNvSpPr/>
          <p:nvPr/>
        </p:nvSpPr>
        <p:spPr>
          <a:xfrm>
            <a:off x="11296650" y="3357116"/>
            <a:ext cx="3416498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use only; no measured learning outcomes</a:t>
            </a:r>
            <a:endParaRPr lang="en-US" sz="1650" dirty="0"/>
          </a:p>
        </p:txBody>
      </p:sp>
      <p:sp>
        <p:nvSpPr>
          <p:cNvPr id="84" name="Text 81"/>
          <p:cNvSpPr/>
          <p:nvPr/>
        </p:nvSpPr>
        <p:spPr>
          <a:xfrm>
            <a:off x="15640050" y="3557141"/>
            <a:ext cx="113124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85" name="Text 82"/>
          <p:cNvSpPr/>
          <p:nvPr/>
        </p:nvSpPr>
        <p:spPr>
          <a:xfrm>
            <a:off x="1503015" y="4676775"/>
            <a:ext cx="118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2152650" y="4481513"/>
            <a:ext cx="451410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Demonstrates how data processing and visualization can work together.</a:t>
            </a:r>
            <a:endParaRPr lang="en-US" sz="1875" dirty="0"/>
          </a:p>
        </p:txBody>
      </p:sp>
      <p:sp>
        <p:nvSpPr>
          <p:cNvPr id="87" name="Text 84"/>
          <p:cNvSpPr/>
          <p:nvPr/>
        </p:nvSpPr>
        <p:spPr>
          <a:xfrm>
            <a:off x="7105650" y="4516785"/>
            <a:ext cx="3647629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 / NumPy processing feeding Plotly charts inside one Streamlit app</a:t>
            </a:r>
            <a:endParaRPr lang="en-US" sz="1650" dirty="0"/>
          </a:p>
        </p:txBody>
      </p:sp>
      <p:sp>
        <p:nvSpPr>
          <p:cNvPr id="88" name="Text 85"/>
          <p:cNvSpPr/>
          <p:nvPr/>
        </p:nvSpPr>
        <p:spPr>
          <a:xfrm>
            <a:off x="11296650" y="4516785"/>
            <a:ext cx="3537198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Shows workflow integration only; no performance claims</a:t>
            </a:r>
            <a:endParaRPr lang="en-US" sz="1650" dirty="0"/>
          </a:p>
        </p:txBody>
      </p:sp>
      <p:sp>
        <p:nvSpPr>
          <p:cNvPr id="89" name="Text 86"/>
          <p:cNvSpPr/>
          <p:nvPr/>
        </p:nvSpPr>
        <p:spPr>
          <a:xfrm>
            <a:off x="15640050" y="4716810"/>
            <a:ext cx="113124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90" name="Text 87"/>
          <p:cNvSpPr/>
          <p:nvPr/>
        </p:nvSpPr>
        <p:spPr>
          <a:xfrm>
            <a:off x="1503015" y="5838825"/>
            <a:ext cx="118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500" dirty="0"/>
          </a:p>
        </p:txBody>
      </p:sp>
      <p:sp>
        <p:nvSpPr>
          <p:cNvPr id="91" name="Text 88"/>
          <p:cNvSpPr/>
          <p:nvPr/>
        </p:nvSpPr>
        <p:spPr>
          <a:xfrm>
            <a:off x="2152650" y="5488781"/>
            <a:ext cx="384914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Provides a foundation for learning about AI-assisted health-data exploration.</a:t>
            </a:r>
            <a:endParaRPr lang="en-US" sz="1875" dirty="0"/>
          </a:p>
        </p:txBody>
      </p:sp>
      <p:sp>
        <p:nvSpPr>
          <p:cNvPr id="92" name="Text 89"/>
          <p:cNvSpPr/>
          <p:nvPr/>
        </p:nvSpPr>
        <p:spPr>
          <a:xfrm>
            <a:off x="7105650" y="5678835"/>
            <a:ext cx="3648373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 historical dataset; Random Forest inference</a:t>
            </a:r>
            <a:endParaRPr lang="en-US" sz="1650" dirty="0"/>
          </a:p>
        </p:txBody>
      </p:sp>
      <p:sp>
        <p:nvSpPr>
          <p:cNvPr id="93" name="Text 90"/>
          <p:cNvSpPr/>
          <p:nvPr/>
        </p:nvSpPr>
        <p:spPr>
          <a:xfrm>
            <a:off x="11296650" y="5532090"/>
            <a:ext cx="3231952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Synthetic data and labels; not clinically validated; no diagnostic claims</a:t>
            </a:r>
            <a:endParaRPr lang="en-US" sz="1650" dirty="0"/>
          </a:p>
        </p:txBody>
      </p:sp>
      <p:sp>
        <p:nvSpPr>
          <p:cNvPr id="94" name="Text 91"/>
          <p:cNvSpPr/>
          <p:nvPr/>
        </p:nvSpPr>
        <p:spPr>
          <a:xfrm>
            <a:off x="15640050" y="5878860"/>
            <a:ext cx="113124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95" name="Text 92"/>
          <p:cNvSpPr/>
          <p:nvPr/>
        </p:nvSpPr>
        <p:spPr>
          <a:xfrm>
            <a:off x="1503015" y="7000875"/>
            <a:ext cx="118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500" dirty="0"/>
          </a:p>
        </p:txBody>
      </p:sp>
      <p:sp>
        <p:nvSpPr>
          <p:cNvPr id="96" name="Text 93"/>
          <p:cNvSpPr/>
          <p:nvPr/>
        </p:nvSpPr>
        <p:spPr>
          <a:xfrm>
            <a:off x="2152650" y="6650831"/>
            <a:ext cx="435634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Could support further research if data quality, validity, privacy, and safety are addressed.</a:t>
            </a:r>
            <a:endParaRPr lang="en-US" sz="1875" dirty="0"/>
          </a:p>
        </p:txBody>
      </p:sp>
      <p:sp>
        <p:nvSpPr>
          <p:cNvPr id="97" name="Text 94"/>
          <p:cNvSpPr/>
          <p:nvPr/>
        </p:nvSpPr>
        <p:spPr>
          <a:xfrm>
            <a:off x="7105650" y="6694140"/>
            <a:ext cx="3718173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 phases 2–4: data and model evaluation, responsible integration, further validation</a:t>
            </a:r>
            <a:endParaRPr lang="en-US" sz="1650" dirty="0"/>
          </a:p>
        </p:txBody>
      </p:sp>
      <p:sp>
        <p:nvSpPr>
          <p:cNvPr id="98" name="Text 95"/>
          <p:cNvSpPr/>
          <p:nvPr/>
        </p:nvSpPr>
        <p:spPr>
          <a:xfrm>
            <a:off x="11296650" y="6840885"/>
            <a:ext cx="2986980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quality · validity · privacy · safety must be addressed first</a:t>
            </a:r>
            <a:endParaRPr lang="en-US" sz="1650" dirty="0"/>
          </a:p>
        </p:txBody>
      </p:sp>
      <p:sp>
        <p:nvSpPr>
          <p:cNvPr id="99" name="Text 96"/>
          <p:cNvSpPr/>
          <p:nvPr/>
        </p:nvSpPr>
        <p:spPr>
          <a:xfrm>
            <a:off x="15697200" y="7040910"/>
            <a:ext cx="7393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</a:t>
            </a:r>
            <a:endParaRPr lang="en-US" sz="1050" dirty="0"/>
          </a:p>
        </p:txBody>
      </p:sp>
      <p:sp>
        <p:nvSpPr>
          <p:cNvPr id="100" name="Text 97"/>
          <p:cNvSpPr/>
          <p:nvPr/>
        </p:nvSpPr>
        <p:spPr>
          <a:xfrm>
            <a:off x="1495425" y="8267700"/>
            <a:ext cx="19791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POTENTIAL BENEFITS</a:t>
            </a:r>
            <a:endParaRPr lang="en-US" sz="1200" dirty="0"/>
          </a:p>
        </p:txBody>
      </p:sp>
      <p:sp>
        <p:nvSpPr>
          <p:cNvPr id="101" name="Text 98"/>
          <p:cNvSpPr/>
          <p:nvPr/>
        </p:nvSpPr>
        <p:spPr>
          <a:xfrm>
            <a:off x="1495425" y="8562975"/>
            <a:ext cx="6389787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Described qualitatively above as expected educational and research value.</a:t>
            </a:r>
            <a:endParaRPr lang="en-US" sz="1800" dirty="0"/>
          </a:p>
        </p:txBody>
      </p:sp>
      <p:sp>
        <p:nvSpPr>
          <p:cNvPr id="102" name="Text 99"/>
          <p:cNvSpPr/>
          <p:nvPr/>
        </p:nvSpPr>
        <p:spPr>
          <a:xfrm>
            <a:off x="8991302" y="8262938"/>
            <a:ext cx="305246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≠</a:t>
            </a:r>
            <a:endParaRPr lang="en-US" sz="4200" dirty="0"/>
          </a:p>
        </p:txBody>
      </p:sp>
      <p:sp>
        <p:nvSpPr>
          <p:cNvPr id="103" name="Text 100"/>
          <p:cNvSpPr/>
          <p:nvPr/>
        </p:nvSpPr>
        <p:spPr>
          <a:xfrm>
            <a:off x="9982200" y="8248650"/>
            <a:ext cx="33973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MEASURED REAL-WORLD OUTCOMES</a:t>
            </a:r>
            <a:endParaRPr lang="en-US" sz="1200" dirty="0"/>
          </a:p>
        </p:txBody>
      </p:sp>
      <p:sp>
        <p:nvSpPr>
          <p:cNvPr id="104" name="Text 101"/>
          <p:cNvSpPr/>
          <p:nvPr/>
        </p:nvSpPr>
        <p:spPr>
          <a:xfrm>
            <a:off x="9982200" y="8543925"/>
            <a:ext cx="6412557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4F8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None claimed. No clinical or real-world outcome evidence is presented.</a:t>
            </a:r>
            <a:endParaRPr lang="en-US" sz="1800" dirty="0"/>
          </a:p>
        </p:txBody>
      </p:sp>
      <p:sp>
        <p:nvSpPr>
          <p:cNvPr id="105" name="Text 102"/>
          <p:cNvSpPr/>
          <p:nvPr/>
        </p:nvSpPr>
        <p:spPr>
          <a:xfrm>
            <a:off x="1143000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106" name="Text 103"/>
          <p:cNvSpPr/>
          <p:nvPr/>
        </p:nvSpPr>
        <p:spPr>
          <a:xfrm>
            <a:off x="16589127" y="9734550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8580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2552700"/>
            <a:ext cx="723900" cy="4191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143000" y="2952750"/>
            <a:ext cx="723900" cy="19050"/>
          </a:xfrm>
          <a:prstGeom prst="rect">
            <a:avLst/>
          </a:prstGeom>
          <a:solidFill>
            <a:srgbClr val="3CC8E0"/>
          </a:solidFill>
          <a:ln/>
        </p:spPr>
      </p:sp>
      <p:sp>
        <p:nvSpPr>
          <p:cNvPr id="5" name="Shape 3"/>
          <p:cNvSpPr/>
          <p:nvPr/>
        </p:nvSpPr>
        <p:spPr>
          <a:xfrm>
            <a:off x="1866900" y="2552700"/>
            <a:ext cx="4953000" cy="419100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1866900" y="2952750"/>
            <a:ext cx="4953000" cy="19050"/>
          </a:xfrm>
          <a:prstGeom prst="rect">
            <a:avLst/>
          </a:prstGeom>
          <a:solidFill>
            <a:srgbClr val="3CC8E0"/>
          </a:solidFill>
          <a:ln/>
        </p:spPr>
      </p:sp>
      <p:sp>
        <p:nvSpPr>
          <p:cNvPr id="7" name="Shape 5"/>
          <p:cNvSpPr/>
          <p:nvPr/>
        </p:nvSpPr>
        <p:spPr>
          <a:xfrm>
            <a:off x="6819900" y="2552700"/>
            <a:ext cx="2000250" cy="419100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6819900" y="2952750"/>
            <a:ext cx="2000250" cy="19050"/>
          </a:xfrm>
          <a:prstGeom prst="rect">
            <a:avLst/>
          </a:prstGeom>
          <a:solidFill>
            <a:srgbClr val="3CC8E0"/>
          </a:solidFill>
          <a:ln/>
        </p:spPr>
      </p:sp>
      <p:sp>
        <p:nvSpPr>
          <p:cNvPr id="9" name="Shape 7"/>
          <p:cNvSpPr/>
          <p:nvPr/>
        </p:nvSpPr>
        <p:spPr>
          <a:xfrm>
            <a:off x="8820150" y="2552700"/>
            <a:ext cx="3562350" cy="419100"/>
          </a:xfrm>
          <a:prstGeom prst="rect">
            <a:avLst/>
          </a:prstGeom>
          <a:ln/>
        </p:spPr>
      </p:sp>
      <p:sp>
        <p:nvSpPr>
          <p:cNvPr id="10" name="Shape 8"/>
          <p:cNvSpPr/>
          <p:nvPr/>
        </p:nvSpPr>
        <p:spPr>
          <a:xfrm>
            <a:off x="8820150" y="2952750"/>
            <a:ext cx="3562350" cy="19050"/>
          </a:xfrm>
          <a:prstGeom prst="rect">
            <a:avLst/>
          </a:prstGeom>
          <a:solidFill>
            <a:srgbClr val="3CC8E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971800"/>
            <a:ext cx="723900" cy="9456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3907929"/>
            <a:ext cx="7239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33500" y="3256508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2971800"/>
            <a:ext cx="4953000" cy="9456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66900" y="3907929"/>
            <a:ext cx="4953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19900" y="2971800"/>
            <a:ext cx="2000250" cy="9456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19900" y="3907929"/>
            <a:ext cx="2000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010400" y="3266033"/>
            <a:ext cx="1626543" cy="3619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0150" y="2971800"/>
            <a:ext cx="3562350" cy="9456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20150" y="3907929"/>
            <a:ext cx="35623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3917454"/>
            <a:ext cx="723900" cy="742950"/>
          </a:xfrm>
          <a:prstGeom prst="rect">
            <a:avLst/>
          </a:prstGeom>
          <a:ln/>
        </p:spPr>
      </p:sp>
      <p:sp>
        <p:nvSpPr>
          <p:cNvPr id="22" name="Shape 20"/>
          <p:cNvSpPr/>
          <p:nvPr/>
        </p:nvSpPr>
        <p:spPr>
          <a:xfrm>
            <a:off x="1143000" y="4650879"/>
            <a:ext cx="7239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33500" y="409842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66900" y="3917454"/>
            <a:ext cx="4953000" cy="742950"/>
          </a:xfrm>
          <a:prstGeom prst="rect">
            <a:avLst/>
          </a:prstGeom>
          <a:ln/>
        </p:spPr>
      </p:sp>
      <p:sp>
        <p:nvSpPr>
          <p:cNvPr id="25" name="Shape 23"/>
          <p:cNvSpPr/>
          <p:nvPr/>
        </p:nvSpPr>
        <p:spPr>
          <a:xfrm>
            <a:off x="1866900" y="4650879"/>
            <a:ext cx="4953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19900" y="3917454"/>
            <a:ext cx="2000250" cy="742950"/>
          </a:xfrm>
          <a:prstGeom prst="rect">
            <a:avLst/>
          </a:prstGeom>
          <a:ln/>
        </p:spPr>
      </p:sp>
      <p:sp>
        <p:nvSpPr>
          <p:cNvPr id="27" name="Shape 25"/>
          <p:cNvSpPr/>
          <p:nvPr/>
        </p:nvSpPr>
        <p:spPr>
          <a:xfrm>
            <a:off x="6819900" y="4650879"/>
            <a:ext cx="2000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010400" y="4107954"/>
            <a:ext cx="1626543" cy="3619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29" name="Shape 27"/>
          <p:cNvSpPr/>
          <p:nvPr/>
        </p:nvSpPr>
        <p:spPr>
          <a:xfrm>
            <a:off x="8820150" y="3917454"/>
            <a:ext cx="3562350" cy="742950"/>
          </a:xfrm>
          <a:prstGeom prst="rect">
            <a:avLst/>
          </a:prstGeom>
          <a:ln/>
        </p:spPr>
      </p:sp>
      <p:sp>
        <p:nvSpPr>
          <p:cNvPr id="30" name="Shape 28"/>
          <p:cNvSpPr/>
          <p:nvPr/>
        </p:nvSpPr>
        <p:spPr>
          <a:xfrm>
            <a:off x="8820150" y="4650879"/>
            <a:ext cx="35623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" y="4660404"/>
            <a:ext cx="723900" cy="7429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43000" y="5393829"/>
            <a:ext cx="7239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33500" y="484137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B8CF2">
              <a:alpha val="20000"/>
            </a:srgbClr>
          </a:solidFill>
          <a:ln w="9525">
            <a:solidFill>
              <a:srgbClr val="9B8C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6900" y="4660404"/>
            <a:ext cx="4953000" cy="7429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866900" y="5393829"/>
            <a:ext cx="4953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19900" y="4660404"/>
            <a:ext cx="2000250" cy="7429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19900" y="5393829"/>
            <a:ext cx="2000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10400" y="4850904"/>
            <a:ext cx="1626543" cy="3619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39" name="Shape 37"/>
          <p:cNvSpPr/>
          <p:nvPr/>
        </p:nvSpPr>
        <p:spPr>
          <a:xfrm>
            <a:off x="8820150" y="4660404"/>
            <a:ext cx="3562350" cy="7429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820150" y="5393829"/>
            <a:ext cx="35623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43000" y="5403354"/>
            <a:ext cx="723900" cy="742950"/>
          </a:xfrm>
          <a:prstGeom prst="rect">
            <a:avLst/>
          </a:prstGeom>
          <a:ln/>
        </p:spPr>
      </p:sp>
      <p:sp>
        <p:nvSpPr>
          <p:cNvPr id="42" name="Shape 40"/>
          <p:cNvSpPr/>
          <p:nvPr/>
        </p:nvSpPr>
        <p:spPr>
          <a:xfrm>
            <a:off x="1143000" y="6136779"/>
            <a:ext cx="7239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33500" y="558432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6900" y="5403354"/>
            <a:ext cx="4953000" cy="742950"/>
          </a:xfrm>
          <a:prstGeom prst="rect">
            <a:avLst/>
          </a:prstGeom>
          <a:ln/>
        </p:spPr>
      </p:sp>
      <p:sp>
        <p:nvSpPr>
          <p:cNvPr id="45" name="Shape 43"/>
          <p:cNvSpPr/>
          <p:nvPr/>
        </p:nvSpPr>
        <p:spPr>
          <a:xfrm>
            <a:off x="1866900" y="6136779"/>
            <a:ext cx="4953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19900" y="5403354"/>
            <a:ext cx="2000250" cy="742950"/>
          </a:xfrm>
          <a:prstGeom prst="rect">
            <a:avLst/>
          </a:prstGeom>
          <a:ln/>
        </p:spPr>
      </p:sp>
      <p:sp>
        <p:nvSpPr>
          <p:cNvPr id="47" name="Shape 45"/>
          <p:cNvSpPr/>
          <p:nvPr/>
        </p:nvSpPr>
        <p:spPr>
          <a:xfrm>
            <a:off x="6819900" y="6136779"/>
            <a:ext cx="2000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10400" y="5593854"/>
            <a:ext cx="1626543" cy="36195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49" name="Shape 47"/>
          <p:cNvSpPr/>
          <p:nvPr/>
        </p:nvSpPr>
        <p:spPr>
          <a:xfrm>
            <a:off x="8820150" y="5403354"/>
            <a:ext cx="3562350" cy="742950"/>
          </a:xfrm>
          <a:prstGeom prst="rect">
            <a:avLst/>
          </a:prstGeom>
          <a:ln/>
        </p:spPr>
      </p:sp>
      <p:sp>
        <p:nvSpPr>
          <p:cNvPr id="50" name="Shape 48"/>
          <p:cNvSpPr/>
          <p:nvPr/>
        </p:nvSpPr>
        <p:spPr>
          <a:xfrm>
            <a:off x="8820150" y="6136779"/>
            <a:ext cx="35623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43000" y="6146304"/>
            <a:ext cx="723900" cy="995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43000" y="7132141"/>
            <a:ext cx="7239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333500" y="645348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66900" y="6146304"/>
            <a:ext cx="4953000" cy="995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866900" y="7132141"/>
            <a:ext cx="4953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819900" y="6146304"/>
            <a:ext cx="2000250" cy="995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19900" y="7132141"/>
            <a:ext cx="2000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10400" y="6463010"/>
            <a:ext cx="1310878" cy="361950"/>
          </a:xfrm>
          <a:prstGeom prst="roundRect">
            <a:avLst>
              <a:gd name="adj" fmla="val 50000"/>
            </a:avLst>
          </a:prstGeom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20150" y="6146304"/>
            <a:ext cx="3562350" cy="995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20150" y="7132141"/>
            <a:ext cx="35623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2763500" y="2552700"/>
            <a:ext cx="4381500" cy="4191000"/>
          </a:xfrm>
          <a:prstGeom prst="roundRect">
            <a:avLst>
              <a:gd name="adj" fmla="val 318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763500" y="2552700"/>
            <a:ext cx="43815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3" name="Shape 61"/>
          <p:cNvSpPr/>
          <p:nvPr/>
        </p:nvSpPr>
        <p:spPr>
          <a:xfrm>
            <a:off x="17135475" y="2552700"/>
            <a:ext cx="9525" cy="41910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2763500" y="6734175"/>
            <a:ext cx="43815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2763500" y="2552700"/>
            <a:ext cx="9525" cy="41910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3115925" y="6107013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9B8CF2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3000" y="7067550"/>
            <a:ext cx="16002000" cy="2266950"/>
          </a:xfrm>
          <a:prstGeom prst="roundRect">
            <a:avLst>
              <a:gd name="adj" fmla="val 5882"/>
            </a:avLst>
          </a:prstGeom>
          <a:solidFill>
            <a:srgbClr val="08172C"/>
          </a:solidFill>
          <a:ln/>
        </p:spPr>
      </p:sp>
      <p:sp>
        <p:nvSpPr>
          <p:cNvPr id="68" name="Shape 66"/>
          <p:cNvSpPr/>
          <p:nvPr/>
        </p:nvSpPr>
        <p:spPr>
          <a:xfrm>
            <a:off x="1143000" y="7067550"/>
            <a:ext cx="16002000" cy="381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9" name="Shape 67"/>
          <p:cNvSpPr/>
          <p:nvPr/>
        </p:nvSpPr>
        <p:spPr>
          <a:xfrm>
            <a:off x="1143000" y="7962900"/>
            <a:ext cx="16002000" cy="1333500"/>
          </a:xfrm>
          <a:custGeom>
            <a:avLst/>
            <a:gdLst/>
            <a:ahLst/>
            <a:cxnLst/>
            <a:rect l="l" t="t" r="r" b="b"/>
            <a:pathLst>
              <a:path w="16002000" h="1333500">
                <a:moveTo>
                  <a:pt x="0" y="857250"/>
                </a:moveTo>
                <a:lnTo>
                  <a:pt x="1333500" y="857250"/>
                </a:lnTo>
                <a:lnTo>
                  <a:pt x="1619250" y="857250"/>
                </a:lnTo>
                <a:lnTo>
                  <a:pt x="1857375" y="381000"/>
                </a:lnTo>
                <a:lnTo>
                  <a:pt x="2143125" y="1333500"/>
                </a:lnTo>
                <a:lnTo>
                  <a:pt x="2428875" y="0"/>
                </a:lnTo>
                <a:lnTo>
                  <a:pt x="2714625" y="857250"/>
                </a:lnTo>
                <a:lnTo>
                  <a:pt x="4000500" y="857250"/>
                </a:lnTo>
                <a:lnTo>
                  <a:pt x="5334000" y="857250"/>
                </a:lnTo>
                <a:lnTo>
                  <a:pt x="5619750" y="857250"/>
                </a:lnTo>
                <a:lnTo>
                  <a:pt x="5857875" y="476250"/>
                </a:lnTo>
                <a:lnTo>
                  <a:pt x="6143625" y="1238250"/>
                </a:lnTo>
                <a:lnTo>
                  <a:pt x="6429375" y="190500"/>
                </a:lnTo>
                <a:lnTo>
                  <a:pt x="6715125" y="857250"/>
                </a:lnTo>
                <a:lnTo>
                  <a:pt x="8001000" y="857250"/>
                </a:lnTo>
                <a:lnTo>
                  <a:pt x="9334500" y="857250"/>
                </a:lnTo>
                <a:lnTo>
                  <a:pt x="9620250" y="857250"/>
                </a:lnTo>
                <a:lnTo>
                  <a:pt x="9858375" y="381000"/>
                </a:lnTo>
                <a:lnTo>
                  <a:pt x="10144125" y="1333500"/>
                </a:lnTo>
                <a:lnTo>
                  <a:pt x="10429875" y="0"/>
                </a:lnTo>
                <a:lnTo>
                  <a:pt x="10715625" y="857250"/>
                </a:lnTo>
                <a:lnTo>
                  <a:pt x="12001500" y="857250"/>
                </a:lnTo>
                <a:lnTo>
                  <a:pt x="13335000" y="857250"/>
                </a:lnTo>
                <a:lnTo>
                  <a:pt x="13620750" y="857250"/>
                </a:lnTo>
                <a:lnTo>
                  <a:pt x="13858875" y="476250"/>
                </a:lnTo>
                <a:lnTo>
                  <a:pt x="14144625" y="1238250"/>
                </a:lnTo>
                <a:lnTo>
                  <a:pt x="14430375" y="190500"/>
                </a:lnTo>
                <a:lnTo>
                  <a:pt x="14716125" y="857250"/>
                </a:lnTo>
                <a:lnTo>
                  <a:pt x="16002000" y="857250"/>
                </a:lnTo>
              </a:path>
            </a:pathLst>
          </a:custGeom>
          <a:ln w="28575">
            <a:solidFill>
              <a:srgbClr val="0FA3A3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71750" y="89058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pic>
        <p:nvPicPr>
          <p:cNvPr id="7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190500"/>
            <a:ext cx="10058400" cy="6524625"/>
          </a:xfrm>
          <a:prstGeom prst="rect">
            <a:avLst/>
          </a:prstGeom>
        </p:spPr>
      </p:pic>
      <p:sp>
        <p:nvSpPr>
          <p:cNvPr id="72" name="Text 69"/>
          <p:cNvSpPr/>
          <p:nvPr/>
        </p:nvSpPr>
        <p:spPr>
          <a:xfrm>
            <a:off x="1143000" y="342900"/>
            <a:ext cx="42301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8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CONCLUSION · SUMMARY OF THE PROTOTYPE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1143000" y="838200"/>
            <a:ext cx="10649843" cy="1468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Building a Responsible Foundation for</a:t>
            </a:r>
            <a:pPr algn="l" indent="0" marL="0">
              <a:lnSpc>
                <a:spcPts val="504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AI-Assisted Health Exploration</a:t>
            </a:r>
            <a:endParaRPr lang="en-US" sz="4800" dirty="0"/>
          </a:p>
        </p:txBody>
      </p:sp>
      <p:sp>
        <p:nvSpPr>
          <p:cNvPr id="74" name="Text 71"/>
          <p:cNvSpPr/>
          <p:nvPr/>
        </p:nvSpPr>
        <p:spPr>
          <a:xfrm>
            <a:off x="1333500" y="2638425"/>
            <a:ext cx="166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2057400" y="2638425"/>
            <a:ext cx="27024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ARE SUMMARIZING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7010400" y="2638425"/>
            <a:ext cx="7267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9010650" y="2638425"/>
            <a:ext cx="18331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HONEST BOUNDARY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1464915" y="3323183"/>
            <a:ext cx="1181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2057400" y="3127921"/>
            <a:ext cx="4242048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interactive digital-health-inspired prototype</a:t>
            </a:r>
            <a:endParaRPr lang="en-US" sz="1875" dirty="0"/>
          </a:p>
        </p:txBody>
      </p:sp>
      <p:sp>
        <p:nvSpPr>
          <p:cNvPr id="80" name="Text 77"/>
          <p:cNvSpPr/>
          <p:nvPr/>
        </p:nvSpPr>
        <p:spPr>
          <a:xfrm>
            <a:off x="7353300" y="3360390"/>
            <a:ext cx="113124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81" name="Text 78"/>
          <p:cNvSpPr/>
          <p:nvPr/>
        </p:nvSpPr>
        <p:spPr>
          <a:xfrm>
            <a:off x="9010650" y="3028950"/>
            <a:ext cx="2947541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Inspired by digital twin principles; not a clinical digital twin</a:t>
            </a:r>
            <a:endParaRPr lang="en-US" sz="1650" dirty="0"/>
          </a:p>
        </p:txBody>
      </p:sp>
      <p:sp>
        <p:nvSpPr>
          <p:cNvPr id="82" name="Text 79"/>
          <p:cNvSpPr/>
          <p:nvPr/>
        </p:nvSpPr>
        <p:spPr>
          <a:xfrm>
            <a:off x="1464915" y="4165104"/>
            <a:ext cx="1181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500" dirty="0"/>
          </a:p>
        </p:txBody>
      </p:sp>
      <p:sp>
        <p:nvSpPr>
          <p:cNvPr id="83" name="Text 80"/>
          <p:cNvSpPr/>
          <p:nvPr/>
        </p:nvSpPr>
        <p:spPr>
          <a:xfrm>
            <a:off x="2057400" y="4115098"/>
            <a:ext cx="45026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Python and Streamlit implementation</a:t>
            </a:r>
            <a:endParaRPr lang="en-US" sz="1875" dirty="0"/>
          </a:p>
        </p:txBody>
      </p:sp>
      <p:sp>
        <p:nvSpPr>
          <p:cNvPr id="84" name="Text 81"/>
          <p:cNvSpPr/>
          <p:nvPr/>
        </p:nvSpPr>
        <p:spPr>
          <a:xfrm>
            <a:off x="7353300" y="4202311"/>
            <a:ext cx="113124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85" name="Text 82"/>
          <p:cNvSpPr/>
          <p:nvPr/>
        </p:nvSpPr>
        <p:spPr>
          <a:xfrm>
            <a:off x="9010650" y="4143226"/>
            <a:ext cx="298861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 code hosted on GitHub</a:t>
            </a:r>
            <a:endParaRPr lang="en-US" sz="1650" dirty="0"/>
          </a:p>
        </p:txBody>
      </p:sp>
      <p:sp>
        <p:nvSpPr>
          <p:cNvPr id="86" name="Text 83"/>
          <p:cNvSpPr/>
          <p:nvPr/>
        </p:nvSpPr>
        <p:spPr>
          <a:xfrm>
            <a:off x="1464915" y="4908054"/>
            <a:ext cx="1181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B8C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500" dirty="0"/>
          </a:p>
        </p:txBody>
      </p:sp>
      <p:sp>
        <p:nvSpPr>
          <p:cNvPr id="87" name="Text 84"/>
          <p:cNvSpPr/>
          <p:nvPr/>
        </p:nvSpPr>
        <p:spPr>
          <a:xfrm>
            <a:off x="2057400" y="4712791"/>
            <a:ext cx="4504879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Random Forest model using synthetic data</a:t>
            </a:r>
            <a:endParaRPr lang="en-US" sz="1875" dirty="0"/>
          </a:p>
        </p:txBody>
      </p:sp>
      <p:sp>
        <p:nvSpPr>
          <p:cNvPr id="88" name="Text 85"/>
          <p:cNvSpPr/>
          <p:nvPr/>
        </p:nvSpPr>
        <p:spPr>
          <a:xfrm>
            <a:off x="7353300" y="4945261"/>
            <a:ext cx="113124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89" name="Text 86"/>
          <p:cNvSpPr/>
          <p:nvPr/>
        </p:nvSpPr>
        <p:spPr>
          <a:xfrm>
            <a:off x="9010650" y="4886176"/>
            <a:ext cx="27430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clinical accuracy claimed</a:t>
            </a:r>
            <a:endParaRPr lang="en-US" sz="1650" dirty="0"/>
          </a:p>
        </p:txBody>
      </p:sp>
      <p:sp>
        <p:nvSpPr>
          <p:cNvPr id="90" name="Text 87"/>
          <p:cNvSpPr/>
          <p:nvPr/>
        </p:nvSpPr>
        <p:spPr>
          <a:xfrm>
            <a:off x="1464915" y="5651004"/>
            <a:ext cx="1181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500" dirty="0"/>
          </a:p>
        </p:txBody>
      </p:sp>
      <p:sp>
        <p:nvSpPr>
          <p:cNvPr id="91" name="Text 88"/>
          <p:cNvSpPr/>
          <p:nvPr/>
        </p:nvSpPr>
        <p:spPr>
          <a:xfrm>
            <a:off x="2057400" y="5455741"/>
            <a:ext cx="4553099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Visualizations supporting exploration of outputs</a:t>
            </a:r>
            <a:endParaRPr lang="en-US" sz="1875" dirty="0"/>
          </a:p>
        </p:txBody>
      </p:sp>
      <p:sp>
        <p:nvSpPr>
          <p:cNvPr id="92" name="Text 89"/>
          <p:cNvSpPr/>
          <p:nvPr/>
        </p:nvSpPr>
        <p:spPr>
          <a:xfrm>
            <a:off x="7353300" y="5688211"/>
            <a:ext cx="113124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9010650" y="5492948"/>
            <a:ext cx="2769096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Plotly charts for educational exploration</a:t>
            </a:r>
            <a:endParaRPr lang="en-US" sz="1650" dirty="0"/>
          </a:p>
        </p:txBody>
      </p:sp>
      <p:sp>
        <p:nvSpPr>
          <p:cNvPr id="94" name="Text 91"/>
          <p:cNvSpPr/>
          <p:nvPr/>
        </p:nvSpPr>
        <p:spPr>
          <a:xfrm>
            <a:off x="1464915" y="6520160"/>
            <a:ext cx="11817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500" dirty="0"/>
          </a:p>
        </p:txBody>
      </p:sp>
      <p:sp>
        <p:nvSpPr>
          <p:cNvPr id="95" name="Text 92"/>
          <p:cNvSpPr/>
          <p:nvPr/>
        </p:nvSpPr>
        <p:spPr>
          <a:xfrm>
            <a:off x="2057400" y="6179641"/>
            <a:ext cx="37044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8"/>
              </a:lnSpc>
              <a:buNone/>
            </a:pPr>
            <a:r>
              <a:rPr lang="en-US" sz="1875" b="1" spc="-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roadmap toward more rigorous evaluation and responsible development</a:t>
            </a:r>
            <a:endParaRPr lang="en-US" sz="1875" dirty="0"/>
          </a:p>
        </p:txBody>
      </p:sp>
      <p:sp>
        <p:nvSpPr>
          <p:cNvPr id="96" name="Text 93"/>
          <p:cNvSpPr/>
          <p:nvPr/>
        </p:nvSpPr>
        <p:spPr>
          <a:xfrm>
            <a:off x="7410450" y="6557367"/>
            <a:ext cx="7393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</a:t>
            </a:r>
            <a:endParaRPr lang="en-US" sz="1050" dirty="0"/>
          </a:p>
        </p:txBody>
      </p:sp>
      <p:sp>
        <p:nvSpPr>
          <p:cNvPr id="97" name="Text 94"/>
          <p:cNvSpPr/>
          <p:nvPr/>
        </p:nvSpPr>
        <p:spPr>
          <a:xfrm>
            <a:off x="9010650" y="6362105"/>
            <a:ext cx="2433935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Future plans, not current capabilities</a:t>
            </a:r>
            <a:endParaRPr lang="en-US" sz="1650" dirty="0"/>
          </a:p>
        </p:txBody>
      </p:sp>
      <p:sp>
        <p:nvSpPr>
          <p:cNvPr id="98" name="Text 95"/>
          <p:cNvSpPr/>
          <p:nvPr/>
        </p:nvSpPr>
        <p:spPr>
          <a:xfrm>
            <a:off x="13115925" y="2876550"/>
            <a:ext cx="5116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3CC8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</a:t>
            </a:r>
            <a:endParaRPr lang="en-US" sz="1200" dirty="0"/>
          </a:p>
        </p:txBody>
      </p:sp>
      <p:sp>
        <p:nvSpPr>
          <p:cNvPr id="99" name="Text 96"/>
          <p:cNvSpPr/>
          <p:nvPr/>
        </p:nvSpPr>
        <p:spPr>
          <a:xfrm>
            <a:off x="13115925" y="3105150"/>
            <a:ext cx="2383631" cy="1229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31"/>
              </a:lnSpc>
              <a:buNone/>
            </a:pPr>
            <a:r>
              <a:rPr lang="en-US" sz="4050" b="1" spc="-12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Alpha</a:t>
            </a:r>
            <a:pPr algn="l" indent="0" marL="0">
              <a:lnSpc>
                <a:spcPts val="4131"/>
              </a:lnSpc>
              <a:buNone/>
            </a:pPr>
            <a:r>
              <a:rPr lang="en-US" sz="4050" b="1" spc="-12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Monarchs</a:t>
            </a:r>
            <a:endParaRPr lang="en-US" sz="4050" dirty="0"/>
          </a:p>
        </p:txBody>
      </p:sp>
      <p:sp>
        <p:nvSpPr>
          <p:cNvPr id="100" name="Text 97"/>
          <p:cNvSpPr/>
          <p:nvPr/>
        </p:nvSpPr>
        <p:spPr>
          <a:xfrm>
            <a:off x="13115925" y="4621113"/>
            <a:ext cx="1597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Harsha Vardhan</a:t>
            </a:r>
            <a:endParaRPr lang="en-US" sz="1650" dirty="0"/>
          </a:p>
        </p:txBody>
      </p:sp>
      <p:sp>
        <p:nvSpPr>
          <p:cNvPr id="101" name="Text 98"/>
          <p:cNvSpPr/>
          <p:nvPr/>
        </p:nvSpPr>
        <p:spPr>
          <a:xfrm>
            <a:off x="13115925" y="4921151"/>
            <a:ext cx="20649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Amrita Vishwa Vidyapeetham</a:t>
            </a:r>
            <a:endParaRPr lang="en-US" sz="1200" dirty="0"/>
          </a:p>
        </p:txBody>
      </p:sp>
      <p:sp>
        <p:nvSpPr>
          <p:cNvPr id="102" name="Text 99"/>
          <p:cNvSpPr/>
          <p:nvPr/>
        </p:nvSpPr>
        <p:spPr>
          <a:xfrm>
            <a:off x="13115925" y="5245001"/>
            <a:ext cx="16580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Yashash Krishna</a:t>
            </a:r>
            <a:endParaRPr lang="en-US" sz="1650" dirty="0"/>
          </a:p>
        </p:txBody>
      </p:sp>
      <p:sp>
        <p:nvSpPr>
          <p:cNvPr id="103" name="Text 100"/>
          <p:cNvSpPr/>
          <p:nvPr/>
        </p:nvSpPr>
        <p:spPr>
          <a:xfrm>
            <a:off x="13115925" y="5545038"/>
            <a:ext cx="275599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Annamacharya Institute of Technology</a:t>
            </a:r>
            <a:endParaRPr lang="en-US" sz="1200" dirty="0"/>
          </a:p>
        </p:txBody>
      </p:sp>
      <p:sp>
        <p:nvSpPr>
          <p:cNvPr id="104" name="Text 101"/>
          <p:cNvSpPr/>
          <p:nvPr/>
        </p:nvSpPr>
        <p:spPr>
          <a:xfrm>
            <a:off x="13344525" y="6068913"/>
            <a:ext cx="13128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/ ML component</a:t>
            </a:r>
            <a:endParaRPr lang="en-US" sz="1200" dirty="0"/>
          </a:p>
        </p:txBody>
      </p:sp>
      <p:sp>
        <p:nvSpPr>
          <p:cNvPr id="105" name="Text 102"/>
          <p:cNvSpPr/>
          <p:nvPr/>
        </p:nvSpPr>
        <p:spPr>
          <a:xfrm>
            <a:off x="1600200" y="7010400"/>
            <a:ext cx="681633" cy="1952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0" b="1" dirty="0">
                <a:solidFill>
                  <a:srgbClr val="0FA3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</a:t>
            </a:r>
            <a:endParaRPr lang="en-US" sz="11250" dirty="0"/>
          </a:p>
        </p:txBody>
      </p:sp>
      <p:sp>
        <p:nvSpPr>
          <p:cNvPr id="106" name="Text 103"/>
          <p:cNvSpPr/>
          <p:nvPr/>
        </p:nvSpPr>
        <p:spPr>
          <a:xfrm>
            <a:off x="2571750" y="7410450"/>
            <a:ext cx="12538621" cy="11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— Exploring the possibilities of AI-assisted health-data insights, </a:t>
            </a:r>
            <a:pPr algn="l" indent="0" marL="0">
              <a:lnSpc>
                <a:spcPts val="3967"/>
              </a:lnSpc>
              <a:buNone/>
            </a:pPr>
            <a:r>
              <a:rPr lang="en-US" sz="3450" b="1" spc="-69" kern="0" dirty="0">
                <a:solidFill>
                  <a:srgbClr val="3CC8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responsibly.</a:t>
            </a:r>
            <a:pPr algn="l" indent="0" marL="0">
              <a:lnSpc>
                <a:spcPts val="3967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”</a:t>
            </a:r>
            <a:endParaRPr lang="en-US" sz="3450" dirty="0"/>
          </a:p>
        </p:txBody>
      </p:sp>
      <p:sp>
        <p:nvSpPr>
          <p:cNvPr id="107" name="Text 104"/>
          <p:cNvSpPr/>
          <p:nvPr/>
        </p:nvSpPr>
        <p:spPr>
          <a:xfrm>
            <a:off x="3162300" y="8820150"/>
            <a:ext cx="23069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ALPHA MONARCHS</a:t>
            </a:r>
            <a:endParaRPr lang="en-US" sz="1200" dirty="0"/>
          </a:p>
        </p:txBody>
      </p:sp>
      <p:sp>
        <p:nvSpPr>
          <p:cNvPr id="108" name="Text 105"/>
          <p:cNvSpPr/>
          <p:nvPr/>
        </p:nvSpPr>
        <p:spPr>
          <a:xfrm>
            <a:off x="13008025" y="8724900"/>
            <a:ext cx="3755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and research prototype · synthetic data</a:t>
            </a:r>
            <a:endParaRPr lang="en-US" sz="1200" dirty="0"/>
          </a:p>
        </p:txBody>
      </p:sp>
      <p:sp>
        <p:nvSpPr>
          <p:cNvPr id="109" name="Text 106"/>
          <p:cNvSpPr/>
          <p:nvPr/>
        </p:nvSpPr>
        <p:spPr>
          <a:xfrm>
            <a:off x="1143000" y="9734550"/>
            <a:ext cx="3908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PROTOTYPE, NOT A MEDICAL DEVICE</a:t>
            </a:r>
            <a:endParaRPr lang="en-US" sz="1050" dirty="0"/>
          </a:p>
        </p:txBody>
      </p:sp>
      <p:sp>
        <p:nvSpPr>
          <p:cNvPr id="110" name="Text 107"/>
          <p:cNvSpPr/>
          <p:nvPr/>
        </p:nvSpPr>
        <p:spPr>
          <a:xfrm>
            <a:off x="8991451" y="9734550"/>
            <a:ext cx="36578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NEURORHYTHM TWIN · TEAM ALPHA MONARCHS</a:t>
            </a:r>
            <a:endParaRPr lang="en-US" sz="1050" dirty="0"/>
          </a:p>
        </p:txBody>
      </p:sp>
      <p:sp>
        <p:nvSpPr>
          <p:cNvPr id="111" name="Text 108"/>
          <p:cNvSpPr/>
          <p:nvPr/>
        </p:nvSpPr>
        <p:spPr>
          <a:xfrm>
            <a:off x="16589127" y="9734550"/>
            <a:ext cx="55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3CC8E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NeuroRhythm Twin: An AI-Assisted Digital Health Twin Prototype</dc:title>
  <dc:subject>PptxGenJS Presentation</dc:subject>
  <dc:creator>Kreyato</dc:creator>
  <cp:lastModifiedBy>Kreyato</cp:lastModifiedBy>
  <cp:revision>1</cp:revision>
  <dcterms:created xsi:type="dcterms:W3CDTF">2026-10-20T06:30:53Z</dcterms:created>
  <dcterms:modified xsi:type="dcterms:W3CDTF">2026-10-20T06:30:53Z</dcterms:modified>
</cp:coreProperties>
</file>